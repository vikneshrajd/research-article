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Overall Accuracy (%)</c:v>
                </c:pt>
              </c:strCache>
            </c:strRef>
          </c:tx>
          <c:spPr>
            <a:solidFill>
              <a:srgbClr val="028090"/>
            </a:solidFill>
            <a:effectLst/>
          </c:spPr>
          <c:invertIfNegative val="0"/>
          <c:dLbls>
            <c:numFmt formatCode="0.0" sourceLinked="0"/>
            <c:txPr>
              <a:bodyPr/>
              <a:lstStyle/>
              <a:p>
                <a:pPr>
                  <a:defRPr b="0" i="0" strike="noStrike" sz="1000" u="none">
                    <a:solidFill>
                      <a:srgbClr val="16323A"/>
                    </a:solidFill>
                    <a:latin typeface="Calibri"/>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28090"/>
              </a:solidFill>
              <a:effectLst/>
            </c:spPr>
          </c:dPt>
          <c:dPt>
            <c:idx val="2"/>
            <c:invertIfNegative val="0"/>
            <c:bubble3D val="0"/>
            <c:spPr>
              <a:solidFill>
                <a:srgbClr val="028090"/>
              </a:solidFill>
              <a:effectLst/>
            </c:spPr>
          </c:dPt>
          <c:dPt>
            <c:idx val="3"/>
            <c:invertIfNegative val="0"/>
            <c:bubble3D val="0"/>
            <c:spPr>
              <a:solidFill>
                <a:srgbClr val="00A896"/>
              </a:solidFill>
              <a:effectLst/>
            </c:spPr>
          </c:dPt>
          <c:dPt>
            <c:idx val="4"/>
            <c:invertIfNegative val="0"/>
            <c:bubble3D val="0"/>
            <c:spPr>
              <a:solidFill>
                <a:srgbClr val="028090"/>
              </a:solidFill>
              <a:effectLst/>
            </c:spPr>
          </c:dPt>
          <c:dPt>
            <c:idx val="5"/>
            <c:invertIfNegative val="0"/>
            <c:bubble3D val="0"/>
            <c:spPr>
              <a:solidFill>
                <a:srgbClr val="F4A261"/>
              </a:solidFill>
              <a:effectLst/>
            </c:spPr>
          </c:dPt>
          <c:cat>
            <c:multiLvlStrRef>
              <c:f>Sheet1!$A$2:$A$7</c:f>
              <c:multiLvlStrCache>
                <c:ptCount val="6"/>
                <c:lvl>
                  <c:pt idx="0">
                    <c:v>ResNet50+SA</c:v>
                  </c:pt>
                  <c:pt idx="1">
                    <c:v>IRv2+SA</c:v>
                  </c:pt>
                  <c:pt idx="2">
                    <c:v>ViT-Base16</c:v>
                  </c:pt>
                  <c:pt idx="3">
                    <c:v>ViT-Large16</c:v>
                  </c:pt>
                  <c:pt idx="4">
                    <c:v>ViTfSCD-Base</c:v>
                  </c:pt>
                  <c:pt idx="5">
                    <c:v>ViTfSCD-Large</c:v>
                  </c:pt>
                </c:lvl>
              </c:multiLvlStrCache>
            </c:multiLvlStrRef>
          </c:cat>
          <c:val>
            <c:numRef>
              <c:f>Sheet1!$B$2:$B$7</c:f>
              <c:numCache>
                <c:formatCode>General</c:formatCode>
                <c:ptCount val="6"/>
                <c:pt idx="0">
                  <c:v>91.5</c:v>
                </c:pt>
                <c:pt idx="1">
                  <c:v>91.9</c:v>
                </c:pt>
                <c:pt idx="2">
                  <c:v>91.1</c:v>
                </c:pt>
                <c:pt idx="3">
                  <c:v>93.7</c:v>
                </c:pt>
                <c:pt idx="4">
                  <c:v>91.4</c:v>
                </c:pt>
                <c:pt idx="5">
                  <c:v>94.1</c:v>
                </c:pt>
              </c:numCache>
            </c:numRef>
          </c:val>
        </c:ser>
        <c:dLbls>
          <c:numFmt formatCode="0.0" sourceLinked="0"/>
          <c:txPr>
            <a:bodyPr/>
            <a:lstStyle/>
            <a:p>
              <a:pPr>
                <a:defRPr b="0" i="0" strike="noStrike" sz="1000" u="none">
                  <a:solidFill>
                    <a:srgbClr val="1632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6323A"/>
                </a:solidFill>
                <a:latin typeface="Calibri"/>
              </a:defRPr>
            </a:pPr>
            <a:endParaRPr lang="en-US"/>
          </a:p>
        </c:txPr>
        <c:crossAx val="2094734552"/>
        <c:crosses val="autoZero"/>
        <c:auto val="1"/>
        <c:lblAlgn val="ctr"/>
        <c:noMultiLvlLbl val="1"/>
      </c:catAx>
      <c:valAx>
        <c:axId val="2094734552"/>
        <c:scaling>
          <c:orientation val="minMax"/>
          <c:max val="96"/>
          <c:min val="88"/>
        </c:scaling>
        <c:delete val="0"/>
        <c:axPos val="l"/>
        <c:majorGridlines>
          <c:spPr>
            <a:ln w="12700" cap="flat">
              <a:solidFill>
                <a:srgbClr val="E5ED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6323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AUTHORS &amp; AFFILIATION
What I should SAY (30-45 sec):
"This paper was written by three researchers — Guang Yang, Suhuai Luo, and Peter Greer — all from the School of Information and Physical Sciences at the University of Newcastle, Australia. Guang Yang is the lead and corresponding author who ran the experiments, while Luo and Greer reviewed and refined the manuscript. All three share the same department, so this is a single-institution study."
Important terms: corresponding author, affiliation.
Possible instructor question: "Is this a single-institution or multi-institution study?"
Answer: "Single institution — all three authors are from the University of Newcastle, Australia."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JOURNAL &amp; PUBLICATION DETAILS
What I should SAY (40-50 sec):
"The paper was published in Neural Processing Letters, a Springer journal, in 2023 — accepted in February and published online in March. It appears in Volume 55, pages 9335 to 9351. I verified externally that the journal is SCIE-indexed and, according to SCImago, sits in the Q2 quartile for Artificial Intelligence — so it satisfies the MAT399 requirement of a Q1 or Q2 journal. I want to be transparent: different metric aggregators report slightly different Impact Factor values for 2023, so I'm treating the exact figure as something to double check against the official Clarivate JCR report rather than quoting one number with false precision."
Important terms: SCIE, SJR, quartile, impact factor.
Possible instructor question: "Why not just report Q1?"
Answer: "Because that would be dishonest — SCImago places this journal at Q2, not Q1, in its main AI category. I'm reporting what I verified, not what looks more impressive."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MOTIVATION
What I should SAY (40 sec):
"Skin cancer is extremely common, and melanoma — the most dangerous type — causes most of the deaths. But early detection can push survival above 97%. The problem is that diagnosis today leans heavily on dermatologists visually reading dermoscopy images, which takes years of experience and can still be unreliable. Deep learning has already shown it can match or beat dermatologists in some studies, but accuracy for the harder, visually similar lesion types is still not good enough. That's the gap this paper tries to close using a Vision Transformer instead of the usual CNN."
Important terms: dermoscopy, melanoma, early detection.
Possible instructor question: "Why is melanoma specifically hard to classify?"
Answer: "Because different skin lesion types can look visually very similar, especially in early stages, and malignant types are relatively rare in the data, so models see fewer examples of the most dangerous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PROBLEM STATEMENT
What I should SAY (35 sec):
"Starting from raw dermoscopy images of skin lesions, two things make classification hard: many lesion types look visually alike, and the dataset itself is imbalanced — some cancer types have far more images than others. Together these cause existing CNN-based models to struggle on the harder classes. That gap motivates the authors to try a Vision Transformer–based approach instead."
Important terms: class imbalance, visual similarity.
Possible instructor question: "Why does class imbalance hurt classification?"
Answer: "Because the model sees far more examples of common classes like melanocytic nevi than rare ones like dermatofibroma, so it learns to favor the majority classes and underperforms on the minority ones — this is directly addressed later with oversampling."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LITERATURE BACKGROUND
What I should SAY (40-45 sec):
"Work in this area moved from hand-crafted feature methods, to CNNs, to CNNs with soft attention — each step improving accuracy a bit. Separately, the Vision Transformer was introduced by Dosovitskiy et al. in 2020 for general image recognition, and in 2022 a few papers started adapting it for skin lesions. This paper sits at that frontier: it adapts — not invents — the ViT framework specifically for skin cancer classification, and pairs it with a rebalancing step and a redesigned classification block."
Important terms: soft attention, ViT, transfer learning.
Possible instructor question: "Did the authors invent the Vision Transformer?"
Answer: "No — ViT was introduced by Dosovitskiy et al. in 2020. This paper adapts that existing framework for skin cancer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RESEARCH GAP &amp; CONTRIBUTIONS
What I should SAY (40 sec):
"The gap: even attention-enhanced CNNs weren't accurate enough for visually similar, imbalanced skin lesion classes. The authors respond with six contributions — most importantly, a class-rebalancing block, patch-based tokenisation feeding a transformer encoder, and a redesigned classification block with extra batch normalisation that beats the original ViT head slightly. They also make sure to test transfer learning and benchmark fairly against strong CNN and ViT baselines."
Important terms: class rebalancing, classification block, transfer learning.
Possible instructor question: "Is the core Vision Transformer architecture original to this paper?"
Answer: "No — the authors adapt the existing ViT framework for skin cancer classification; their original contributions are the rebalancing block, the classification block redesign, and the applied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PROPOSED METHODOLOGY
What I should SAY (60-70 sec):
"This is Figure 1 from the paper, redrawn as a flow. Raw HAM10000 images first go through augmentation and class rebalancing. Then the image restructuring block splits each image into fixed patches, flattens them, and adds linear plus positional embeddings — this turns the image into a sequence, just like words in a sentence. That sequence goes through N transformer encoder blocks, each with multi-head self-attention and an MLP, both wrapped in layer normalisation and residual connections. Finally, the classification block — flatten, batch-norm, a GeLU dense layer, another batch-norm, then softmax — outputs a probability across the seven HAM10000 classes. This exact classification block, with the extra batch normalisation, is one of the authors' own design choices."
Important terms: patch embedding, positional embedding, residual connection, classification block.
Possible instructor question: "What exactly is 'novel' here versus standard ViT?"
Answer: "The core patching-and-transformer pipeline follows standard ViT. The paper's own additions are the class-rebalancing block up front and the redesigned classification block with extra batch normalisation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HOW THE VISION TRANSFORMER WORKS
What I should SAY (50-60 sec):
"Walking through the pipeline: the image is cut into 16-by-16 patches, each patch is flattened into a vector, and a linear layer projects all patches into the same embedding size. Because transformers have no built-in sense of order, a learnable positional embedding is added so the model knows where each patch came from. That sequence then passes through the transformer encoder, where multi-head self-attention lets every patch 'look at' every other patch and learn which regions matter most for classification. The final token representations feed into the classification block I showed on the previous slide."
Important terms: patch, tokenisation, positional embedding, self-attention.
Possible instructor question: "Why does the model need positional embedding if it already has patches?"
Answer: "Because self-attention treats the input as an unordered set of tokens — without positional embedding, the model would lose information about where each patch sits in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MULTI-HEAD SELF-ATTENTION
What I should SAY (45-55 sec):
"For every patch token, the model creates a Query, a Key, and a Value using learned weight matrices. The Query of one patch is compared against the Keys of all patches to get compatibility scores, which are scaled and passed through softmax so they form a proper probability distribution. That distribution then weights the Value vectors — so each patch's new representation is a blend of the patches most relevant to it. Multi-head attention just runs several of these attention computations in parallel — the paper uses 12 heads in the base model and 16 in the large model — so the network can capture multiple kinds of relationships between patches simultaneously, then concatenates and projects the results."
Important terms: Query, Key, Value, scaled dot-product, multi-head.
Possible instructor question: "Why divide by the square root of dk?"
Answer: "To keep the dot-product scores from growing too large as dimensionality increases, which would otherwise push softmax into regions with very small gradients — the paper notes this scaling gives more stable gradients."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DATASET: HAM10000
What I should SAY (35-40 sec):
"The main dataset is HAM10000 — just over 10,000 dermoscopic images across seven skin-cancer types. As the table shows, it's heavily imbalanced: melanocytic nevi alone make up two-thirds of the images, while dermatofibroma has only 115. The authors fix this with oversampling — using rotation, shifting, zooming and flipping to grow the minority classes — plus duplicate removal for undersampling. This single step took the base model's accuracy from 70.5% to 91.4%, which shows how much the imbalance was hurting performance. They also test on a second, smaller clinical dataset called DERMOFIT."
Important terms: HAM10000, oversampling, undersampling, class imbalance.
Possible instructor question: "Why not just undersample the majority NV class instead of oversampling the rest?"
Answer: "The paper doesn't state that trade-off explicitly, but oversampling with augmentation avoids throwing away already-scarce data — undersampling NV alone would discard a large amount of useful majority-class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EXPERIMENTAL SETUP
What I should SAY (35 sec):
"Two ViTfSCD variants were trained — Base with 86 million parameters and Large with 307 million — both using 16-by-16 patches, pretrained on ImageNet and fine-tuned on HAM10000 with an 85/15 train-test split. They're compared against ResNet50 and Inception-ResNet, both with soft attention, and against the original ViT-Base and ViT-Large. Five metrics are used: accuracy, precision, sensitivity, F1-score, and specificity. Where the paper doesn't give a specific hyperparameter — like the exact learning rate or number of epochs — I'm not going to guess; I'll just say it's not specified."
Important terms: transfer learning, train/test split, baseline model.
Possible instructor question: "Why fine-tune with a low learning rate instead of training from scratch?"
Answer: "Because the model starts from ImageNet-pretrained weights that already encode useful visual features; a low learning rate adapts those features to the new, much smaller HAM10000 dataset without destroying what was already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EXPERIMENTAL RESULTS
What I should SAY (50-55 sec):
"The headline result: ViTfSCD-Large reaches 94.1% overall accuracy on HAM10000, and the lighter ViTfSCD-Base still gets 91.4%. Looking closer at per-class numbers, performance isn't uniform — VASC, a visually distinctive class, is classified almost perfectly, while melanoma, the most dangerous and visually tricky class, has the lowest sensitivity at 0.68. That pattern matters clinically, because melanoma is exactly the type you most need to catch early."
Important terms: precision, sensitivity, specificity, F1-score.
Possible instructor question: "Why is melanoma still the hardest class despite the improvements?"
Answer: "Melanoma shares strong visual similarity with benign nevi and other pigmented lesions, so even with rebalancing and a stronger model, it remains the most visually ambiguous class — the paper itself flags this kind of visual similarity as the core challenge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PERFORMANCE COMPARISON
What I should SAY (40-45 sec):
"This chart lines up overall accuracy across all six models tested on HAM10000. ViTfSCD-Large tops the chart at 94.1%, ahead of the strongest CNN baseline and, importantly, ahead of the original unmodified ViT-Large — which tells us the authors' own additions, not just the transformer architecture itself, are contributing. The margin is modest, one to two percentage points, but it's consistent, and it holds up again on the separate DERMOFIT dataset where ViTfSCD-Base clearly beats the CNN baselines."
Important terms: baseline, overall accuracy.
Possible instructor question: "Is a 1-2 percentage-point gain actually meaningful?"
Answer: "In a well-established benchmark with already-strong baselines, a consistent 1-2 point gain across two separate datasets is meaningful, though it's also worth being cautious — the paper doesn't report statistical significance testing on these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INTERPRETABILITY &amp; ADVANTAGES
What I should SAY (45 sec):
"Beyond raw accuracy, the model's attention layers give an attention map — the diseased region lights up brighter than the surrounding skin, meaning the model is genuinely focusing on the lesion, not on background noise. Prior work by Datta et al. found this kind of attention visualisation works better than Grad-CAM for this task. Pulling that together with everything so far — strong accuracy, imbalance handled directly, transfer learning, and interpretability — these are the paper's main advantages, and they're all backed by evidence in the paper itself, not just claimed."
Important terms: attention map, Grad-CAM, interpretability.
Possible instructor question: "How is the attention map actually generated?"
Answer: "It comes directly from the weights learned in the multi-head self-attention layers of the transformer encoder — regions the model attends to most strongly appear brighter."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LIMITATIONS
What I should SAY (40 sec):
"The authors themselves flag two big limitations: the large model — 307 million parameters for ViTfSCD-Large — is expensive to train and deploy, and ViT models in general need heavy pretraining data. They also note the model hasn't been tested on real-world images from mobile cameras or different lighting, so generalisation and robustness are open questions. On top of that, from my own reading, I'd add that only two datasets are tested, no inference speed is reported, and melanoma — the class that matters most clinically — is still the hardest to classify. I want to be clear that this second set is my own observation, not something the authors explicitly claim."
Important terms: model size, generalisation, robustness.
Possible instructor question: "Which of these limitations did the authors state themselves, versus which are your own critique?"
Answer: "Model size, data efficiency, generalisation to non-dermoscopy images, and robustness to noise are all explicitly discussed in the paper's Discussion section. The dataset-count, latency, and statistical-significance points are my own observations from reading the methodology and results critically."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FUTURE SCOPE
What I should SAY (45 sec):
"The authors themselves suggest two directions: try larger ViTfSCD models, and pretrain on bigger datasets like JFT-300M instead of ImageNet. I want to add my own proposed extension, and I'm keeping it clearly separate from what the authors said. My direction is an efficient and explainable version of ViTfSCD — since we just saw the large model has 307 million parameters, a natural question is whether techniques like efficient attention, knowledge distillation, pruning, or quantisation can shrink it while keeping accuracy competitive. This is a research hypothesis I'm proposing, not something I've built or tested — it's a direction for future work, not a claimed result."
Important terms: knowledge distillation, pruning, quantisation, research hypothesis.
Possible instructor question: "Is your proposed extension part of the original paper?"
Answer: "No — it is entirely my own proposed research direction, clearly separate from the authors' stated future work, and it is a hypothesis to be tested, not a result I'm 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CONCLUSION
What I should SAY (30 sec):
"To wrap up: the paper tackles skin cancer classification, which is hard because lesion types look alike and the data is imbalanced. Their answer is ViTfSCD — a Vision Transformer adapted with class rebalancing and a redesigned classification block — trained and tested on HAM10000 and DERMOFIT. The headline result is 94.1% accuracy with the large variant, beating both CNN and original ViT baselines. The bigger picture is that this kind of model can support earlier, more reliable, and more interpretable skin cancer diagnosis."
Important terms: none new — this is a summary slide.
Possible instructor question: "In one sentence, what's the single biggest takeaway?"
Answer: "A Vision Transformer, combined with class rebalancing and transfer learning, can classify skin cancer more accurately than comparable CNN approaches — while also offering visual, attention-based interpretability."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REFERENCES
What I should SAY (15-20 sec):
"These are my references — the primary paper, the key works it builds on (Vaswani's original transformer paper, Dosovitskiy's Vision Transformer paper, Esteva's dermatologist-comparison study, Datta's soft-attention work, and the HAM10000 and DERMOFIT dataset papers), plus the external sources I used to verify the journal's indexing and quartile status."
Possible instructor question: "How did you verify the journal's SCIE status and quartile independently of the paper itself?"
Answer: "I checked SCImago Journal &amp; Country Rank directly, which places Neural Processing Letters in the Q2 quartile for Artificial Intelligence, and cross-checked its SCIE/Scopus indexing status through journal metrics aggregator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E3B41"/>
          </a:solidFill>
          <a:ln/>
        </p:spPr>
      </p:sp>
      <p:sp>
        <p:nvSpPr>
          <p:cNvPr id="3" name="Shape 1"/>
          <p:cNvSpPr/>
          <p:nvPr/>
        </p:nvSpPr>
        <p:spPr>
          <a:xfrm>
            <a:off x="274320" y="1691640"/>
            <a:ext cx="3474720" cy="3474720"/>
          </a:xfrm>
          <a:prstGeom prst="ellipse">
            <a:avLst/>
          </a:prstGeom>
          <a:ln w="12700">
            <a:solidFill>
              <a:srgbClr val="00A896">
                <a:alpha val="60000"/>
              </a:srgbClr>
            </a:solidFill>
            <a:prstDash val="solid"/>
          </a:ln>
        </p:spPr>
      </p:sp>
      <p:sp>
        <p:nvSpPr>
          <p:cNvPr id="4" name="Shape 2"/>
          <p:cNvSpPr/>
          <p:nvPr/>
        </p:nvSpPr>
        <p:spPr>
          <a:xfrm>
            <a:off x="594360" y="2011680"/>
            <a:ext cx="2834640" cy="2834640"/>
          </a:xfrm>
          <a:prstGeom prst="ellipse">
            <a:avLst/>
          </a:prstGeom>
          <a:ln w="12700">
            <a:solidFill>
              <a:srgbClr val="00A896">
                <a:alpha val="60000"/>
              </a:srgbClr>
            </a:solidFill>
            <a:prstDash val="solid"/>
          </a:ln>
        </p:spPr>
      </p:sp>
      <p:sp>
        <p:nvSpPr>
          <p:cNvPr id="5" name="Shape 3"/>
          <p:cNvSpPr/>
          <p:nvPr/>
        </p:nvSpPr>
        <p:spPr>
          <a:xfrm>
            <a:off x="914400" y="2331720"/>
            <a:ext cx="2194560" cy="2194560"/>
          </a:xfrm>
          <a:prstGeom prst="ellipse">
            <a:avLst/>
          </a:prstGeom>
          <a:ln w="12700">
            <a:solidFill>
              <a:srgbClr val="00A896">
                <a:alpha val="60000"/>
              </a:srgbClr>
            </a:solidFill>
            <a:prstDash val="solid"/>
          </a:ln>
        </p:spPr>
      </p:sp>
      <p:sp>
        <p:nvSpPr>
          <p:cNvPr id="6" name="Shape 4"/>
          <p:cNvSpPr/>
          <p:nvPr/>
        </p:nvSpPr>
        <p:spPr>
          <a:xfrm>
            <a:off x="1234440" y="2651760"/>
            <a:ext cx="1554480" cy="1554480"/>
          </a:xfrm>
          <a:prstGeom prst="ellipse">
            <a:avLst/>
          </a:prstGeom>
          <a:ln w="12700">
            <a:solidFill>
              <a:srgbClr val="00A896">
                <a:alpha val="60000"/>
              </a:srgbClr>
            </a:solidFill>
            <a:prstDash val="solid"/>
          </a:ln>
        </p:spPr>
      </p:sp>
      <p:sp>
        <p:nvSpPr>
          <p:cNvPr id="7" name="Shape 5"/>
          <p:cNvSpPr/>
          <p:nvPr/>
        </p:nvSpPr>
        <p:spPr>
          <a:xfrm>
            <a:off x="1554480" y="2971800"/>
            <a:ext cx="914400" cy="914400"/>
          </a:xfrm>
          <a:prstGeom prst="ellipse">
            <a:avLst/>
          </a:prstGeom>
          <a:ln w="12700">
            <a:solidFill>
              <a:srgbClr val="00A896">
                <a:alpha val="60000"/>
              </a:srgbClr>
            </a:solidFill>
            <a:prstDash val="solid"/>
          </a:ln>
        </p:spPr>
      </p:sp>
      <p:sp>
        <p:nvSpPr>
          <p:cNvPr id="8" name="Text 6"/>
          <p:cNvSpPr/>
          <p:nvPr/>
        </p:nvSpPr>
        <p:spPr>
          <a:xfrm>
            <a:off x="548640" y="502920"/>
            <a:ext cx="27432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MAT399</a:t>
            </a:r>
            <a:endParaRPr lang="en-US" sz="1300" dirty="0"/>
          </a:p>
        </p:txBody>
      </p:sp>
      <p:sp>
        <p:nvSpPr>
          <p:cNvPr id="9" name="Text 7"/>
          <p:cNvSpPr/>
          <p:nvPr/>
        </p:nvSpPr>
        <p:spPr>
          <a:xfrm>
            <a:off x="548640" y="777240"/>
            <a:ext cx="3200400" cy="365760"/>
          </a:xfrm>
          <a:prstGeom prst="rect">
            <a:avLst/>
          </a:prstGeom>
          <a:noFill/>
          <a:ln/>
        </p:spPr>
        <p:txBody>
          <a:bodyPr wrap="square" rtlCol="0" anchor="ctr"/>
          <a:lstStyle/>
          <a:p>
            <a:pPr indent="0" marL="0">
              <a:buNone/>
            </a:pPr>
            <a:r>
              <a:rPr lang="en-US" sz="1300" dirty="0">
                <a:solidFill>
                  <a:srgbClr val="BFE3E0"/>
                </a:solidFill>
                <a:latin typeface="Calibri" pitchFamily="34" charset="0"/>
                <a:ea typeface="Calibri" pitchFamily="34" charset="-122"/>
                <a:cs typeface="Calibri" pitchFamily="34" charset="-120"/>
              </a:rPr>
              <a:t>Research Seminar</a:t>
            </a:r>
            <a:endParaRPr lang="en-US" sz="1300" dirty="0"/>
          </a:p>
        </p:txBody>
      </p:sp>
      <p:sp>
        <p:nvSpPr>
          <p:cNvPr id="10" name="Text 8"/>
          <p:cNvSpPr/>
          <p:nvPr/>
        </p:nvSpPr>
        <p:spPr>
          <a:xfrm>
            <a:off x="4343400" y="685800"/>
            <a:ext cx="7360920" cy="2331720"/>
          </a:xfrm>
          <a:prstGeom prst="rect">
            <a:avLst/>
          </a:prstGeom>
          <a:noFill/>
          <a:ln/>
        </p:spPr>
        <p:txBody>
          <a:bodyPr wrap="square" rtlCol="0" anchor="ctr"/>
          <a:lstStyle/>
          <a:p>
            <a:pPr algn="l" indent="0" marL="0">
              <a:lnSpc>
                <a:spcPts val="4000"/>
              </a:lnSpc>
              <a:buNone/>
            </a:pPr>
            <a:r>
              <a:rPr lang="en-US" sz="3400" b="1" dirty="0">
                <a:solidFill>
                  <a:srgbClr val="FFFFFF"/>
                </a:solidFill>
                <a:latin typeface="Cambria" pitchFamily="34" charset="0"/>
                <a:ea typeface="Cambria" pitchFamily="34" charset="-122"/>
                <a:cs typeface="Cambria" pitchFamily="34" charset="-120"/>
              </a:rPr>
              <a:t>A Novel Vision Transformer</a:t>
            </a:r>
            <a:endParaRPr lang="en-US" sz="3400" dirty="0"/>
          </a:p>
          <a:p>
            <a:pPr algn="l" indent="0" marL="0">
              <a:lnSpc>
                <a:spcPts val="4000"/>
              </a:lnSpc>
              <a:buNone/>
            </a:pPr>
            <a:r>
              <a:rPr lang="en-US" sz="3400" b="1" dirty="0">
                <a:solidFill>
                  <a:srgbClr val="FFFFFF"/>
                </a:solidFill>
                <a:latin typeface="Cambria" pitchFamily="34" charset="0"/>
                <a:ea typeface="Cambria" pitchFamily="34" charset="-122"/>
                <a:cs typeface="Cambria" pitchFamily="34" charset="-120"/>
              </a:rPr>
              <a:t>Model for Skin Cancer</a:t>
            </a:r>
            <a:endParaRPr lang="en-US" sz="3400" dirty="0"/>
          </a:p>
          <a:p>
            <a:pPr algn="l" indent="0" marL="0">
              <a:lnSpc>
                <a:spcPts val="4000"/>
              </a:lnSpc>
              <a:buNone/>
            </a:pPr>
            <a:r>
              <a:rPr lang="en-US" sz="3400" b="1" dirty="0">
                <a:solidFill>
                  <a:srgbClr val="FFFFFF"/>
                </a:solidFill>
                <a:latin typeface="Cambria" pitchFamily="34" charset="0"/>
                <a:ea typeface="Cambria" pitchFamily="34" charset="-122"/>
                <a:cs typeface="Cambria" pitchFamily="34" charset="-120"/>
              </a:rPr>
              <a:t>Classification</a:t>
            </a:r>
            <a:endParaRPr lang="en-US" sz="3400" dirty="0"/>
          </a:p>
        </p:txBody>
      </p:sp>
      <p:sp>
        <p:nvSpPr>
          <p:cNvPr id="11" name="Shape 9"/>
          <p:cNvSpPr/>
          <p:nvPr/>
        </p:nvSpPr>
        <p:spPr>
          <a:xfrm>
            <a:off x="4370832" y="3200400"/>
            <a:ext cx="7040880" cy="0"/>
          </a:xfrm>
          <a:prstGeom prst="line">
            <a:avLst/>
          </a:prstGeom>
          <a:noFill/>
          <a:ln w="15875">
            <a:solidFill>
              <a:srgbClr val="00A896">
                <a:alpha val="70000"/>
              </a:srgbClr>
            </a:solidFill>
            <a:prstDash val="solid"/>
          </a:ln>
        </p:spPr>
      </p:sp>
      <p:sp>
        <p:nvSpPr>
          <p:cNvPr id="12" name="Text 10"/>
          <p:cNvSpPr/>
          <p:nvPr/>
        </p:nvSpPr>
        <p:spPr>
          <a:xfrm>
            <a:off x="4343400" y="3310128"/>
            <a:ext cx="7315200" cy="292608"/>
          </a:xfrm>
          <a:prstGeom prst="rect">
            <a:avLst/>
          </a:prstGeom>
          <a:noFill/>
          <a:ln/>
        </p:spPr>
        <p:txBody>
          <a:bodyPr wrap="square" rtlCol="0" anchor="ctr"/>
          <a:lstStyle/>
          <a:p>
            <a:pPr indent="0" marL="0">
              <a:buNone/>
            </a:pPr>
            <a:r>
              <a:rPr lang="en-US" sz="1300" dirty="0">
                <a:solidFill>
                  <a:srgbClr val="9FD3D0"/>
                </a:solidFill>
                <a:latin typeface="Calibri" pitchFamily="34" charset="0"/>
                <a:ea typeface="Calibri" pitchFamily="34" charset="-122"/>
                <a:cs typeface="Calibri" pitchFamily="34" charset="-120"/>
              </a:rPr>
              <a:t>Seminar 1  ·  MAT399  ·  M.Sc. Data Science</a:t>
            </a:r>
            <a:endParaRPr lang="en-US" sz="1300" dirty="0"/>
          </a:p>
        </p:txBody>
      </p:sp>
      <p:sp>
        <p:nvSpPr>
          <p:cNvPr id="13" name="Shape 11"/>
          <p:cNvSpPr/>
          <p:nvPr/>
        </p:nvSpPr>
        <p:spPr>
          <a:xfrm>
            <a:off x="4343400" y="3749040"/>
            <a:ext cx="3383280" cy="1371600"/>
          </a:xfrm>
          <a:prstGeom prst="roundRect">
            <a:avLst>
              <a:gd name="adj" fmla="val 6667"/>
            </a:avLst>
          </a:prstGeom>
          <a:solidFill>
            <a:srgbClr val="12474D"/>
          </a:solidFill>
          <a:ln/>
        </p:spPr>
      </p:sp>
      <p:sp>
        <p:nvSpPr>
          <p:cNvPr id="14" name="Text 12"/>
          <p:cNvSpPr/>
          <p:nvPr/>
        </p:nvSpPr>
        <p:spPr>
          <a:xfrm>
            <a:off x="4526280" y="3877056"/>
            <a:ext cx="3017520" cy="228600"/>
          </a:xfrm>
          <a:prstGeom prst="rect">
            <a:avLst/>
          </a:prstGeom>
          <a:noFill/>
          <a:ln/>
        </p:spPr>
        <p:txBody>
          <a:bodyPr wrap="square" rtlCol="0" anchor="ctr"/>
          <a:lstStyle/>
          <a:p>
            <a:pPr indent="0" marL="0">
              <a:buNone/>
            </a:pPr>
            <a:r>
              <a:rPr lang="en-US" sz="950" b="1" spc="150" kern="0" dirty="0">
                <a:solidFill>
                  <a:srgbClr val="02C39A"/>
                </a:solidFill>
                <a:latin typeface="Calibri" pitchFamily="34" charset="0"/>
                <a:ea typeface="Calibri" pitchFamily="34" charset="-122"/>
                <a:cs typeface="Calibri" pitchFamily="34" charset="-120"/>
              </a:rPr>
              <a:t>PRESENTED BY</a:t>
            </a:r>
            <a:endParaRPr lang="en-US" sz="950" dirty="0"/>
          </a:p>
        </p:txBody>
      </p:sp>
      <p:sp>
        <p:nvSpPr>
          <p:cNvPr id="15" name="Text 13"/>
          <p:cNvSpPr/>
          <p:nvPr/>
        </p:nvSpPr>
        <p:spPr>
          <a:xfrm>
            <a:off x="4526280" y="4096512"/>
            <a:ext cx="3017520" cy="36576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Vishnupriya M</a:t>
            </a:r>
            <a:endParaRPr lang="en-US" sz="1900" dirty="0"/>
          </a:p>
        </p:txBody>
      </p:sp>
      <p:sp>
        <p:nvSpPr>
          <p:cNvPr id="16" name="Text 14"/>
          <p:cNvSpPr/>
          <p:nvPr/>
        </p:nvSpPr>
        <p:spPr>
          <a:xfrm>
            <a:off x="4526280" y="4498848"/>
            <a:ext cx="3017520" cy="274320"/>
          </a:xfrm>
          <a:prstGeom prst="rect">
            <a:avLst/>
          </a:prstGeom>
          <a:noFill/>
          <a:ln/>
        </p:spPr>
        <p:txBody>
          <a:bodyPr wrap="square" rtlCol="0" anchor="ctr"/>
          <a:lstStyle/>
          <a:p>
            <a:pPr indent="0" marL="0">
              <a:buNone/>
            </a:pPr>
            <a:r>
              <a:rPr lang="en-US" sz="1200" dirty="0">
                <a:solidFill>
                  <a:srgbClr val="BFE3E0"/>
                </a:solidFill>
                <a:latin typeface="Calibri" pitchFamily="34" charset="0"/>
                <a:ea typeface="Calibri" pitchFamily="34" charset="-122"/>
                <a:cs typeface="Calibri" pitchFamily="34" charset="-120"/>
              </a:rPr>
              <a:t>Register No. 127150060</a:t>
            </a:r>
            <a:endParaRPr lang="en-US" sz="1200" dirty="0"/>
          </a:p>
        </p:txBody>
      </p:sp>
      <p:sp>
        <p:nvSpPr>
          <p:cNvPr id="17" name="Text 15"/>
          <p:cNvSpPr/>
          <p:nvPr/>
        </p:nvSpPr>
        <p:spPr>
          <a:xfrm>
            <a:off x="4526280" y="4754880"/>
            <a:ext cx="3017520" cy="274320"/>
          </a:xfrm>
          <a:prstGeom prst="rect">
            <a:avLst/>
          </a:prstGeom>
          <a:noFill/>
          <a:ln/>
        </p:spPr>
        <p:txBody>
          <a:bodyPr wrap="square" rtlCol="0" anchor="ctr"/>
          <a:lstStyle/>
          <a:p>
            <a:pPr indent="0" marL="0">
              <a:buNone/>
            </a:pPr>
            <a:r>
              <a:rPr lang="en-US" sz="1200" dirty="0">
                <a:solidFill>
                  <a:srgbClr val="BFE3E0"/>
                </a:solidFill>
                <a:latin typeface="Calibri" pitchFamily="34" charset="0"/>
                <a:ea typeface="Calibri" pitchFamily="34" charset="-122"/>
                <a:cs typeface="Calibri" pitchFamily="34" charset="-120"/>
              </a:rPr>
              <a:t>M.Sc. Data Science</a:t>
            </a:r>
            <a:endParaRPr lang="en-US" sz="1200" dirty="0"/>
          </a:p>
        </p:txBody>
      </p:sp>
      <p:sp>
        <p:nvSpPr>
          <p:cNvPr id="18" name="Shape 16"/>
          <p:cNvSpPr/>
          <p:nvPr/>
        </p:nvSpPr>
        <p:spPr>
          <a:xfrm>
            <a:off x="7909560" y="3749040"/>
            <a:ext cx="3794760" cy="1371600"/>
          </a:xfrm>
          <a:prstGeom prst="roundRect">
            <a:avLst>
              <a:gd name="adj" fmla="val 6667"/>
            </a:avLst>
          </a:prstGeom>
          <a:solidFill>
            <a:srgbClr val="12474D"/>
          </a:solidFill>
          <a:ln/>
        </p:spPr>
      </p:sp>
      <p:sp>
        <p:nvSpPr>
          <p:cNvPr id="19" name="Text 17"/>
          <p:cNvSpPr/>
          <p:nvPr/>
        </p:nvSpPr>
        <p:spPr>
          <a:xfrm>
            <a:off x="8092440" y="3877056"/>
            <a:ext cx="3474720" cy="228600"/>
          </a:xfrm>
          <a:prstGeom prst="rect">
            <a:avLst/>
          </a:prstGeom>
          <a:noFill/>
          <a:ln/>
        </p:spPr>
        <p:txBody>
          <a:bodyPr wrap="square" rtlCol="0" anchor="ctr"/>
          <a:lstStyle/>
          <a:p>
            <a:pPr indent="0" marL="0">
              <a:buNone/>
            </a:pPr>
            <a:r>
              <a:rPr lang="en-US" sz="950" b="1" spc="100" kern="0" dirty="0">
                <a:solidFill>
                  <a:srgbClr val="02C39A"/>
                </a:solidFill>
                <a:latin typeface="Calibri" pitchFamily="34" charset="0"/>
                <a:ea typeface="Calibri" pitchFamily="34" charset="-122"/>
                <a:cs typeface="Calibri" pitchFamily="34" charset="-120"/>
              </a:rPr>
              <a:t>ORIGINAL RESEARCH ARTICLE</a:t>
            </a:r>
            <a:endParaRPr lang="en-US" sz="950" dirty="0"/>
          </a:p>
        </p:txBody>
      </p:sp>
      <p:sp>
        <p:nvSpPr>
          <p:cNvPr id="20" name="Text 18"/>
          <p:cNvSpPr/>
          <p:nvPr/>
        </p:nvSpPr>
        <p:spPr>
          <a:xfrm>
            <a:off x="8092440" y="4114800"/>
            <a:ext cx="34747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Guang Yang, Suhuai Luo, Peter Greer</a:t>
            </a:r>
            <a:endParaRPr lang="en-US" sz="1200" dirty="0"/>
          </a:p>
        </p:txBody>
      </p:sp>
      <p:sp>
        <p:nvSpPr>
          <p:cNvPr id="21" name="Text 19"/>
          <p:cNvSpPr/>
          <p:nvPr/>
        </p:nvSpPr>
        <p:spPr>
          <a:xfrm>
            <a:off x="8092440" y="4370832"/>
            <a:ext cx="3474720" cy="256032"/>
          </a:xfrm>
          <a:prstGeom prst="rect">
            <a:avLst/>
          </a:prstGeom>
          <a:noFill/>
          <a:ln/>
        </p:spPr>
        <p:txBody>
          <a:bodyPr wrap="square" rtlCol="0" anchor="ctr"/>
          <a:lstStyle/>
          <a:p>
            <a:pPr indent="0" marL="0">
              <a:buNone/>
            </a:pPr>
            <a:r>
              <a:rPr lang="en-US" sz="1150" dirty="0">
                <a:solidFill>
                  <a:srgbClr val="BFE3E0"/>
                </a:solidFill>
                <a:latin typeface="Calibri" pitchFamily="34" charset="0"/>
                <a:ea typeface="Calibri" pitchFamily="34" charset="-122"/>
                <a:cs typeface="Calibri" pitchFamily="34" charset="-120"/>
              </a:rPr>
              <a:t>Neural Processing Letters (Springer)</a:t>
            </a:r>
            <a:endParaRPr lang="en-US" sz="1150" dirty="0"/>
          </a:p>
        </p:txBody>
      </p:sp>
      <p:sp>
        <p:nvSpPr>
          <p:cNvPr id="22" name="Text 20"/>
          <p:cNvSpPr/>
          <p:nvPr/>
        </p:nvSpPr>
        <p:spPr>
          <a:xfrm>
            <a:off x="8092440" y="4590288"/>
            <a:ext cx="3474720" cy="256032"/>
          </a:xfrm>
          <a:prstGeom prst="rect">
            <a:avLst/>
          </a:prstGeom>
          <a:noFill/>
          <a:ln/>
        </p:spPr>
        <p:txBody>
          <a:bodyPr wrap="square" rtlCol="0" anchor="ctr"/>
          <a:lstStyle/>
          <a:p>
            <a:pPr indent="0" marL="0">
              <a:buNone/>
            </a:pPr>
            <a:r>
              <a:rPr lang="en-US" sz="1150" dirty="0">
                <a:solidFill>
                  <a:srgbClr val="BFE3E0"/>
                </a:solidFill>
                <a:latin typeface="Calibri" pitchFamily="34" charset="0"/>
                <a:ea typeface="Calibri" pitchFamily="34" charset="-122"/>
                <a:cs typeface="Calibri" pitchFamily="34" charset="-120"/>
              </a:rPr>
              <a:t>2023  ·  Vol. 55, pp. 9335–9351</a:t>
            </a:r>
            <a:endParaRPr lang="en-US" sz="1150" dirty="0"/>
          </a:p>
        </p:txBody>
      </p:sp>
      <p:sp>
        <p:nvSpPr>
          <p:cNvPr id="23" name="Text 21"/>
          <p:cNvSpPr/>
          <p:nvPr/>
        </p:nvSpPr>
        <p:spPr>
          <a:xfrm>
            <a:off x="8092440" y="4809744"/>
            <a:ext cx="3474720" cy="256032"/>
          </a:xfrm>
          <a:prstGeom prst="rect">
            <a:avLst/>
          </a:prstGeom>
          <a:noFill/>
          <a:ln/>
        </p:spPr>
        <p:txBody>
          <a:bodyPr wrap="square" rtlCol="0" anchor="ctr"/>
          <a:lstStyle/>
          <a:p>
            <a:pPr indent="0" marL="0">
              <a:buNone/>
            </a:pPr>
            <a:r>
              <a:rPr lang="en-US" sz="1000" dirty="0">
                <a:solidFill>
                  <a:srgbClr val="8FC6C2"/>
                </a:solidFill>
                <a:latin typeface="Calibri" pitchFamily="34" charset="0"/>
                <a:ea typeface="Calibri" pitchFamily="34" charset="-122"/>
                <a:cs typeface="Calibri" pitchFamily="34" charset="-120"/>
              </a:rPr>
              <a:t>DOI: 10.1007/s11063-023-11204-5</a:t>
            </a:r>
            <a:endParaRPr lang="en-US" sz="1000" dirty="0"/>
          </a:p>
        </p:txBody>
      </p:sp>
      <p:sp>
        <p:nvSpPr>
          <p:cNvPr id="24" name="Shape 22"/>
          <p:cNvSpPr/>
          <p:nvPr/>
        </p:nvSpPr>
        <p:spPr>
          <a:xfrm>
            <a:off x="4343400" y="5349240"/>
            <a:ext cx="1417320" cy="384048"/>
          </a:xfrm>
          <a:prstGeom prst="roundRect">
            <a:avLst>
              <a:gd name="adj" fmla="val 50000"/>
            </a:avLst>
          </a:prstGeom>
          <a:solidFill>
            <a:srgbClr val="028090"/>
          </a:solidFill>
          <a:ln/>
        </p:spPr>
      </p:sp>
      <p:sp>
        <p:nvSpPr>
          <p:cNvPr id="25" name="Text 23"/>
          <p:cNvSpPr/>
          <p:nvPr/>
        </p:nvSpPr>
        <p:spPr>
          <a:xfrm>
            <a:off x="4343400" y="5349240"/>
            <a:ext cx="14173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SCIE Indexed</a:t>
            </a:r>
            <a:endParaRPr lang="en-US" sz="1100" dirty="0"/>
          </a:p>
        </p:txBody>
      </p:sp>
      <p:sp>
        <p:nvSpPr>
          <p:cNvPr id="26" name="Shape 24"/>
          <p:cNvSpPr/>
          <p:nvPr/>
        </p:nvSpPr>
        <p:spPr>
          <a:xfrm>
            <a:off x="5870448" y="5349240"/>
            <a:ext cx="1783080" cy="384048"/>
          </a:xfrm>
          <a:prstGeom prst="roundRect">
            <a:avLst>
              <a:gd name="adj" fmla="val 50000"/>
            </a:avLst>
          </a:prstGeom>
          <a:solidFill>
            <a:srgbClr val="00A896"/>
          </a:solidFill>
          <a:ln/>
        </p:spPr>
      </p:sp>
      <p:sp>
        <p:nvSpPr>
          <p:cNvPr id="27" name="Text 25"/>
          <p:cNvSpPr/>
          <p:nvPr/>
        </p:nvSpPr>
        <p:spPr>
          <a:xfrm>
            <a:off x="5870448" y="5349240"/>
            <a:ext cx="17830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Quartile: Q2 (SJR)</a:t>
            </a:r>
            <a:endParaRPr lang="en-US" sz="1100" dirty="0"/>
          </a:p>
        </p:txBody>
      </p:sp>
      <p:sp>
        <p:nvSpPr>
          <p:cNvPr id="28" name="Shape 26"/>
          <p:cNvSpPr/>
          <p:nvPr/>
        </p:nvSpPr>
        <p:spPr>
          <a:xfrm>
            <a:off x="7763256" y="5349240"/>
            <a:ext cx="1508760" cy="384048"/>
          </a:xfrm>
          <a:prstGeom prst="roundRect">
            <a:avLst>
              <a:gd name="adj" fmla="val 50000"/>
            </a:avLst>
          </a:prstGeom>
          <a:solidFill>
            <a:srgbClr val="12474D"/>
          </a:solidFill>
          <a:ln/>
        </p:spPr>
      </p:sp>
      <p:sp>
        <p:nvSpPr>
          <p:cNvPr id="29" name="Text 27"/>
          <p:cNvSpPr/>
          <p:nvPr/>
        </p:nvSpPr>
        <p:spPr>
          <a:xfrm>
            <a:off x="7763256" y="5349240"/>
            <a:ext cx="1508760" cy="384048"/>
          </a:xfrm>
          <a:prstGeom prst="rect">
            <a:avLst/>
          </a:prstGeom>
          <a:noFill/>
          <a:ln/>
        </p:spPr>
        <p:txBody>
          <a:bodyPr wrap="square" lIns="0" tIns="0" rIns="0" bIns="0"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IF ≈ 3.3–3.7*</a:t>
            </a:r>
            <a:endParaRPr lang="en-US" sz="1100" dirty="0"/>
          </a:p>
        </p:txBody>
      </p:sp>
      <p:sp>
        <p:nvSpPr>
          <p:cNvPr id="30" name="Text 28"/>
          <p:cNvSpPr/>
          <p:nvPr/>
        </p:nvSpPr>
        <p:spPr>
          <a:xfrm>
            <a:off x="4370832" y="5779008"/>
            <a:ext cx="7315200" cy="457200"/>
          </a:xfrm>
          <a:prstGeom prst="rect">
            <a:avLst/>
          </a:prstGeom>
          <a:noFill/>
          <a:ln/>
        </p:spPr>
        <p:txBody>
          <a:bodyPr wrap="square" rtlCol="0" anchor="ctr"/>
          <a:lstStyle/>
          <a:p>
            <a:pPr indent="0" marL="0">
              <a:buNone/>
            </a:pPr>
            <a:r>
              <a:rPr lang="en-US" sz="850" i="1" dirty="0">
                <a:solidFill>
                  <a:srgbClr val="7FB8B4"/>
                </a:solidFill>
                <a:latin typeface="Calibri" pitchFamily="34" charset="0"/>
                <a:ea typeface="Calibri" pitchFamily="34" charset="-122"/>
                <a:cs typeface="Calibri" pitchFamily="34" charset="-120"/>
              </a:rPr>
              <a:t>*Reported Impact Factor differs slightly across indexing sources (JCR 2023); verify against Clarivate JCR for the exact figure.</a:t>
            </a:r>
            <a:endParaRPr lang="en-US" sz="850" dirty="0"/>
          </a:p>
        </p:txBody>
      </p:sp>
      <p:sp>
        <p:nvSpPr>
          <p:cNvPr id="31" name="Text 29"/>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6FA8AE"/>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32" name="Text 30"/>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6FA8AE"/>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2</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Authors &amp; Affiliation</a:t>
            </a:r>
            <a:endParaRPr lang="en-US" sz="3000" dirty="0"/>
          </a:p>
        </p:txBody>
      </p:sp>
      <p:sp>
        <p:nvSpPr>
          <p:cNvPr id="4" name="Shape 2"/>
          <p:cNvSpPr/>
          <p:nvPr/>
        </p:nvSpPr>
        <p:spPr>
          <a:xfrm>
            <a:off x="548640" y="1417320"/>
            <a:ext cx="3566160" cy="2148840"/>
          </a:xfrm>
          <a:prstGeom prst="roundRect">
            <a:avLst>
              <a:gd name="adj" fmla="val 4255"/>
            </a:avLst>
          </a:prstGeom>
          <a:solidFill>
            <a:srgbClr val="F7FAFA"/>
          </a:solidFill>
          <a:ln w="12700">
            <a:solidFill>
              <a:srgbClr val="DCEBEA"/>
            </a:solidFill>
            <a:prstDash val="solid"/>
          </a:ln>
        </p:spPr>
      </p:sp>
      <p:sp>
        <p:nvSpPr>
          <p:cNvPr id="5" name="Shape 3"/>
          <p:cNvSpPr/>
          <p:nvPr/>
        </p:nvSpPr>
        <p:spPr>
          <a:xfrm>
            <a:off x="1920240" y="1691640"/>
            <a:ext cx="822960" cy="822960"/>
          </a:xfrm>
          <a:prstGeom prst="ellipse">
            <a:avLst/>
          </a:prstGeom>
          <a:solidFill>
            <a:srgbClr val="028090"/>
          </a:solidFill>
          <a:ln/>
        </p:spPr>
      </p:sp>
      <p:sp>
        <p:nvSpPr>
          <p:cNvPr id="6" name="Text 4"/>
          <p:cNvSpPr/>
          <p:nvPr/>
        </p:nvSpPr>
        <p:spPr>
          <a:xfrm>
            <a:off x="1920240" y="1691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GY</a:t>
            </a:r>
            <a:endParaRPr lang="en-US" sz="2200" dirty="0"/>
          </a:p>
        </p:txBody>
      </p:sp>
      <p:sp>
        <p:nvSpPr>
          <p:cNvPr id="7" name="Text 5"/>
          <p:cNvSpPr/>
          <p:nvPr/>
        </p:nvSpPr>
        <p:spPr>
          <a:xfrm>
            <a:off x="731520" y="2651760"/>
            <a:ext cx="3200400" cy="365760"/>
          </a:xfrm>
          <a:prstGeom prst="rect">
            <a:avLst/>
          </a:prstGeom>
          <a:noFill/>
          <a:ln/>
        </p:spPr>
        <p:txBody>
          <a:bodyPr wrap="square" rtlCol="0" anchor="ctr"/>
          <a:lstStyle/>
          <a:p>
            <a:pPr algn="ctr" indent="0" marL="0">
              <a:buNone/>
            </a:pPr>
            <a:r>
              <a:rPr lang="en-US" sz="1600" b="1" dirty="0">
                <a:solidFill>
                  <a:srgbClr val="16323A"/>
                </a:solidFill>
                <a:latin typeface="Cambria" pitchFamily="34" charset="0"/>
                <a:ea typeface="Cambria" pitchFamily="34" charset="-122"/>
                <a:cs typeface="Cambria" pitchFamily="34" charset="-120"/>
              </a:rPr>
              <a:t>Guang Yang</a:t>
            </a:r>
            <a:endParaRPr lang="en-US" sz="1600" dirty="0"/>
          </a:p>
        </p:txBody>
      </p:sp>
      <p:sp>
        <p:nvSpPr>
          <p:cNvPr id="8" name="Text 6"/>
          <p:cNvSpPr/>
          <p:nvPr/>
        </p:nvSpPr>
        <p:spPr>
          <a:xfrm>
            <a:off x="731520" y="3017520"/>
            <a:ext cx="3200400" cy="502920"/>
          </a:xfrm>
          <a:prstGeom prst="rect">
            <a:avLst/>
          </a:prstGeom>
          <a:noFill/>
          <a:ln/>
        </p:spPr>
        <p:txBody>
          <a:bodyPr wrap="square" rtlCol="0" anchor="ctr"/>
          <a:lstStyle/>
          <a:p>
            <a:pPr algn="ctr" indent="0" marL="0">
              <a:buNone/>
            </a:pPr>
            <a:r>
              <a:rPr lang="en-US" sz="1050" dirty="0">
                <a:solidFill>
                  <a:srgbClr val="5C7A80"/>
                </a:solidFill>
                <a:latin typeface="Calibri" pitchFamily="34" charset="0"/>
                <a:ea typeface="Calibri" pitchFamily="34" charset="-122"/>
                <a:cs typeface="Calibri" pitchFamily="34" charset="-120"/>
              </a:rPr>
              <a:t>Corresponding Author · Data preparation, experiments, manuscript drafting</a:t>
            </a:r>
            <a:endParaRPr lang="en-US" sz="1050" dirty="0"/>
          </a:p>
        </p:txBody>
      </p:sp>
      <p:sp>
        <p:nvSpPr>
          <p:cNvPr id="9" name="Shape 7"/>
          <p:cNvSpPr/>
          <p:nvPr/>
        </p:nvSpPr>
        <p:spPr>
          <a:xfrm>
            <a:off x="4370832" y="1417320"/>
            <a:ext cx="3566160" cy="2148840"/>
          </a:xfrm>
          <a:prstGeom prst="roundRect">
            <a:avLst>
              <a:gd name="adj" fmla="val 4255"/>
            </a:avLst>
          </a:prstGeom>
          <a:solidFill>
            <a:srgbClr val="F7FAFA"/>
          </a:solidFill>
          <a:ln w="12700">
            <a:solidFill>
              <a:srgbClr val="DCEBEA"/>
            </a:solidFill>
            <a:prstDash val="solid"/>
          </a:ln>
        </p:spPr>
      </p:sp>
      <p:sp>
        <p:nvSpPr>
          <p:cNvPr id="10" name="Shape 8"/>
          <p:cNvSpPr/>
          <p:nvPr/>
        </p:nvSpPr>
        <p:spPr>
          <a:xfrm>
            <a:off x="5742432" y="1691640"/>
            <a:ext cx="822960" cy="822960"/>
          </a:xfrm>
          <a:prstGeom prst="ellipse">
            <a:avLst/>
          </a:prstGeom>
          <a:solidFill>
            <a:srgbClr val="00A896"/>
          </a:solidFill>
          <a:ln/>
        </p:spPr>
      </p:sp>
      <p:sp>
        <p:nvSpPr>
          <p:cNvPr id="11" name="Text 9"/>
          <p:cNvSpPr/>
          <p:nvPr/>
        </p:nvSpPr>
        <p:spPr>
          <a:xfrm>
            <a:off x="5742432" y="1691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SL</a:t>
            </a:r>
            <a:endParaRPr lang="en-US" sz="2200" dirty="0"/>
          </a:p>
        </p:txBody>
      </p:sp>
      <p:sp>
        <p:nvSpPr>
          <p:cNvPr id="12" name="Text 10"/>
          <p:cNvSpPr/>
          <p:nvPr/>
        </p:nvSpPr>
        <p:spPr>
          <a:xfrm>
            <a:off x="4553712" y="2651760"/>
            <a:ext cx="3200400" cy="365760"/>
          </a:xfrm>
          <a:prstGeom prst="rect">
            <a:avLst/>
          </a:prstGeom>
          <a:noFill/>
          <a:ln/>
        </p:spPr>
        <p:txBody>
          <a:bodyPr wrap="square" rtlCol="0" anchor="ctr"/>
          <a:lstStyle/>
          <a:p>
            <a:pPr algn="ctr" indent="0" marL="0">
              <a:buNone/>
            </a:pPr>
            <a:r>
              <a:rPr lang="en-US" sz="1600" b="1" dirty="0">
                <a:solidFill>
                  <a:srgbClr val="16323A"/>
                </a:solidFill>
                <a:latin typeface="Cambria" pitchFamily="34" charset="0"/>
                <a:ea typeface="Cambria" pitchFamily="34" charset="-122"/>
                <a:cs typeface="Cambria" pitchFamily="34" charset="-120"/>
              </a:rPr>
              <a:t>Suhuai Luo</a:t>
            </a:r>
            <a:endParaRPr lang="en-US" sz="1600" dirty="0"/>
          </a:p>
        </p:txBody>
      </p:sp>
      <p:sp>
        <p:nvSpPr>
          <p:cNvPr id="13" name="Text 11"/>
          <p:cNvSpPr/>
          <p:nvPr/>
        </p:nvSpPr>
        <p:spPr>
          <a:xfrm>
            <a:off x="4553712" y="3017520"/>
            <a:ext cx="3200400" cy="502920"/>
          </a:xfrm>
          <a:prstGeom prst="rect">
            <a:avLst/>
          </a:prstGeom>
          <a:noFill/>
          <a:ln/>
        </p:spPr>
        <p:txBody>
          <a:bodyPr wrap="square" rtlCol="0" anchor="ctr"/>
          <a:lstStyle/>
          <a:p>
            <a:pPr algn="ctr" indent="0" marL="0">
              <a:buNone/>
            </a:pPr>
            <a:r>
              <a:rPr lang="en-US" sz="1050" dirty="0">
                <a:solidFill>
                  <a:srgbClr val="5C7A80"/>
                </a:solidFill>
                <a:latin typeface="Calibri" pitchFamily="34" charset="0"/>
                <a:ea typeface="Calibri" pitchFamily="34" charset="-122"/>
                <a:cs typeface="Calibri" pitchFamily="34" charset="-120"/>
              </a:rPr>
              <a:t>Reviewed draft · Enhanced introduction, methodology &amp; conclusion</a:t>
            </a:r>
            <a:endParaRPr lang="en-US" sz="1050" dirty="0"/>
          </a:p>
        </p:txBody>
      </p:sp>
      <p:sp>
        <p:nvSpPr>
          <p:cNvPr id="14" name="Shape 12"/>
          <p:cNvSpPr/>
          <p:nvPr/>
        </p:nvSpPr>
        <p:spPr>
          <a:xfrm>
            <a:off x="8193024" y="1417320"/>
            <a:ext cx="3566160" cy="2148840"/>
          </a:xfrm>
          <a:prstGeom prst="roundRect">
            <a:avLst>
              <a:gd name="adj" fmla="val 4255"/>
            </a:avLst>
          </a:prstGeom>
          <a:solidFill>
            <a:srgbClr val="F7FAFA"/>
          </a:solidFill>
          <a:ln w="12700">
            <a:solidFill>
              <a:srgbClr val="DCEBEA"/>
            </a:solidFill>
            <a:prstDash val="solid"/>
          </a:ln>
        </p:spPr>
      </p:sp>
      <p:sp>
        <p:nvSpPr>
          <p:cNvPr id="15" name="Shape 13"/>
          <p:cNvSpPr/>
          <p:nvPr/>
        </p:nvSpPr>
        <p:spPr>
          <a:xfrm>
            <a:off x="9564624" y="1691640"/>
            <a:ext cx="822960" cy="822960"/>
          </a:xfrm>
          <a:prstGeom prst="ellipse">
            <a:avLst/>
          </a:prstGeom>
          <a:solidFill>
            <a:srgbClr val="00A896"/>
          </a:solidFill>
          <a:ln/>
        </p:spPr>
      </p:sp>
      <p:sp>
        <p:nvSpPr>
          <p:cNvPr id="16" name="Text 14"/>
          <p:cNvSpPr/>
          <p:nvPr/>
        </p:nvSpPr>
        <p:spPr>
          <a:xfrm>
            <a:off x="9564624" y="1691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PG</a:t>
            </a:r>
            <a:endParaRPr lang="en-US" sz="2200" dirty="0"/>
          </a:p>
        </p:txBody>
      </p:sp>
      <p:sp>
        <p:nvSpPr>
          <p:cNvPr id="17" name="Text 15"/>
          <p:cNvSpPr/>
          <p:nvPr/>
        </p:nvSpPr>
        <p:spPr>
          <a:xfrm>
            <a:off x="8375904" y="2651760"/>
            <a:ext cx="3200400" cy="365760"/>
          </a:xfrm>
          <a:prstGeom prst="rect">
            <a:avLst/>
          </a:prstGeom>
          <a:noFill/>
          <a:ln/>
        </p:spPr>
        <p:txBody>
          <a:bodyPr wrap="square" rtlCol="0" anchor="ctr"/>
          <a:lstStyle/>
          <a:p>
            <a:pPr algn="ctr" indent="0" marL="0">
              <a:buNone/>
            </a:pPr>
            <a:r>
              <a:rPr lang="en-US" sz="1600" b="1" dirty="0">
                <a:solidFill>
                  <a:srgbClr val="16323A"/>
                </a:solidFill>
                <a:latin typeface="Cambria" pitchFamily="34" charset="0"/>
                <a:ea typeface="Cambria" pitchFamily="34" charset="-122"/>
                <a:cs typeface="Cambria" pitchFamily="34" charset="-120"/>
              </a:rPr>
              <a:t>Peter Greer</a:t>
            </a:r>
            <a:endParaRPr lang="en-US" sz="1600" dirty="0"/>
          </a:p>
        </p:txBody>
      </p:sp>
      <p:sp>
        <p:nvSpPr>
          <p:cNvPr id="18" name="Text 16"/>
          <p:cNvSpPr/>
          <p:nvPr/>
        </p:nvSpPr>
        <p:spPr>
          <a:xfrm>
            <a:off x="8375904" y="3017520"/>
            <a:ext cx="3200400" cy="502920"/>
          </a:xfrm>
          <a:prstGeom prst="rect">
            <a:avLst/>
          </a:prstGeom>
          <a:noFill/>
          <a:ln/>
        </p:spPr>
        <p:txBody>
          <a:bodyPr wrap="square" rtlCol="0" anchor="ctr"/>
          <a:lstStyle/>
          <a:p>
            <a:pPr algn="ctr" indent="0" marL="0">
              <a:buNone/>
            </a:pPr>
            <a:r>
              <a:rPr lang="en-US" sz="1050" dirty="0">
                <a:solidFill>
                  <a:srgbClr val="5C7A80"/>
                </a:solidFill>
                <a:latin typeface="Calibri" pitchFamily="34" charset="0"/>
                <a:ea typeface="Calibri" pitchFamily="34" charset="-122"/>
                <a:cs typeface="Calibri" pitchFamily="34" charset="-120"/>
              </a:rPr>
              <a:t>Reviewed manuscript · Provided suggestions</a:t>
            </a:r>
            <a:endParaRPr lang="en-US" sz="1050" dirty="0"/>
          </a:p>
        </p:txBody>
      </p:sp>
      <p:sp>
        <p:nvSpPr>
          <p:cNvPr id="19" name="Shape 17"/>
          <p:cNvSpPr/>
          <p:nvPr/>
        </p:nvSpPr>
        <p:spPr>
          <a:xfrm>
            <a:off x="548640" y="3886200"/>
            <a:ext cx="11091672" cy="1737360"/>
          </a:xfrm>
          <a:prstGeom prst="roundRect">
            <a:avLst>
              <a:gd name="adj" fmla="val 5263"/>
            </a:avLst>
          </a:prstGeom>
          <a:solidFill>
            <a:srgbClr val="0B2E33"/>
          </a:solidFill>
          <a:ln/>
        </p:spPr>
      </p:sp>
      <p:sp>
        <p:nvSpPr>
          <p:cNvPr id="20" name="Text 18"/>
          <p:cNvSpPr/>
          <p:nvPr/>
        </p:nvSpPr>
        <p:spPr>
          <a:xfrm>
            <a:off x="822960" y="4069080"/>
            <a:ext cx="1051560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SHARED AFFILIATION (as stated in the paper)</a:t>
            </a:r>
            <a:endParaRPr lang="en-US" sz="1100" dirty="0"/>
          </a:p>
        </p:txBody>
      </p:sp>
      <p:sp>
        <p:nvSpPr>
          <p:cNvPr id="21" name="Text 19"/>
          <p:cNvSpPr/>
          <p:nvPr/>
        </p:nvSpPr>
        <p:spPr>
          <a:xfrm>
            <a:off x="822960" y="4389120"/>
            <a:ext cx="10515600" cy="777240"/>
          </a:xfrm>
          <a:prstGeom prst="rect">
            <a:avLst/>
          </a:prstGeom>
          <a:noFill/>
          <a:ln/>
        </p:spPr>
        <p:txBody>
          <a:bodyPr wrap="square" rtlCol="0" anchor="ctr"/>
          <a:lstStyle/>
          <a:p>
            <a:pPr indent="0" marL="0">
              <a:lnSpc>
                <a:spcPts val="2200"/>
              </a:lnSpc>
              <a:buNone/>
            </a:pPr>
            <a:r>
              <a:rPr lang="en-US" sz="1500" dirty="0">
                <a:solidFill>
                  <a:srgbClr val="FFFFFF"/>
                </a:solidFill>
                <a:latin typeface="Calibri" pitchFamily="34" charset="0"/>
                <a:ea typeface="Calibri" pitchFamily="34" charset="-122"/>
                <a:cs typeface="Calibri" pitchFamily="34" charset="-120"/>
              </a:rPr>
              <a:t>School of Information and Physical Sciences, College of Engineering, Science and Environment,</a:t>
            </a:r>
            <a:endParaRPr lang="en-US" sz="1500" dirty="0"/>
          </a:p>
          <a:p>
            <a:pPr indent="0" marL="0">
              <a:lnSpc>
                <a:spcPts val="2200"/>
              </a:lnSpc>
              <a:buNone/>
            </a:pPr>
            <a:r>
              <a:rPr lang="en-US" sz="1500" dirty="0">
                <a:solidFill>
                  <a:srgbClr val="FFFFFF"/>
                </a:solidFill>
                <a:latin typeface="Calibri" pitchFamily="34" charset="0"/>
                <a:ea typeface="Calibri" pitchFamily="34" charset="-122"/>
                <a:cs typeface="Calibri" pitchFamily="34" charset="-120"/>
              </a:rPr>
              <a:t>The University of Newcastle, University Dr., Callaghan, NSW 2308, Australia</a:t>
            </a:r>
            <a:endParaRPr lang="en-US" sz="1500" dirty="0"/>
          </a:p>
        </p:txBody>
      </p:sp>
      <p:sp>
        <p:nvSpPr>
          <p:cNvPr id="22" name="Text 20"/>
          <p:cNvSpPr/>
          <p:nvPr/>
        </p:nvSpPr>
        <p:spPr>
          <a:xfrm>
            <a:off x="822960" y="5166360"/>
            <a:ext cx="10515600" cy="365760"/>
          </a:xfrm>
          <a:prstGeom prst="rect">
            <a:avLst/>
          </a:prstGeom>
          <a:noFill/>
          <a:ln/>
        </p:spPr>
        <p:txBody>
          <a:bodyPr wrap="square" rtlCol="0" anchor="ctr"/>
          <a:lstStyle/>
          <a:p>
            <a:pPr indent="0" marL="0">
              <a:buNone/>
            </a:pPr>
            <a:r>
              <a:rPr lang="en-US" sz="1050" i="1" dirty="0">
                <a:solidFill>
                  <a:srgbClr val="9FD3D0"/>
                </a:solidFill>
                <a:latin typeface="Calibri" pitchFamily="34" charset="0"/>
                <a:ea typeface="Calibri" pitchFamily="34" charset="-122"/>
                <a:cs typeface="Calibri" pitchFamily="34" charset="-120"/>
              </a:rPr>
              <a:t>All three authors share this single institutional affiliation — University of Newcastle, Australia.</a:t>
            </a:r>
            <a:endParaRPr lang="en-US" sz="1050" dirty="0"/>
          </a:p>
        </p:txBody>
      </p:sp>
      <p:sp>
        <p:nvSpPr>
          <p:cNvPr id="23" name="Text 21"/>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24" name="Text 22"/>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3</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Journal &amp; Publication Details</a:t>
            </a:r>
            <a:endParaRPr lang="en-US" sz="3000" dirty="0"/>
          </a:p>
        </p:txBody>
      </p:sp>
      <p:sp>
        <p:nvSpPr>
          <p:cNvPr id="4" name="Shape 2"/>
          <p:cNvSpPr/>
          <p:nvPr/>
        </p:nvSpPr>
        <p:spPr>
          <a:xfrm>
            <a:off x="548640" y="1417320"/>
            <a:ext cx="7360920" cy="484632"/>
          </a:xfrm>
          <a:prstGeom prst="rect">
            <a:avLst/>
          </a:prstGeom>
          <a:solidFill>
            <a:srgbClr val="F7FAFA"/>
          </a:solidFill>
          <a:ln/>
        </p:spPr>
      </p:sp>
      <p:sp>
        <p:nvSpPr>
          <p:cNvPr id="5" name="Text 3"/>
          <p:cNvSpPr/>
          <p:nvPr/>
        </p:nvSpPr>
        <p:spPr>
          <a:xfrm>
            <a:off x="713232" y="1417320"/>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Journal</a:t>
            </a:r>
            <a:endParaRPr lang="en-US" sz="1150" dirty="0"/>
          </a:p>
        </p:txBody>
      </p:sp>
      <p:sp>
        <p:nvSpPr>
          <p:cNvPr id="6" name="Text 4"/>
          <p:cNvSpPr/>
          <p:nvPr/>
        </p:nvSpPr>
        <p:spPr>
          <a:xfrm>
            <a:off x="2926080" y="1417320"/>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Neural Processing Letters</a:t>
            </a:r>
            <a:endParaRPr lang="en-US" sz="1100" dirty="0"/>
          </a:p>
        </p:txBody>
      </p:sp>
      <p:sp>
        <p:nvSpPr>
          <p:cNvPr id="7" name="Shape 5"/>
          <p:cNvSpPr/>
          <p:nvPr/>
        </p:nvSpPr>
        <p:spPr>
          <a:xfrm>
            <a:off x="548640" y="1901952"/>
            <a:ext cx="7360920" cy="484632"/>
          </a:xfrm>
          <a:prstGeom prst="rect">
            <a:avLst/>
          </a:prstGeom>
          <a:solidFill>
            <a:srgbClr val="FFFFFF"/>
          </a:solidFill>
          <a:ln/>
        </p:spPr>
      </p:sp>
      <p:sp>
        <p:nvSpPr>
          <p:cNvPr id="8" name="Text 6"/>
          <p:cNvSpPr/>
          <p:nvPr/>
        </p:nvSpPr>
        <p:spPr>
          <a:xfrm>
            <a:off x="713232" y="1901952"/>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Publisher</a:t>
            </a:r>
            <a:endParaRPr lang="en-US" sz="1150" dirty="0"/>
          </a:p>
        </p:txBody>
      </p:sp>
      <p:sp>
        <p:nvSpPr>
          <p:cNvPr id="9" name="Text 7"/>
          <p:cNvSpPr/>
          <p:nvPr/>
        </p:nvSpPr>
        <p:spPr>
          <a:xfrm>
            <a:off x="2926080" y="1901952"/>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Springer (Springer Netherlands)</a:t>
            </a:r>
            <a:endParaRPr lang="en-US" sz="1100" dirty="0"/>
          </a:p>
        </p:txBody>
      </p:sp>
      <p:sp>
        <p:nvSpPr>
          <p:cNvPr id="10" name="Shape 8"/>
          <p:cNvSpPr/>
          <p:nvPr/>
        </p:nvSpPr>
        <p:spPr>
          <a:xfrm>
            <a:off x="548640" y="2386584"/>
            <a:ext cx="7360920" cy="484632"/>
          </a:xfrm>
          <a:prstGeom prst="rect">
            <a:avLst/>
          </a:prstGeom>
          <a:solidFill>
            <a:srgbClr val="F7FAFA"/>
          </a:solidFill>
          <a:ln/>
        </p:spPr>
      </p:sp>
      <p:sp>
        <p:nvSpPr>
          <p:cNvPr id="11" name="Text 9"/>
          <p:cNvSpPr/>
          <p:nvPr/>
        </p:nvSpPr>
        <p:spPr>
          <a:xfrm>
            <a:off x="713232" y="2386584"/>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Publication year</a:t>
            </a:r>
            <a:endParaRPr lang="en-US" sz="1150" dirty="0"/>
          </a:p>
        </p:txBody>
      </p:sp>
      <p:sp>
        <p:nvSpPr>
          <p:cNvPr id="12" name="Text 10"/>
          <p:cNvSpPr/>
          <p:nvPr/>
        </p:nvSpPr>
        <p:spPr>
          <a:xfrm>
            <a:off x="2926080" y="2386584"/>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2023  (accepted 24 Feb 2023, online 27 Mar 2023)</a:t>
            </a:r>
            <a:endParaRPr lang="en-US" sz="1100" dirty="0"/>
          </a:p>
        </p:txBody>
      </p:sp>
      <p:sp>
        <p:nvSpPr>
          <p:cNvPr id="13" name="Shape 11"/>
          <p:cNvSpPr/>
          <p:nvPr/>
        </p:nvSpPr>
        <p:spPr>
          <a:xfrm>
            <a:off x="548640" y="2871216"/>
            <a:ext cx="7360920" cy="484632"/>
          </a:xfrm>
          <a:prstGeom prst="rect">
            <a:avLst/>
          </a:prstGeom>
          <a:solidFill>
            <a:srgbClr val="FFFFFF"/>
          </a:solidFill>
          <a:ln/>
        </p:spPr>
      </p:sp>
      <p:sp>
        <p:nvSpPr>
          <p:cNvPr id="14" name="Text 12"/>
          <p:cNvSpPr/>
          <p:nvPr/>
        </p:nvSpPr>
        <p:spPr>
          <a:xfrm>
            <a:off x="713232" y="2871216"/>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Volume / Pages</a:t>
            </a:r>
            <a:endParaRPr lang="en-US" sz="1150" dirty="0"/>
          </a:p>
        </p:txBody>
      </p:sp>
      <p:sp>
        <p:nvSpPr>
          <p:cNvPr id="15" name="Text 13"/>
          <p:cNvSpPr/>
          <p:nvPr/>
        </p:nvSpPr>
        <p:spPr>
          <a:xfrm>
            <a:off x="2926080" y="2871216"/>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Volume 55, pp. 9335–9351</a:t>
            </a:r>
            <a:endParaRPr lang="en-US" sz="1100" dirty="0"/>
          </a:p>
        </p:txBody>
      </p:sp>
      <p:sp>
        <p:nvSpPr>
          <p:cNvPr id="16" name="Shape 14"/>
          <p:cNvSpPr/>
          <p:nvPr/>
        </p:nvSpPr>
        <p:spPr>
          <a:xfrm>
            <a:off x="548640" y="3355848"/>
            <a:ext cx="7360920" cy="484632"/>
          </a:xfrm>
          <a:prstGeom prst="rect">
            <a:avLst/>
          </a:prstGeom>
          <a:solidFill>
            <a:srgbClr val="F7FAFA"/>
          </a:solidFill>
          <a:ln/>
        </p:spPr>
      </p:sp>
      <p:sp>
        <p:nvSpPr>
          <p:cNvPr id="17" name="Text 15"/>
          <p:cNvSpPr/>
          <p:nvPr/>
        </p:nvSpPr>
        <p:spPr>
          <a:xfrm>
            <a:off x="713232" y="3355848"/>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DOI</a:t>
            </a:r>
            <a:endParaRPr lang="en-US" sz="1150" dirty="0"/>
          </a:p>
        </p:txBody>
      </p:sp>
      <p:sp>
        <p:nvSpPr>
          <p:cNvPr id="18" name="Text 16"/>
          <p:cNvSpPr/>
          <p:nvPr/>
        </p:nvSpPr>
        <p:spPr>
          <a:xfrm>
            <a:off x="2926080" y="3355848"/>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10.1007/s11063-023-11204-5</a:t>
            </a:r>
            <a:endParaRPr lang="en-US" sz="1100" dirty="0"/>
          </a:p>
        </p:txBody>
      </p:sp>
      <p:sp>
        <p:nvSpPr>
          <p:cNvPr id="19" name="Shape 17"/>
          <p:cNvSpPr/>
          <p:nvPr/>
        </p:nvSpPr>
        <p:spPr>
          <a:xfrm>
            <a:off x="548640" y="3840480"/>
            <a:ext cx="7360920" cy="484632"/>
          </a:xfrm>
          <a:prstGeom prst="rect">
            <a:avLst/>
          </a:prstGeom>
          <a:solidFill>
            <a:srgbClr val="FFFFFF"/>
          </a:solidFill>
          <a:ln/>
        </p:spPr>
      </p:sp>
      <p:sp>
        <p:nvSpPr>
          <p:cNvPr id="20" name="Text 18"/>
          <p:cNvSpPr/>
          <p:nvPr/>
        </p:nvSpPr>
        <p:spPr>
          <a:xfrm>
            <a:off x="713232" y="3840480"/>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Indexing</a:t>
            </a:r>
            <a:endParaRPr lang="en-US" sz="1150" dirty="0"/>
          </a:p>
        </p:txBody>
      </p:sp>
      <p:sp>
        <p:nvSpPr>
          <p:cNvPr id="21" name="Text 19"/>
          <p:cNvSpPr/>
          <p:nvPr/>
        </p:nvSpPr>
        <p:spPr>
          <a:xfrm>
            <a:off x="2926080" y="3840480"/>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SCIE-indexed (Scopus / Web of Science)  — verified externally</a:t>
            </a:r>
            <a:endParaRPr lang="en-US" sz="1100" dirty="0"/>
          </a:p>
        </p:txBody>
      </p:sp>
      <p:sp>
        <p:nvSpPr>
          <p:cNvPr id="22" name="Shape 20"/>
          <p:cNvSpPr/>
          <p:nvPr/>
        </p:nvSpPr>
        <p:spPr>
          <a:xfrm>
            <a:off x="548640" y="4325112"/>
            <a:ext cx="7360920" cy="484632"/>
          </a:xfrm>
          <a:prstGeom prst="rect">
            <a:avLst/>
          </a:prstGeom>
          <a:solidFill>
            <a:srgbClr val="F7FAFA"/>
          </a:solidFill>
          <a:ln/>
        </p:spPr>
      </p:sp>
      <p:sp>
        <p:nvSpPr>
          <p:cNvPr id="23" name="Text 21"/>
          <p:cNvSpPr/>
          <p:nvPr/>
        </p:nvSpPr>
        <p:spPr>
          <a:xfrm>
            <a:off x="713232" y="4325112"/>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SJR quartile (2023)</a:t>
            </a:r>
            <a:endParaRPr lang="en-US" sz="1150" dirty="0"/>
          </a:p>
        </p:txBody>
      </p:sp>
      <p:sp>
        <p:nvSpPr>
          <p:cNvPr id="24" name="Text 22"/>
          <p:cNvSpPr/>
          <p:nvPr/>
        </p:nvSpPr>
        <p:spPr>
          <a:xfrm>
            <a:off x="2926080" y="4325112"/>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Q2 in Artificial Intelligence category  — verified via SCImago</a:t>
            </a:r>
            <a:endParaRPr lang="en-US" sz="1100" dirty="0"/>
          </a:p>
        </p:txBody>
      </p:sp>
      <p:sp>
        <p:nvSpPr>
          <p:cNvPr id="25" name="Shape 23"/>
          <p:cNvSpPr/>
          <p:nvPr/>
        </p:nvSpPr>
        <p:spPr>
          <a:xfrm>
            <a:off x="548640" y="4809744"/>
            <a:ext cx="7360920" cy="484632"/>
          </a:xfrm>
          <a:prstGeom prst="rect">
            <a:avLst/>
          </a:prstGeom>
          <a:solidFill>
            <a:srgbClr val="FFFFFF"/>
          </a:solidFill>
          <a:ln/>
        </p:spPr>
      </p:sp>
      <p:sp>
        <p:nvSpPr>
          <p:cNvPr id="26" name="Text 24"/>
          <p:cNvSpPr/>
          <p:nvPr/>
        </p:nvSpPr>
        <p:spPr>
          <a:xfrm>
            <a:off x="713232" y="4809744"/>
            <a:ext cx="2148840" cy="484632"/>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Impact Factor</a:t>
            </a:r>
            <a:endParaRPr lang="en-US" sz="1150" dirty="0"/>
          </a:p>
        </p:txBody>
      </p:sp>
      <p:sp>
        <p:nvSpPr>
          <p:cNvPr id="27" name="Text 25"/>
          <p:cNvSpPr/>
          <p:nvPr/>
        </p:nvSpPr>
        <p:spPr>
          <a:xfrm>
            <a:off x="2926080" y="4809744"/>
            <a:ext cx="4892040" cy="484632"/>
          </a:xfrm>
          <a:prstGeom prst="rect">
            <a:avLst/>
          </a:prstGeom>
          <a:noFill/>
          <a:ln/>
        </p:spPr>
        <p:txBody>
          <a:bodyPr wrap="square" lIns="0" tIns="0" rIns="0" bIns="0" rtlCol="0" anchor="ctr"/>
          <a:lstStyle/>
          <a:p>
            <a:pPr indent="0" marL="0">
              <a:buNone/>
            </a:pPr>
            <a:r>
              <a:rPr lang="en-US" sz="1100" dirty="0">
                <a:solidFill>
                  <a:srgbClr val="16323A"/>
                </a:solidFill>
                <a:latin typeface="Calibri" pitchFamily="34" charset="0"/>
                <a:ea typeface="Calibri" pitchFamily="34" charset="-122"/>
                <a:cs typeface="Calibri" pitchFamily="34" charset="-120"/>
              </a:rPr>
              <a:t>≈ 3.3–3.7 (sources vary) — verify exact JCR 2023 value</a:t>
            </a:r>
            <a:endParaRPr lang="en-US" sz="1100" dirty="0"/>
          </a:p>
        </p:txBody>
      </p:sp>
      <p:sp>
        <p:nvSpPr>
          <p:cNvPr id="28" name="Shape 26"/>
          <p:cNvSpPr/>
          <p:nvPr/>
        </p:nvSpPr>
        <p:spPr>
          <a:xfrm>
            <a:off x="8183880" y="1417320"/>
            <a:ext cx="3456432" cy="3913632"/>
          </a:xfrm>
          <a:prstGeom prst="roundRect">
            <a:avLst>
              <a:gd name="adj" fmla="val 2646"/>
            </a:avLst>
          </a:prstGeom>
          <a:solidFill>
            <a:srgbClr val="0B2E33"/>
          </a:solidFill>
          <a:ln/>
        </p:spPr>
      </p:sp>
      <p:sp>
        <p:nvSpPr>
          <p:cNvPr id="29" name="Text 27"/>
          <p:cNvSpPr/>
          <p:nvPr/>
        </p:nvSpPr>
        <p:spPr>
          <a:xfrm>
            <a:off x="8366760" y="1572768"/>
            <a:ext cx="310896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MAT399 ELIGIBILITY CHECK</a:t>
            </a:r>
            <a:endParaRPr lang="en-US" sz="1100" dirty="0"/>
          </a:p>
        </p:txBody>
      </p:sp>
      <p:sp>
        <p:nvSpPr>
          <p:cNvPr id="30" name="Shape 28"/>
          <p:cNvSpPr/>
          <p:nvPr/>
        </p:nvSpPr>
        <p:spPr>
          <a:xfrm>
            <a:off x="8366760" y="1947672"/>
            <a:ext cx="146304" cy="146304"/>
          </a:xfrm>
          <a:prstGeom prst="ellipse">
            <a:avLst/>
          </a:prstGeom>
          <a:solidFill>
            <a:srgbClr val="02C39A"/>
          </a:solidFill>
          <a:ln/>
        </p:spPr>
      </p:sp>
      <p:sp>
        <p:nvSpPr>
          <p:cNvPr id="31" name="Text 29"/>
          <p:cNvSpPr/>
          <p:nvPr/>
        </p:nvSpPr>
        <p:spPr>
          <a:xfrm>
            <a:off x="8613648" y="1874520"/>
            <a:ext cx="2880360" cy="2926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Research article</a:t>
            </a:r>
            <a:endParaRPr lang="en-US" sz="1050" dirty="0"/>
          </a:p>
        </p:txBody>
      </p:sp>
      <p:sp>
        <p:nvSpPr>
          <p:cNvPr id="32" name="Shape 30"/>
          <p:cNvSpPr/>
          <p:nvPr/>
        </p:nvSpPr>
        <p:spPr>
          <a:xfrm>
            <a:off x="8366760" y="2313432"/>
            <a:ext cx="146304" cy="146304"/>
          </a:xfrm>
          <a:prstGeom prst="ellipse">
            <a:avLst/>
          </a:prstGeom>
          <a:solidFill>
            <a:srgbClr val="02C39A"/>
          </a:solidFill>
          <a:ln/>
        </p:spPr>
      </p:sp>
      <p:sp>
        <p:nvSpPr>
          <p:cNvPr id="33" name="Text 31"/>
          <p:cNvSpPr/>
          <p:nvPr/>
        </p:nvSpPr>
        <p:spPr>
          <a:xfrm>
            <a:off x="8613648" y="2240280"/>
            <a:ext cx="2880360" cy="2926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Journal article</a:t>
            </a:r>
            <a:endParaRPr lang="en-US" sz="1050" dirty="0"/>
          </a:p>
        </p:txBody>
      </p:sp>
      <p:sp>
        <p:nvSpPr>
          <p:cNvPr id="34" name="Shape 32"/>
          <p:cNvSpPr/>
          <p:nvPr/>
        </p:nvSpPr>
        <p:spPr>
          <a:xfrm>
            <a:off x="8366760" y="2679192"/>
            <a:ext cx="146304" cy="146304"/>
          </a:xfrm>
          <a:prstGeom prst="ellipse">
            <a:avLst/>
          </a:prstGeom>
          <a:solidFill>
            <a:srgbClr val="02C39A"/>
          </a:solidFill>
          <a:ln/>
        </p:spPr>
      </p:sp>
      <p:sp>
        <p:nvSpPr>
          <p:cNvPr id="35" name="Text 33"/>
          <p:cNvSpPr/>
          <p:nvPr/>
        </p:nvSpPr>
        <p:spPr>
          <a:xfrm>
            <a:off x="8613648" y="2606040"/>
            <a:ext cx="2880360" cy="2926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SCI/SCIE indexed</a:t>
            </a:r>
            <a:endParaRPr lang="en-US" sz="1050" dirty="0"/>
          </a:p>
        </p:txBody>
      </p:sp>
      <p:sp>
        <p:nvSpPr>
          <p:cNvPr id="36" name="Shape 34"/>
          <p:cNvSpPr/>
          <p:nvPr/>
        </p:nvSpPr>
        <p:spPr>
          <a:xfrm>
            <a:off x="8366760" y="3044952"/>
            <a:ext cx="146304" cy="146304"/>
          </a:xfrm>
          <a:prstGeom prst="ellipse">
            <a:avLst/>
          </a:prstGeom>
          <a:solidFill>
            <a:srgbClr val="02C39A"/>
          </a:solidFill>
          <a:ln/>
        </p:spPr>
      </p:sp>
      <p:sp>
        <p:nvSpPr>
          <p:cNvPr id="37" name="Text 35"/>
          <p:cNvSpPr/>
          <p:nvPr/>
        </p:nvSpPr>
        <p:spPr>
          <a:xfrm>
            <a:off x="8613648" y="2971800"/>
            <a:ext cx="2880360" cy="2926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Published 2022–2026</a:t>
            </a:r>
            <a:endParaRPr lang="en-US" sz="1050" dirty="0"/>
          </a:p>
        </p:txBody>
      </p:sp>
      <p:sp>
        <p:nvSpPr>
          <p:cNvPr id="38" name="Shape 36"/>
          <p:cNvSpPr/>
          <p:nvPr/>
        </p:nvSpPr>
        <p:spPr>
          <a:xfrm>
            <a:off x="8366760" y="3410712"/>
            <a:ext cx="146304" cy="146304"/>
          </a:xfrm>
          <a:prstGeom prst="ellipse">
            <a:avLst/>
          </a:prstGeom>
          <a:solidFill>
            <a:srgbClr val="02C39A"/>
          </a:solidFill>
          <a:ln/>
        </p:spPr>
      </p:sp>
      <p:sp>
        <p:nvSpPr>
          <p:cNvPr id="39" name="Text 37"/>
          <p:cNvSpPr/>
          <p:nvPr/>
        </p:nvSpPr>
        <p:spPr>
          <a:xfrm>
            <a:off x="8613648" y="3337560"/>
            <a:ext cx="2880360" cy="2926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AI / Deep Learning / CV area</a:t>
            </a:r>
            <a:endParaRPr lang="en-US" sz="1050" dirty="0"/>
          </a:p>
        </p:txBody>
      </p:sp>
      <p:sp>
        <p:nvSpPr>
          <p:cNvPr id="40" name="Shape 38"/>
          <p:cNvSpPr/>
          <p:nvPr/>
        </p:nvSpPr>
        <p:spPr>
          <a:xfrm>
            <a:off x="8366760" y="3776472"/>
            <a:ext cx="146304" cy="146304"/>
          </a:xfrm>
          <a:prstGeom prst="ellipse">
            <a:avLst/>
          </a:prstGeom>
          <a:solidFill>
            <a:srgbClr val="02C39A"/>
          </a:solidFill>
          <a:ln/>
        </p:spPr>
      </p:sp>
      <p:sp>
        <p:nvSpPr>
          <p:cNvPr id="41" name="Text 39"/>
          <p:cNvSpPr/>
          <p:nvPr/>
        </p:nvSpPr>
        <p:spPr>
          <a:xfrm>
            <a:off x="8613648" y="3703320"/>
            <a:ext cx="2880360" cy="2926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Q1 or Q2 status → Q2</a:t>
            </a:r>
            <a:endParaRPr lang="en-US" sz="1050" dirty="0"/>
          </a:p>
        </p:txBody>
      </p:sp>
      <p:sp>
        <p:nvSpPr>
          <p:cNvPr id="42" name="Shape 40"/>
          <p:cNvSpPr/>
          <p:nvPr/>
        </p:nvSpPr>
        <p:spPr>
          <a:xfrm>
            <a:off x="8366760" y="4160520"/>
            <a:ext cx="3063240" cy="0"/>
          </a:xfrm>
          <a:prstGeom prst="line">
            <a:avLst/>
          </a:prstGeom>
          <a:noFill/>
          <a:ln w="12700">
            <a:solidFill>
              <a:srgbClr val="2A5C61"/>
            </a:solidFill>
            <a:prstDash val="solid"/>
          </a:ln>
        </p:spPr>
      </p:sp>
      <p:sp>
        <p:nvSpPr>
          <p:cNvPr id="43" name="Text 41"/>
          <p:cNvSpPr/>
          <p:nvPr/>
        </p:nvSpPr>
        <p:spPr>
          <a:xfrm>
            <a:off x="8366760" y="4279392"/>
            <a:ext cx="3108960" cy="640080"/>
          </a:xfrm>
          <a:prstGeom prst="rect">
            <a:avLst/>
          </a:prstGeom>
          <a:noFill/>
          <a:ln/>
        </p:spPr>
        <p:txBody>
          <a:bodyPr wrap="square" rtlCol="0" anchor="ctr"/>
          <a:lstStyle/>
          <a:p>
            <a:pPr indent="0" marL="0">
              <a:lnSpc>
                <a:spcPts val="1400"/>
              </a:lnSpc>
              <a:buNone/>
            </a:pPr>
            <a:r>
              <a:rPr lang="en-US" sz="1000" i="1" dirty="0">
                <a:solidFill>
                  <a:srgbClr val="9FD3D0"/>
                </a:solidFill>
                <a:latin typeface="Calibri" pitchFamily="34" charset="0"/>
                <a:ea typeface="Calibri" pitchFamily="34" charset="-122"/>
                <a:cs typeface="Calibri" pitchFamily="34" charset="-120"/>
              </a:rPr>
              <a:t>Result: Paper is ELIGIBLE for MAT399. Honestly reported as Q2 (not Q1).</a:t>
            </a:r>
            <a:endParaRPr lang="en-US" sz="1000" dirty="0"/>
          </a:p>
        </p:txBody>
      </p:sp>
      <p:sp>
        <p:nvSpPr>
          <p:cNvPr id="44" name="Text 42"/>
          <p:cNvSpPr/>
          <p:nvPr/>
        </p:nvSpPr>
        <p:spPr>
          <a:xfrm>
            <a:off x="8366760" y="4983480"/>
            <a:ext cx="3108960" cy="502920"/>
          </a:xfrm>
          <a:prstGeom prst="rect">
            <a:avLst/>
          </a:prstGeom>
          <a:noFill/>
          <a:ln/>
        </p:spPr>
        <p:txBody>
          <a:bodyPr wrap="square" rtlCol="0" anchor="ctr"/>
          <a:lstStyle/>
          <a:p>
            <a:pPr indent="0" marL="0">
              <a:lnSpc>
                <a:spcPts val="1200"/>
              </a:lnSpc>
              <a:buNone/>
            </a:pPr>
            <a:r>
              <a:rPr lang="en-US" sz="900" i="1" dirty="0">
                <a:solidFill>
                  <a:srgbClr val="6FA8AE"/>
                </a:solidFill>
                <a:latin typeface="Calibri" pitchFamily="34" charset="0"/>
                <a:ea typeface="Calibri" pitchFamily="34" charset="-122"/>
                <a:cs typeface="Calibri" pitchFamily="34" charset="-120"/>
              </a:rPr>
              <a:t>Verified via: SCImago Journal Rank, journal indexing pages.</a:t>
            </a:r>
            <a:endParaRPr lang="en-US" sz="900" dirty="0"/>
          </a:p>
        </p:txBody>
      </p:sp>
      <p:sp>
        <p:nvSpPr>
          <p:cNvPr id="45" name="Text 43"/>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46" name="Text 44"/>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4</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Motivation</a:t>
            </a:r>
            <a:endParaRPr lang="en-US" sz="3000" dirty="0"/>
          </a:p>
        </p:txBody>
      </p:sp>
      <p:sp>
        <p:nvSpPr>
          <p:cNvPr id="4" name="Text 2"/>
          <p:cNvSpPr/>
          <p:nvPr/>
        </p:nvSpPr>
        <p:spPr>
          <a:xfrm>
            <a:off x="548640" y="1417320"/>
            <a:ext cx="6858000" cy="4754880"/>
          </a:xfrm>
          <a:prstGeom prst="rect">
            <a:avLst/>
          </a:prstGeom>
          <a:noFill/>
          <a:ln/>
        </p:spPr>
        <p:txBody>
          <a:bodyPr wrap="square" lIns="0" tIns="0" rIns="0" bIns="0" rtlCol="0" anchor="t"/>
          <a:lstStyle/>
          <a:p>
            <a:pPr marL="177800" indent="-177800">
              <a:spcAft>
                <a:spcPts val="1400"/>
              </a:spcAft>
              <a:buSzPct val="100000"/>
              <a:buChar char="•"/>
            </a:pPr>
            <a:r>
              <a:rPr lang="en-US" sz="1450" dirty="0">
                <a:solidFill>
                  <a:srgbClr val="16323A"/>
                </a:solidFill>
                <a:latin typeface="Calibri" pitchFamily="34" charset="0"/>
                <a:ea typeface="Calibri" pitchFamily="34" charset="-122"/>
                <a:cs typeface="Calibri" pitchFamily="34" charset="-120"/>
              </a:rPr>
              <a:t>Skin cancer is common — over 5 million new U.S. cases diagnosed yearly; Australia has an even higher per-capita rate.</a:t>
            </a:r>
            <a:endParaRPr lang="en-US" sz="1450" dirty="0"/>
          </a:p>
          <a:p>
            <a:pPr marL="177800" indent="-177800">
              <a:spcAft>
                <a:spcPts val="1400"/>
              </a:spcAft>
              <a:buSzPct val="100000"/>
              <a:buChar char="•"/>
            </a:pPr>
            <a:r>
              <a:rPr lang="en-US" sz="1450" dirty="0">
                <a:solidFill>
                  <a:srgbClr val="16323A"/>
                </a:solidFill>
                <a:latin typeface="Calibri" pitchFamily="34" charset="0"/>
                <a:ea typeface="Calibri" pitchFamily="34" charset="-122"/>
                <a:cs typeface="Calibri" pitchFamily="34" charset="-120"/>
              </a:rPr>
              <a:t>Melanoma is the most dangerous type: 190,000+ new U.S. cases in 2019, causing most skin-cancer deaths.</a:t>
            </a:r>
            <a:endParaRPr lang="en-US" sz="1450" dirty="0"/>
          </a:p>
          <a:p>
            <a:pPr marL="177800" indent="-177800">
              <a:spcAft>
                <a:spcPts val="1400"/>
              </a:spcAft>
              <a:buSzPct val="100000"/>
              <a:buChar char="•"/>
            </a:pPr>
            <a:r>
              <a:rPr lang="en-US" sz="1450" dirty="0">
                <a:solidFill>
                  <a:srgbClr val="16323A"/>
                </a:solidFill>
                <a:latin typeface="Calibri" pitchFamily="34" charset="0"/>
                <a:ea typeface="Calibri" pitchFamily="34" charset="-122"/>
                <a:cs typeface="Calibri" pitchFamily="34" charset="-120"/>
              </a:rPr>
              <a:t>Early detection matters: survival can be as high as 97% if caught early, but poor if diagnosed late.</a:t>
            </a:r>
            <a:endParaRPr lang="en-US" sz="1450" dirty="0"/>
          </a:p>
          <a:p>
            <a:pPr marL="177800" indent="-177800">
              <a:spcAft>
                <a:spcPts val="1400"/>
              </a:spcAft>
              <a:buSzPct val="100000"/>
              <a:buChar char="•"/>
            </a:pPr>
            <a:r>
              <a:rPr lang="en-US" sz="1450" dirty="0">
                <a:solidFill>
                  <a:srgbClr val="16323A"/>
                </a:solidFill>
                <a:latin typeface="Calibri" pitchFamily="34" charset="0"/>
                <a:ea typeface="Calibri" pitchFamily="34" charset="-122"/>
                <a:cs typeface="Calibri" pitchFamily="34" charset="-120"/>
              </a:rPr>
              <a:t>Diagnosis relies on dermoscopy, but reliable results need extensive clinical experience — human diagnosis can be unreliable.</a:t>
            </a:r>
            <a:endParaRPr lang="en-US" sz="1450" dirty="0"/>
          </a:p>
          <a:p>
            <a:pPr marL="177800" indent="-177800">
              <a:spcAft>
                <a:spcPts val="1400"/>
              </a:spcAft>
              <a:buSzPct val="100000"/>
              <a:buChar char="•"/>
            </a:pPr>
            <a:r>
              <a:rPr lang="en-US" sz="1450" dirty="0">
                <a:solidFill>
                  <a:srgbClr val="16323A"/>
                </a:solidFill>
                <a:latin typeface="Calibri" pitchFamily="34" charset="0"/>
                <a:ea typeface="Calibri" pitchFamily="34" charset="-122"/>
                <a:cs typeface="Calibri" pitchFamily="34" charset="-120"/>
              </a:rPr>
              <a:t>Deep learning has already matched or beaten dermatologists in some studies, but accuracy is still not ideal for visually similar, malignant lesion types.</a:t>
            </a:r>
            <a:endParaRPr lang="en-US" sz="1450" dirty="0"/>
          </a:p>
          <a:p>
            <a:pPr marL="177800" indent="-177800">
              <a:spcAft>
                <a:spcPts val="1400"/>
              </a:spcAft>
              <a:buSzPct val="100000"/>
              <a:buChar char="•"/>
            </a:pPr>
            <a:r>
              <a:rPr lang="en-US" sz="1450" dirty="0">
                <a:solidFill>
                  <a:srgbClr val="16323A"/>
                </a:solidFill>
                <a:latin typeface="Calibri" pitchFamily="34" charset="0"/>
                <a:ea typeface="Calibri" pitchFamily="34" charset="-122"/>
                <a:cs typeface="Calibri" pitchFamily="34" charset="-120"/>
              </a:rPr>
              <a:t>Vision Transformers offer an attention-based alternative to CNNs — worth exploring for this problem.</a:t>
            </a:r>
            <a:endParaRPr lang="en-US" sz="1450" dirty="0"/>
          </a:p>
        </p:txBody>
      </p:sp>
      <p:sp>
        <p:nvSpPr>
          <p:cNvPr id="5" name="Shape 3"/>
          <p:cNvSpPr/>
          <p:nvPr/>
        </p:nvSpPr>
        <p:spPr>
          <a:xfrm>
            <a:off x="7772400" y="1508760"/>
            <a:ext cx="3840480" cy="1234440"/>
          </a:xfrm>
          <a:prstGeom prst="roundRect">
            <a:avLst>
              <a:gd name="adj" fmla="val 7407"/>
            </a:avLst>
          </a:prstGeom>
          <a:solidFill>
            <a:srgbClr val="028090"/>
          </a:solidFill>
          <a:ln/>
        </p:spPr>
      </p:sp>
      <p:sp>
        <p:nvSpPr>
          <p:cNvPr id="6" name="Text 4"/>
          <p:cNvSpPr/>
          <p:nvPr/>
        </p:nvSpPr>
        <p:spPr>
          <a:xfrm>
            <a:off x="7955280" y="1618488"/>
            <a:ext cx="347472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5M+</a:t>
            </a:r>
            <a:endParaRPr lang="en-US" sz="3200" dirty="0"/>
          </a:p>
        </p:txBody>
      </p:sp>
      <p:sp>
        <p:nvSpPr>
          <p:cNvPr id="7" name="Text 5"/>
          <p:cNvSpPr/>
          <p:nvPr/>
        </p:nvSpPr>
        <p:spPr>
          <a:xfrm>
            <a:off x="7955280" y="2286000"/>
            <a:ext cx="3474720" cy="365760"/>
          </a:xfrm>
          <a:prstGeom prst="rect">
            <a:avLst/>
          </a:prstGeom>
          <a:noFill/>
          <a:ln/>
        </p:spPr>
        <p:txBody>
          <a:bodyPr wrap="square" rtlCol="0" anchor="ctr"/>
          <a:lstStyle/>
          <a:p>
            <a:pPr indent="0" marL="0">
              <a:buNone/>
            </a:pPr>
            <a:r>
              <a:rPr lang="en-US" sz="1150" dirty="0">
                <a:solidFill>
                  <a:srgbClr val="E5F6F4"/>
                </a:solidFill>
                <a:latin typeface="Calibri" pitchFamily="34" charset="0"/>
                <a:ea typeface="Calibri" pitchFamily="34" charset="-122"/>
                <a:cs typeface="Calibri" pitchFamily="34" charset="-120"/>
              </a:rPr>
              <a:t>new U.S. cases / year</a:t>
            </a:r>
            <a:endParaRPr lang="en-US" sz="1150" dirty="0"/>
          </a:p>
        </p:txBody>
      </p:sp>
      <p:sp>
        <p:nvSpPr>
          <p:cNvPr id="8" name="Shape 6"/>
          <p:cNvSpPr/>
          <p:nvPr/>
        </p:nvSpPr>
        <p:spPr>
          <a:xfrm>
            <a:off x="7772400" y="2971800"/>
            <a:ext cx="3840480" cy="1234440"/>
          </a:xfrm>
          <a:prstGeom prst="roundRect">
            <a:avLst>
              <a:gd name="adj" fmla="val 7407"/>
            </a:avLst>
          </a:prstGeom>
          <a:solidFill>
            <a:srgbClr val="028090"/>
          </a:solidFill>
          <a:ln/>
        </p:spPr>
      </p:sp>
      <p:sp>
        <p:nvSpPr>
          <p:cNvPr id="9" name="Text 7"/>
          <p:cNvSpPr/>
          <p:nvPr/>
        </p:nvSpPr>
        <p:spPr>
          <a:xfrm>
            <a:off x="7955280" y="3081528"/>
            <a:ext cx="347472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97%</a:t>
            </a:r>
            <a:endParaRPr lang="en-US" sz="3200" dirty="0"/>
          </a:p>
        </p:txBody>
      </p:sp>
      <p:sp>
        <p:nvSpPr>
          <p:cNvPr id="10" name="Text 8"/>
          <p:cNvSpPr/>
          <p:nvPr/>
        </p:nvSpPr>
        <p:spPr>
          <a:xfrm>
            <a:off x="7955280" y="3749040"/>
            <a:ext cx="3474720" cy="365760"/>
          </a:xfrm>
          <a:prstGeom prst="rect">
            <a:avLst/>
          </a:prstGeom>
          <a:noFill/>
          <a:ln/>
        </p:spPr>
        <p:txBody>
          <a:bodyPr wrap="square" rtlCol="0" anchor="ctr"/>
          <a:lstStyle/>
          <a:p>
            <a:pPr indent="0" marL="0">
              <a:buNone/>
            </a:pPr>
            <a:r>
              <a:rPr lang="en-US" sz="1150" dirty="0">
                <a:solidFill>
                  <a:srgbClr val="E5F6F4"/>
                </a:solidFill>
                <a:latin typeface="Calibri" pitchFamily="34" charset="0"/>
                <a:ea typeface="Calibri" pitchFamily="34" charset="-122"/>
                <a:cs typeface="Calibri" pitchFamily="34" charset="-120"/>
              </a:rPr>
              <a:t>survival if caught early</a:t>
            </a:r>
            <a:endParaRPr lang="en-US" sz="1150" dirty="0"/>
          </a:p>
        </p:txBody>
      </p:sp>
      <p:sp>
        <p:nvSpPr>
          <p:cNvPr id="11" name="Shape 9"/>
          <p:cNvSpPr/>
          <p:nvPr/>
        </p:nvSpPr>
        <p:spPr>
          <a:xfrm>
            <a:off x="7772400" y="4434840"/>
            <a:ext cx="3840480" cy="1234440"/>
          </a:xfrm>
          <a:prstGeom prst="roundRect">
            <a:avLst>
              <a:gd name="adj" fmla="val 7407"/>
            </a:avLst>
          </a:prstGeom>
          <a:solidFill>
            <a:srgbClr val="028090"/>
          </a:solidFill>
          <a:ln/>
        </p:spPr>
      </p:sp>
      <p:sp>
        <p:nvSpPr>
          <p:cNvPr id="12" name="Text 10"/>
          <p:cNvSpPr/>
          <p:nvPr/>
        </p:nvSpPr>
        <p:spPr>
          <a:xfrm>
            <a:off x="7955280" y="4544568"/>
            <a:ext cx="347472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190K+</a:t>
            </a:r>
            <a:endParaRPr lang="en-US" sz="3200" dirty="0"/>
          </a:p>
        </p:txBody>
      </p:sp>
      <p:sp>
        <p:nvSpPr>
          <p:cNvPr id="13" name="Text 11"/>
          <p:cNvSpPr/>
          <p:nvPr/>
        </p:nvSpPr>
        <p:spPr>
          <a:xfrm>
            <a:off x="7955280" y="5212080"/>
            <a:ext cx="3474720" cy="365760"/>
          </a:xfrm>
          <a:prstGeom prst="rect">
            <a:avLst/>
          </a:prstGeom>
          <a:noFill/>
          <a:ln/>
        </p:spPr>
        <p:txBody>
          <a:bodyPr wrap="square" rtlCol="0" anchor="ctr"/>
          <a:lstStyle/>
          <a:p>
            <a:pPr indent="0" marL="0">
              <a:buNone/>
            </a:pPr>
            <a:r>
              <a:rPr lang="en-US" sz="1150" dirty="0">
                <a:solidFill>
                  <a:srgbClr val="E5F6F4"/>
                </a:solidFill>
                <a:latin typeface="Calibri" pitchFamily="34" charset="0"/>
                <a:ea typeface="Calibri" pitchFamily="34" charset="-122"/>
                <a:cs typeface="Calibri" pitchFamily="34" charset="-120"/>
              </a:rPr>
              <a:t>melanoma cases (US, 2019)</a:t>
            </a:r>
            <a:endParaRPr lang="en-US" sz="1150" dirty="0"/>
          </a:p>
        </p:txBody>
      </p:sp>
      <p:sp>
        <p:nvSpPr>
          <p:cNvPr id="14" name="Text 12"/>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15" name="Text 13"/>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5</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548640" y="1051560"/>
            <a:ext cx="10972800" cy="365760"/>
          </a:xfrm>
          <a:prstGeom prst="rect">
            <a:avLst/>
          </a:prstGeom>
          <a:noFill/>
          <a:ln/>
        </p:spPr>
        <p:txBody>
          <a:bodyPr wrap="square" rtlCol="0" anchor="ctr"/>
          <a:lstStyle/>
          <a:p>
            <a:pPr indent="0" marL="0">
              <a:buNone/>
            </a:pPr>
            <a:r>
              <a:rPr lang="en-US" sz="1500" i="1" dirty="0">
                <a:solidFill>
                  <a:srgbClr val="5C7A80"/>
                </a:solidFill>
                <a:latin typeface="Calibri" pitchFamily="34" charset="0"/>
                <a:ea typeface="Calibri" pitchFamily="34" charset="-122"/>
                <a:cs typeface="Calibri" pitchFamily="34" charset="-120"/>
              </a:rPr>
              <a:t>What problem is this paper trying to solve?</a:t>
            </a:r>
            <a:endParaRPr lang="en-US" sz="1500" dirty="0"/>
          </a:p>
        </p:txBody>
      </p:sp>
      <p:sp>
        <p:nvSpPr>
          <p:cNvPr id="5" name="Shape 3"/>
          <p:cNvSpPr/>
          <p:nvPr/>
        </p:nvSpPr>
        <p:spPr>
          <a:xfrm>
            <a:off x="3566160" y="1554480"/>
            <a:ext cx="5029200" cy="566928"/>
          </a:xfrm>
          <a:prstGeom prst="roundRect">
            <a:avLst>
              <a:gd name="adj" fmla="val 12903"/>
            </a:avLst>
          </a:prstGeom>
          <a:solidFill>
            <a:srgbClr val="028090"/>
          </a:solidFill>
          <a:ln/>
          <a:effectLst>
            <a:outerShdw sx="100000" sy="100000" kx="0" ky="0" algn="bl" rotWithShape="0" blurRad="50800" dist="25400" dir="5400000">
              <a:srgbClr val="000000">
                <a:alpha val="18000"/>
              </a:srgbClr>
            </a:outerShdw>
          </a:effectLst>
        </p:spPr>
      </p:sp>
      <p:sp>
        <p:nvSpPr>
          <p:cNvPr id="6" name="Text 4"/>
          <p:cNvSpPr/>
          <p:nvPr/>
        </p:nvSpPr>
        <p:spPr>
          <a:xfrm>
            <a:off x="3657600" y="1554480"/>
            <a:ext cx="4846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Skin Lesion Images (dermoscopy)</a:t>
            </a:r>
            <a:endParaRPr lang="en-US" sz="1200" dirty="0"/>
          </a:p>
        </p:txBody>
      </p:sp>
      <p:sp>
        <p:nvSpPr>
          <p:cNvPr id="7" name="Shape 5"/>
          <p:cNvSpPr/>
          <p:nvPr/>
        </p:nvSpPr>
        <p:spPr>
          <a:xfrm>
            <a:off x="5998464" y="2139696"/>
            <a:ext cx="164592" cy="109728"/>
          </a:xfrm>
          <a:prstGeom prst="downArrow">
            <a:avLst/>
          </a:prstGeom>
          <a:solidFill>
            <a:srgbClr val="5C7A80"/>
          </a:solidFill>
          <a:ln/>
        </p:spPr>
      </p:sp>
      <p:sp>
        <p:nvSpPr>
          <p:cNvPr id="8" name="Shape 6"/>
          <p:cNvSpPr/>
          <p:nvPr/>
        </p:nvSpPr>
        <p:spPr>
          <a:xfrm>
            <a:off x="3566160" y="2267712"/>
            <a:ext cx="5029200" cy="566928"/>
          </a:xfrm>
          <a:prstGeom prst="roundRect">
            <a:avLst>
              <a:gd name="adj" fmla="val 12903"/>
            </a:avLst>
          </a:prstGeom>
          <a:solidFill>
            <a:srgbClr val="00A896"/>
          </a:solidFill>
          <a:ln/>
          <a:effectLst>
            <a:outerShdw sx="100000" sy="100000" kx="0" ky="0" algn="bl" rotWithShape="0" blurRad="50800" dist="25400" dir="5400000">
              <a:srgbClr val="000000">
                <a:alpha val="18000"/>
              </a:srgbClr>
            </a:outerShdw>
          </a:effectLst>
        </p:spPr>
      </p:sp>
      <p:sp>
        <p:nvSpPr>
          <p:cNvPr id="9" name="Text 7"/>
          <p:cNvSpPr/>
          <p:nvPr/>
        </p:nvSpPr>
        <p:spPr>
          <a:xfrm>
            <a:off x="3657600" y="2267712"/>
            <a:ext cx="4846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Visual Similarity Across Types  +  Class Imbalance</a:t>
            </a:r>
            <a:endParaRPr lang="en-US" sz="1200" dirty="0"/>
          </a:p>
        </p:txBody>
      </p:sp>
      <p:sp>
        <p:nvSpPr>
          <p:cNvPr id="10" name="Shape 8"/>
          <p:cNvSpPr/>
          <p:nvPr/>
        </p:nvSpPr>
        <p:spPr>
          <a:xfrm>
            <a:off x="5998464" y="2852928"/>
            <a:ext cx="164592" cy="109728"/>
          </a:xfrm>
          <a:prstGeom prst="downArrow">
            <a:avLst/>
          </a:prstGeom>
          <a:solidFill>
            <a:srgbClr val="5C7A80"/>
          </a:solidFill>
          <a:ln/>
        </p:spPr>
      </p:sp>
      <p:sp>
        <p:nvSpPr>
          <p:cNvPr id="11" name="Shape 9"/>
          <p:cNvSpPr/>
          <p:nvPr/>
        </p:nvSpPr>
        <p:spPr>
          <a:xfrm>
            <a:off x="3566160" y="2980944"/>
            <a:ext cx="5029200" cy="566928"/>
          </a:xfrm>
          <a:prstGeom prst="roundRect">
            <a:avLst>
              <a:gd name="adj" fmla="val 12903"/>
            </a:avLst>
          </a:prstGeom>
          <a:solidFill>
            <a:srgbClr val="028090"/>
          </a:solidFill>
          <a:ln/>
          <a:effectLst>
            <a:outerShdw sx="100000" sy="100000" kx="0" ky="0" algn="bl" rotWithShape="0" blurRad="50800" dist="25400" dir="5400000">
              <a:srgbClr val="000000">
                <a:alpha val="18000"/>
              </a:srgbClr>
            </a:outerShdw>
          </a:effectLst>
        </p:spPr>
      </p:sp>
      <p:sp>
        <p:nvSpPr>
          <p:cNvPr id="12" name="Text 10"/>
          <p:cNvSpPr/>
          <p:nvPr/>
        </p:nvSpPr>
        <p:spPr>
          <a:xfrm>
            <a:off x="3657600" y="2980944"/>
            <a:ext cx="4846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Difficulty in Accurate Classification</a:t>
            </a:r>
            <a:endParaRPr lang="en-US" sz="1200" dirty="0"/>
          </a:p>
        </p:txBody>
      </p:sp>
      <p:sp>
        <p:nvSpPr>
          <p:cNvPr id="13" name="Shape 11"/>
          <p:cNvSpPr/>
          <p:nvPr/>
        </p:nvSpPr>
        <p:spPr>
          <a:xfrm>
            <a:off x="5998464" y="3566160"/>
            <a:ext cx="164592" cy="109728"/>
          </a:xfrm>
          <a:prstGeom prst="downArrow">
            <a:avLst/>
          </a:prstGeom>
          <a:solidFill>
            <a:srgbClr val="5C7A80"/>
          </a:solidFill>
          <a:ln/>
        </p:spPr>
      </p:sp>
      <p:sp>
        <p:nvSpPr>
          <p:cNvPr id="14" name="Shape 12"/>
          <p:cNvSpPr/>
          <p:nvPr/>
        </p:nvSpPr>
        <p:spPr>
          <a:xfrm>
            <a:off x="3566160" y="3694176"/>
            <a:ext cx="5029200" cy="566928"/>
          </a:xfrm>
          <a:prstGeom prst="roundRect">
            <a:avLst>
              <a:gd name="adj" fmla="val 12903"/>
            </a:avLst>
          </a:prstGeom>
          <a:solidFill>
            <a:srgbClr val="00A896"/>
          </a:solidFill>
          <a:ln/>
          <a:effectLst>
            <a:outerShdw sx="100000" sy="100000" kx="0" ky="0" algn="bl" rotWithShape="0" blurRad="50800" dist="25400" dir="5400000">
              <a:srgbClr val="000000">
                <a:alpha val="18000"/>
              </a:srgbClr>
            </a:outerShdw>
          </a:effectLst>
        </p:spPr>
      </p:sp>
      <p:sp>
        <p:nvSpPr>
          <p:cNvPr id="15" name="Text 13"/>
          <p:cNvSpPr/>
          <p:nvPr/>
        </p:nvSpPr>
        <p:spPr>
          <a:xfrm>
            <a:off x="3657600" y="3694176"/>
            <a:ext cx="4846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Limitations of Existing CNN-based Models</a:t>
            </a:r>
            <a:endParaRPr lang="en-US" sz="1200" dirty="0"/>
          </a:p>
        </p:txBody>
      </p:sp>
      <p:sp>
        <p:nvSpPr>
          <p:cNvPr id="16" name="Shape 14"/>
          <p:cNvSpPr/>
          <p:nvPr/>
        </p:nvSpPr>
        <p:spPr>
          <a:xfrm>
            <a:off x="5998464" y="4279392"/>
            <a:ext cx="164592" cy="109728"/>
          </a:xfrm>
          <a:prstGeom prst="downArrow">
            <a:avLst/>
          </a:prstGeom>
          <a:solidFill>
            <a:srgbClr val="5C7A80"/>
          </a:solidFill>
          <a:ln/>
        </p:spPr>
      </p:sp>
      <p:sp>
        <p:nvSpPr>
          <p:cNvPr id="17" name="Shape 15"/>
          <p:cNvSpPr/>
          <p:nvPr/>
        </p:nvSpPr>
        <p:spPr>
          <a:xfrm>
            <a:off x="3566160" y="4407408"/>
            <a:ext cx="5029200" cy="566928"/>
          </a:xfrm>
          <a:prstGeom prst="roundRect">
            <a:avLst>
              <a:gd name="adj" fmla="val 12903"/>
            </a:avLst>
          </a:prstGeom>
          <a:solidFill>
            <a:srgbClr val="028090"/>
          </a:solidFill>
          <a:ln/>
          <a:effectLst>
            <a:outerShdw sx="100000" sy="100000" kx="0" ky="0" algn="bl" rotWithShape="0" blurRad="50800" dist="25400" dir="5400000">
              <a:srgbClr val="000000">
                <a:alpha val="18000"/>
              </a:srgbClr>
            </a:outerShdw>
          </a:effectLst>
        </p:spPr>
      </p:sp>
      <p:sp>
        <p:nvSpPr>
          <p:cNvPr id="18" name="Text 16"/>
          <p:cNvSpPr/>
          <p:nvPr/>
        </p:nvSpPr>
        <p:spPr>
          <a:xfrm>
            <a:off x="3657600" y="4407408"/>
            <a:ext cx="4846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Need for an Improved Deep Learning Approach</a:t>
            </a:r>
            <a:endParaRPr lang="en-US" sz="1200" dirty="0"/>
          </a:p>
        </p:txBody>
      </p:sp>
      <p:sp>
        <p:nvSpPr>
          <p:cNvPr id="19" name="Shape 17"/>
          <p:cNvSpPr/>
          <p:nvPr/>
        </p:nvSpPr>
        <p:spPr>
          <a:xfrm>
            <a:off x="5998464" y="4992624"/>
            <a:ext cx="164592" cy="109728"/>
          </a:xfrm>
          <a:prstGeom prst="downArrow">
            <a:avLst/>
          </a:prstGeom>
          <a:solidFill>
            <a:srgbClr val="5C7A80"/>
          </a:solidFill>
          <a:ln/>
        </p:spPr>
      </p:sp>
      <p:sp>
        <p:nvSpPr>
          <p:cNvPr id="20" name="Shape 18"/>
          <p:cNvSpPr/>
          <p:nvPr/>
        </p:nvSpPr>
        <p:spPr>
          <a:xfrm>
            <a:off x="3566160" y="5120640"/>
            <a:ext cx="5029200" cy="566928"/>
          </a:xfrm>
          <a:prstGeom prst="roundRect">
            <a:avLst>
              <a:gd name="adj" fmla="val 12903"/>
            </a:avLst>
          </a:prstGeom>
          <a:solidFill>
            <a:srgbClr val="F4A261"/>
          </a:solidFill>
          <a:ln/>
          <a:effectLst>
            <a:outerShdw sx="100000" sy="100000" kx="0" ky="0" algn="bl" rotWithShape="0" blurRad="50800" dist="25400" dir="5400000">
              <a:srgbClr val="000000">
                <a:alpha val="18000"/>
              </a:srgbClr>
            </a:outerShdw>
          </a:effectLst>
        </p:spPr>
      </p:sp>
      <p:sp>
        <p:nvSpPr>
          <p:cNvPr id="21" name="Text 19"/>
          <p:cNvSpPr/>
          <p:nvPr/>
        </p:nvSpPr>
        <p:spPr>
          <a:xfrm>
            <a:off x="3657600" y="5120640"/>
            <a:ext cx="4846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Vision Transformer–Based Classification (this paper)</a:t>
            </a:r>
            <a:endParaRPr lang="en-US" sz="1200" dirty="0"/>
          </a:p>
        </p:txBody>
      </p:sp>
      <p:sp>
        <p:nvSpPr>
          <p:cNvPr id="22" name="Text 20"/>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23" name="Text 21"/>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6</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2800" b="1" dirty="0">
                <a:solidFill>
                  <a:srgbClr val="16323A"/>
                </a:solidFill>
                <a:latin typeface="Cambria" pitchFamily="34" charset="0"/>
                <a:ea typeface="Cambria" pitchFamily="34" charset="-122"/>
                <a:cs typeface="Cambria" pitchFamily="34" charset="-120"/>
              </a:rPr>
              <a:t>Literature Background</a:t>
            </a:r>
            <a:endParaRPr lang="en-US" sz="2800" dirty="0"/>
          </a:p>
        </p:txBody>
      </p:sp>
      <p:sp>
        <p:nvSpPr>
          <p:cNvPr id="4" name="Shape 2"/>
          <p:cNvSpPr/>
          <p:nvPr/>
        </p:nvSpPr>
        <p:spPr>
          <a:xfrm>
            <a:off x="548640" y="1463040"/>
            <a:ext cx="11091672" cy="365760"/>
          </a:xfrm>
          <a:prstGeom prst="rect">
            <a:avLst/>
          </a:prstGeom>
          <a:solidFill>
            <a:srgbClr val="028090"/>
          </a:solidFill>
          <a:ln/>
        </p:spPr>
      </p:sp>
      <p:sp>
        <p:nvSpPr>
          <p:cNvPr id="5" name="Text 3"/>
          <p:cNvSpPr/>
          <p:nvPr/>
        </p:nvSpPr>
        <p:spPr>
          <a:xfrm>
            <a:off x="640080" y="1463040"/>
            <a:ext cx="333756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p>
        </p:txBody>
      </p:sp>
      <p:sp>
        <p:nvSpPr>
          <p:cNvPr id="6" name="Text 4"/>
          <p:cNvSpPr/>
          <p:nvPr/>
        </p:nvSpPr>
        <p:spPr>
          <a:xfrm>
            <a:off x="4251960" y="1463040"/>
            <a:ext cx="384048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Main Idea</a:t>
            </a:r>
            <a:endParaRPr lang="en-US" sz="1150" dirty="0"/>
          </a:p>
        </p:txBody>
      </p:sp>
      <p:sp>
        <p:nvSpPr>
          <p:cNvPr id="7" name="Text 5"/>
          <p:cNvSpPr/>
          <p:nvPr/>
        </p:nvSpPr>
        <p:spPr>
          <a:xfrm>
            <a:off x="8366760" y="1463040"/>
            <a:ext cx="3182112"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p>
        </p:txBody>
      </p:sp>
      <p:sp>
        <p:nvSpPr>
          <p:cNvPr id="8" name="Shape 6"/>
          <p:cNvSpPr/>
          <p:nvPr/>
        </p:nvSpPr>
        <p:spPr>
          <a:xfrm>
            <a:off x="548640" y="1828800"/>
            <a:ext cx="11091672" cy="566928"/>
          </a:xfrm>
          <a:prstGeom prst="rect">
            <a:avLst/>
          </a:prstGeom>
          <a:solidFill>
            <a:srgbClr val="F7FAFA"/>
          </a:solidFill>
          <a:ln/>
        </p:spPr>
      </p:sp>
      <p:sp>
        <p:nvSpPr>
          <p:cNvPr id="9" name="Text 7"/>
          <p:cNvSpPr/>
          <p:nvPr/>
        </p:nvSpPr>
        <p:spPr>
          <a:xfrm>
            <a:off x="640080" y="1847088"/>
            <a:ext cx="333756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Traditional ML (ABCD rule, SVM, KNN)</a:t>
            </a:r>
            <a:endParaRPr lang="en-US" sz="970" dirty="0"/>
          </a:p>
        </p:txBody>
      </p:sp>
      <p:sp>
        <p:nvSpPr>
          <p:cNvPr id="10" name="Text 8"/>
          <p:cNvSpPr/>
          <p:nvPr/>
        </p:nvSpPr>
        <p:spPr>
          <a:xfrm>
            <a:off x="4251960" y="1847088"/>
            <a:ext cx="384048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Hand-crafted features (asymmetry, border, colour, diameter)</a:t>
            </a:r>
            <a:endParaRPr lang="en-US" sz="970" dirty="0"/>
          </a:p>
        </p:txBody>
      </p:sp>
      <p:sp>
        <p:nvSpPr>
          <p:cNvPr id="11" name="Text 9"/>
          <p:cNvSpPr/>
          <p:nvPr/>
        </p:nvSpPr>
        <p:spPr>
          <a:xfrm>
            <a:off x="8366760" y="1847088"/>
            <a:ext cx="3182112"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Limited accuracy; poor generalisation</a:t>
            </a:r>
            <a:endParaRPr lang="en-US" sz="970" dirty="0"/>
          </a:p>
        </p:txBody>
      </p:sp>
      <p:sp>
        <p:nvSpPr>
          <p:cNvPr id="12" name="Shape 10"/>
          <p:cNvSpPr/>
          <p:nvPr/>
        </p:nvSpPr>
        <p:spPr>
          <a:xfrm>
            <a:off x="548640" y="2395728"/>
            <a:ext cx="11091672" cy="566928"/>
          </a:xfrm>
          <a:prstGeom prst="rect">
            <a:avLst/>
          </a:prstGeom>
          <a:solidFill>
            <a:srgbClr val="FFFFFF"/>
          </a:solidFill>
          <a:ln/>
        </p:spPr>
      </p:sp>
      <p:sp>
        <p:nvSpPr>
          <p:cNvPr id="13" name="Text 11"/>
          <p:cNvSpPr/>
          <p:nvPr/>
        </p:nvSpPr>
        <p:spPr>
          <a:xfrm>
            <a:off x="640080" y="2414016"/>
            <a:ext cx="333756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CNN (Esteva et al., 2017)</a:t>
            </a:r>
            <a:endParaRPr lang="en-US" sz="970" dirty="0"/>
          </a:p>
        </p:txBody>
      </p:sp>
      <p:sp>
        <p:nvSpPr>
          <p:cNvPr id="14" name="Text 12"/>
          <p:cNvSpPr/>
          <p:nvPr/>
        </p:nvSpPr>
        <p:spPr>
          <a:xfrm>
            <a:off x="4251960" y="2414016"/>
            <a:ext cx="384048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Pretrained Inception v3 vs. dermatologists</a:t>
            </a:r>
            <a:endParaRPr lang="en-US" sz="970" dirty="0"/>
          </a:p>
        </p:txBody>
      </p:sp>
      <p:sp>
        <p:nvSpPr>
          <p:cNvPr id="15" name="Text 13"/>
          <p:cNvSpPr/>
          <p:nvPr/>
        </p:nvSpPr>
        <p:spPr>
          <a:xfrm>
            <a:off x="8366760" y="2414016"/>
            <a:ext cx="3182112"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Matched dermatologist-level accuracy, but a single global benchmark</a:t>
            </a:r>
            <a:endParaRPr lang="en-US" sz="970" dirty="0"/>
          </a:p>
        </p:txBody>
      </p:sp>
      <p:sp>
        <p:nvSpPr>
          <p:cNvPr id="16" name="Shape 14"/>
          <p:cNvSpPr/>
          <p:nvPr/>
        </p:nvSpPr>
        <p:spPr>
          <a:xfrm>
            <a:off x="548640" y="2962656"/>
            <a:ext cx="11091672" cy="566928"/>
          </a:xfrm>
          <a:prstGeom prst="rect">
            <a:avLst/>
          </a:prstGeom>
          <a:solidFill>
            <a:srgbClr val="F7FAFA"/>
          </a:solidFill>
          <a:ln/>
        </p:spPr>
      </p:sp>
      <p:sp>
        <p:nvSpPr>
          <p:cNvPr id="17" name="Text 15"/>
          <p:cNvSpPr/>
          <p:nvPr/>
        </p:nvSpPr>
        <p:spPr>
          <a:xfrm>
            <a:off x="640080" y="2980944"/>
            <a:ext cx="333756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CNN ensembles (Nadipineni, 2020)</a:t>
            </a:r>
            <a:endParaRPr lang="en-US" sz="970" dirty="0"/>
          </a:p>
        </p:txBody>
      </p:sp>
      <p:sp>
        <p:nvSpPr>
          <p:cNvPr id="18" name="Text 16"/>
          <p:cNvSpPr/>
          <p:nvPr/>
        </p:nvSpPr>
        <p:spPr>
          <a:xfrm>
            <a:off x="4251960" y="2980944"/>
            <a:ext cx="384048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U-Net segmentation + heavy augmentation + ensembling</a:t>
            </a:r>
            <a:endParaRPr lang="en-US" sz="970" dirty="0"/>
          </a:p>
        </p:txBody>
      </p:sp>
      <p:sp>
        <p:nvSpPr>
          <p:cNvPr id="19" name="Text 17"/>
          <p:cNvSpPr/>
          <p:nvPr/>
        </p:nvSpPr>
        <p:spPr>
          <a:xfrm>
            <a:off x="8366760" y="2980944"/>
            <a:ext cx="3182112"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92.6% accuracy — still room to improve on hard classes</a:t>
            </a:r>
            <a:endParaRPr lang="en-US" sz="970" dirty="0"/>
          </a:p>
        </p:txBody>
      </p:sp>
      <p:sp>
        <p:nvSpPr>
          <p:cNvPr id="20" name="Shape 18"/>
          <p:cNvSpPr/>
          <p:nvPr/>
        </p:nvSpPr>
        <p:spPr>
          <a:xfrm>
            <a:off x="548640" y="3529584"/>
            <a:ext cx="11091672" cy="566928"/>
          </a:xfrm>
          <a:prstGeom prst="rect">
            <a:avLst/>
          </a:prstGeom>
          <a:solidFill>
            <a:srgbClr val="FFFFFF"/>
          </a:solidFill>
          <a:ln/>
        </p:spPr>
      </p:sp>
      <p:sp>
        <p:nvSpPr>
          <p:cNvPr id="21" name="Text 19"/>
          <p:cNvSpPr/>
          <p:nvPr/>
        </p:nvSpPr>
        <p:spPr>
          <a:xfrm>
            <a:off x="640080" y="3547872"/>
            <a:ext cx="333756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CNN + Soft Attention (Datta et al., 2021)</a:t>
            </a:r>
            <a:endParaRPr lang="en-US" sz="970" dirty="0"/>
          </a:p>
        </p:txBody>
      </p:sp>
      <p:sp>
        <p:nvSpPr>
          <p:cNvPr id="22" name="Text 20"/>
          <p:cNvSpPr/>
          <p:nvPr/>
        </p:nvSpPr>
        <p:spPr>
          <a:xfrm>
            <a:off x="4251960" y="3547872"/>
            <a:ext cx="384048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ResNet50 / IRv2 with soft-attention layers</a:t>
            </a:r>
            <a:endParaRPr lang="en-US" sz="970" dirty="0"/>
          </a:p>
        </p:txBody>
      </p:sp>
      <p:sp>
        <p:nvSpPr>
          <p:cNvPr id="23" name="Text 21"/>
          <p:cNvSpPr/>
          <p:nvPr/>
        </p:nvSpPr>
        <p:spPr>
          <a:xfrm>
            <a:off x="8366760" y="3547872"/>
            <a:ext cx="3182112"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93.4% accuracy; better, but still CNN-based</a:t>
            </a:r>
            <a:endParaRPr lang="en-US" sz="970" dirty="0"/>
          </a:p>
        </p:txBody>
      </p:sp>
      <p:sp>
        <p:nvSpPr>
          <p:cNvPr id="24" name="Shape 22"/>
          <p:cNvSpPr/>
          <p:nvPr/>
        </p:nvSpPr>
        <p:spPr>
          <a:xfrm>
            <a:off x="548640" y="4096512"/>
            <a:ext cx="11091672" cy="566928"/>
          </a:xfrm>
          <a:prstGeom prst="rect">
            <a:avLst/>
          </a:prstGeom>
          <a:solidFill>
            <a:srgbClr val="F7FAFA"/>
          </a:solidFill>
          <a:ln/>
        </p:spPr>
      </p:sp>
      <p:sp>
        <p:nvSpPr>
          <p:cNvPr id="25" name="Text 23"/>
          <p:cNvSpPr/>
          <p:nvPr/>
        </p:nvSpPr>
        <p:spPr>
          <a:xfrm>
            <a:off x="640080" y="4114800"/>
            <a:ext cx="333756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Vision Transformer (Dosovitskiy et al., 2020)</a:t>
            </a:r>
            <a:endParaRPr lang="en-US" sz="970" dirty="0"/>
          </a:p>
        </p:txBody>
      </p:sp>
      <p:sp>
        <p:nvSpPr>
          <p:cNvPr id="26" name="Text 24"/>
          <p:cNvSpPr/>
          <p:nvPr/>
        </p:nvSpPr>
        <p:spPr>
          <a:xfrm>
            <a:off x="4251960" y="4114800"/>
            <a:ext cx="384048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Patch-based attention model from NLP transformers</a:t>
            </a:r>
            <a:endParaRPr lang="en-US" sz="970" dirty="0"/>
          </a:p>
        </p:txBody>
      </p:sp>
      <p:sp>
        <p:nvSpPr>
          <p:cNvPr id="27" name="Text 25"/>
          <p:cNvSpPr/>
          <p:nvPr/>
        </p:nvSpPr>
        <p:spPr>
          <a:xfrm>
            <a:off x="8366760" y="4114800"/>
            <a:ext cx="3182112"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Strong on ImageNet, but not yet tuned for skin cancer</a:t>
            </a:r>
            <a:endParaRPr lang="en-US" sz="970" dirty="0"/>
          </a:p>
        </p:txBody>
      </p:sp>
      <p:sp>
        <p:nvSpPr>
          <p:cNvPr id="28" name="Shape 26"/>
          <p:cNvSpPr/>
          <p:nvPr/>
        </p:nvSpPr>
        <p:spPr>
          <a:xfrm>
            <a:off x="548640" y="4663440"/>
            <a:ext cx="11091672" cy="566928"/>
          </a:xfrm>
          <a:prstGeom prst="rect">
            <a:avLst/>
          </a:prstGeom>
          <a:solidFill>
            <a:srgbClr val="FFFFFF"/>
          </a:solidFill>
          <a:ln/>
        </p:spPr>
      </p:sp>
      <p:sp>
        <p:nvSpPr>
          <p:cNvPr id="29" name="Text 27"/>
          <p:cNvSpPr/>
          <p:nvPr/>
        </p:nvSpPr>
        <p:spPr>
          <a:xfrm>
            <a:off x="640080" y="4681728"/>
            <a:ext cx="333756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ViT for skin cancer (2022 works)</a:t>
            </a:r>
            <a:endParaRPr lang="en-US" sz="970" dirty="0"/>
          </a:p>
        </p:txBody>
      </p:sp>
      <p:sp>
        <p:nvSpPr>
          <p:cNvPr id="30" name="Text 28"/>
          <p:cNvSpPr/>
          <p:nvPr/>
        </p:nvSpPr>
        <p:spPr>
          <a:xfrm>
            <a:off x="4251960" y="4681728"/>
            <a:ext cx="3840480"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Embedding / position-encoding tweaks to ViT</a:t>
            </a:r>
            <a:endParaRPr lang="en-US" sz="970" dirty="0"/>
          </a:p>
        </p:txBody>
      </p:sp>
      <p:sp>
        <p:nvSpPr>
          <p:cNvPr id="31" name="Text 29"/>
          <p:cNvSpPr/>
          <p:nvPr/>
        </p:nvSpPr>
        <p:spPr>
          <a:xfrm>
            <a:off x="8366760" y="4681728"/>
            <a:ext cx="3182112" cy="530352"/>
          </a:xfrm>
          <a:prstGeom prst="rect">
            <a:avLst/>
          </a:prstGeom>
          <a:noFill/>
          <a:ln/>
        </p:spPr>
        <p:txBody>
          <a:bodyPr wrap="square" lIns="0" tIns="0" rIns="0" bIns="0" rtlCol="0" anchor="ctr"/>
          <a:lstStyle/>
          <a:p>
            <a:pPr indent="0" marL="0">
              <a:lnSpc>
                <a:spcPts val="1100"/>
              </a:lnSpc>
              <a:buNone/>
            </a:pPr>
            <a:r>
              <a:rPr lang="en-US" sz="970" dirty="0">
                <a:solidFill>
                  <a:srgbClr val="16323A"/>
                </a:solidFill>
                <a:latin typeface="Calibri" pitchFamily="34" charset="0"/>
                <a:ea typeface="Calibri" pitchFamily="34" charset="-122"/>
                <a:cs typeface="Calibri" pitchFamily="34" charset="-120"/>
              </a:rPr>
              <a:t>Promising, but classification-block design under-explored</a:t>
            </a:r>
            <a:endParaRPr lang="en-US" sz="970" dirty="0"/>
          </a:p>
        </p:txBody>
      </p:sp>
      <p:sp>
        <p:nvSpPr>
          <p:cNvPr id="32" name="Text 30"/>
          <p:cNvSpPr/>
          <p:nvPr/>
        </p:nvSpPr>
        <p:spPr>
          <a:xfrm>
            <a:off x="548640" y="5340096"/>
            <a:ext cx="11064240" cy="365760"/>
          </a:xfrm>
          <a:prstGeom prst="rect">
            <a:avLst/>
          </a:prstGeom>
          <a:noFill/>
          <a:ln/>
        </p:spPr>
        <p:txBody>
          <a:bodyPr wrap="square" rtlCol="0" anchor="ctr"/>
          <a:lstStyle/>
          <a:p>
            <a:pPr indent="0" marL="0">
              <a:buNone/>
            </a:pPr>
            <a:r>
              <a:rPr lang="en-US" sz="1100" i="1" dirty="0">
                <a:solidFill>
                  <a:srgbClr val="028090"/>
                </a:solidFill>
                <a:latin typeface="Calibri" pitchFamily="34" charset="0"/>
                <a:ea typeface="Calibri" pitchFamily="34" charset="-122"/>
                <a:cs typeface="Calibri" pitchFamily="34" charset="-120"/>
              </a:rPr>
              <a:t>This paper fits at the far end of this timeline: it adapts the ViT framework for skin cancer classification (it does not invent ViT).</a:t>
            </a:r>
            <a:endParaRPr lang="en-US" sz="1100" dirty="0"/>
          </a:p>
        </p:txBody>
      </p:sp>
      <p:sp>
        <p:nvSpPr>
          <p:cNvPr id="33" name="Text 31"/>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34" name="Text 32"/>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7</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2800" b="1" dirty="0">
                <a:solidFill>
                  <a:srgbClr val="16323A"/>
                </a:solidFill>
                <a:latin typeface="Cambria" pitchFamily="34" charset="0"/>
                <a:ea typeface="Cambria" pitchFamily="34" charset="-122"/>
                <a:cs typeface="Cambria" pitchFamily="34" charset="-120"/>
              </a:rPr>
              <a:t>Research Gap &amp; Contributions</a:t>
            </a:r>
            <a:endParaRPr lang="en-US" sz="2800" dirty="0"/>
          </a:p>
        </p:txBody>
      </p:sp>
      <p:sp>
        <p:nvSpPr>
          <p:cNvPr id="4" name="Shape 2"/>
          <p:cNvSpPr/>
          <p:nvPr/>
        </p:nvSpPr>
        <p:spPr>
          <a:xfrm>
            <a:off x="548640" y="1371600"/>
            <a:ext cx="11091672" cy="777240"/>
          </a:xfrm>
          <a:prstGeom prst="roundRect">
            <a:avLst>
              <a:gd name="adj" fmla="val 9412"/>
            </a:avLst>
          </a:prstGeom>
          <a:solidFill>
            <a:srgbClr val="F7FAFA"/>
          </a:solidFill>
          <a:ln w="12700">
            <a:solidFill>
              <a:srgbClr val="DCEBEA"/>
            </a:solidFill>
            <a:prstDash val="solid"/>
          </a:ln>
        </p:spPr>
      </p:sp>
      <p:sp>
        <p:nvSpPr>
          <p:cNvPr id="5" name="Text 3"/>
          <p:cNvSpPr/>
          <p:nvPr/>
        </p:nvSpPr>
        <p:spPr>
          <a:xfrm>
            <a:off x="731520" y="1444752"/>
            <a:ext cx="1828800" cy="274320"/>
          </a:xfrm>
          <a:prstGeom prst="rect">
            <a:avLst/>
          </a:prstGeom>
          <a:noFill/>
          <a:ln/>
        </p:spPr>
        <p:txBody>
          <a:bodyPr wrap="square"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Research Gap:</a:t>
            </a:r>
            <a:endParaRPr lang="en-US" sz="1150" dirty="0"/>
          </a:p>
        </p:txBody>
      </p:sp>
      <p:sp>
        <p:nvSpPr>
          <p:cNvPr id="6" name="Text 4"/>
          <p:cNvSpPr/>
          <p:nvPr/>
        </p:nvSpPr>
        <p:spPr>
          <a:xfrm>
            <a:off x="731520" y="1700784"/>
            <a:ext cx="10698480" cy="411480"/>
          </a:xfrm>
          <a:prstGeom prst="rect">
            <a:avLst/>
          </a:prstGeom>
          <a:noFill/>
          <a:ln/>
        </p:spPr>
        <p:txBody>
          <a:bodyPr wrap="square" rtlCol="0" anchor="ctr"/>
          <a:lstStyle/>
          <a:p>
            <a:pPr indent="0" marL="0">
              <a:lnSpc>
                <a:spcPts val="1400"/>
              </a:lnSpc>
              <a:buNone/>
            </a:pPr>
            <a:r>
              <a:rPr lang="en-US" sz="1150" dirty="0">
                <a:solidFill>
                  <a:srgbClr val="16323A"/>
                </a:solidFill>
                <a:latin typeface="Calibri" pitchFamily="34" charset="0"/>
                <a:ea typeface="Calibri" pitchFamily="34" charset="-122"/>
                <a:cs typeface="Calibri" pitchFamily="34" charset="-120"/>
              </a:rPr>
              <a:t>Existing CNN-based models (even with soft attention) still fall short on visually similar and imbalanced skin-lesion classes, and early ViT-for-skin-cancer work had not fully explored class rebalancing or classification-block design.</a:t>
            </a:r>
            <a:endParaRPr lang="en-US" sz="1150" dirty="0"/>
          </a:p>
        </p:txBody>
      </p:sp>
      <p:sp>
        <p:nvSpPr>
          <p:cNvPr id="7" name="Shape 5"/>
          <p:cNvSpPr/>
          <p:nvPr/>
        </p:nvSpPr>
        <p:spPr>
          <a:xfrm>
            <a:off x="548640" y="2423160"/>
            <a:ext cx="5394960" cy="1051560"/>
          </a:xfrm>
          <a:prstGeom prst="roundRect">
            <a:avLst>
              <a:gd name="adj" fmla="val 6957"/>
            </a:avLst>
          </a:prstGeom>
          <a:solidFill>
            <a:srgbClr val="FFFFFF"/>
          </a:solidFill>
          <a:ln w="12700">
            <a:solidFill>
              <a:srgbClr val="DCEBEA"/>
            </a:solidFill>
            <a:prstDash val="solid"/>
          </a:ln>
        </p:spPr>
      </p:sp>
      <p:sp>
        <p:nvSpPr>
          <p:cNvPr id="8" name="Shape 6"/>
          <p:cNvSpPr/>
          <p:nvPr/>
        </p:nvSpPr>
        <p:spPr>
          <a:xfrm>
            <a:off x="713232" y="2587752"/>
            <a:ext cx="365760" cy="365760"/>
          </a:xfrm>
          <a:prstGeom prst="ellipse">
            <a:avLst/>
          </a:prstGeom>
          <a:solidFill>
            <a:srgbClr val="028090"/>
          </a:solidFill>
          <a:ln/>
        </p:spPr>
      </p:sp>
      <p:sp>
        <p:nvSpPr>
          <p:cNvPr id="9" name="Text 7"/>
          <p:cNvSpPr/>
          <p:nvPr/>
        </p:nvSpPr>
        <p:spPr>
          <a:xfrm>
            <a:off x="713232" y="258775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8"/>
          <p:cNvSpPr/>
          <p:nvPr/>
        </p:nvSpPr>
        <p:spPr>
          <a:xfrm>
            <a:off x="1207008" y="2514600"/>
            <a:ext cx="4572000" cy="868680"/>
          </a:xfrm>
          <a:prstGeom prst="rect">
            <a:avLst/>
          </a:prstGeom>
          <a:noFill/>
          <a:ln/>
        </p:spPr>
        <p:txBody>
          <a:bodyPr wrap="square" rtlCol="0" anchor="ctr"/>
          <a:lstStyle/>
          <a:p>
            <a:pPr indent="0" marL="0">
              <a:lnSpc>
                <a:spcPts val="1300"/>
              </a:lnSpc>
              <a:buNone/>
            </a:pPr>
            <a:r>
              <a:rPr lang="en-US" sz="1080" dirty="0">
                <a:solidFill>
                  <a:srgbClr val="16323A"/>
                </a:solidFill>
                <a:latin typeface="Calibri" pitchFamily="34" charset="0"/>
                <a:ea typeface="Calibri" pitchFamily="34" charset="-122"/>
                <a:cs typeface="Calibri" pitchFamily="34" charset="-120"/>
              </a:rPr>
              <a:t>Cancer-class rebalancing (over-/under-sampling) block to fix class imbalance</a:t>
            </a:r>
            <a:endParaRPr lang="en-US" sz="1080" dirty="0"/>
          </a:p>
        </p:txBody>
      </p:sp>
      <p:sp>
        <p:nvSpPr>
          <p:cNvPr id="11" name="Shape 9"/>
          <p:cNvSpPr/>
          <p:nvPr/>
        </p:nvSpPr>
        <p:spPr>
          <a:xfrm>
            <a:off x="6245352" y="2423160"/>
            <a:ext cx="5394960" cy="1051560"/>
          </a:xfrm>
          <a:prstGeom prst="roundRect">
            <a:avLst>
              <a:gd name="adj" fmla="val 6957"/>
            </a:avLst>
          </a:prstGeom>
          <a:solidFill>
            <a:srgbClr val="FFFFFF"/>
          </a:solidFill>
          <a:ln w="12700">
            <a:solidFill>
              <a:srgbClr val="DCEBEA"/>
            </a:solidFill>
            <a:prstDash val="solid"/>
          </a:ln>
        </p:spPr>
      </p:sp>
      <p:sp>
        <p:nvSpPr>
          <p:cNvPr id="12" name="Shape 10"/>
          <p:cNvSpPr/>
          <p:nvPr/>
        </p:nvSpPr>
        <p:spPr>
          <a:xfrm>
            <a:off x="6409944" y="2587752"/>
            <a:ext cx="365760" cy="365760"/>
          </a:xfrm>
          <a:prstGeom prst="ellipse">
            <a:avLst/>
          </a:prstGeom>
          <a:solidFill>
            <a:srgbClr val="00A896"/>
          </a:solidFill>
          <a:ln/>
        </p:spPr>
      </p:sp>
      <p:sp>
        <p:nvSpPr>
          <p:cNvPr id="13" name="Text 11"/>
          <p:cNvSpPr/>
          <p:nvPr/>
        </p:nvSpPr>
        <p:spPr>
          <a:xfrm>
            <a:off x="6409944" y="258775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6903720" y="2514600"/>
            <a:ext cx="4572000" cy="868680"/>
          </a:xfrm>
          <a:prstGeom prst="rect">
            <a:avLst/>
          </a:prstGeom>
          <a:noFill/>
          <a:ln/>
        </p:spPr>
        <p:txBody>
          <a:bodyPr wrap="square" rtlCol="0" anchor="ctr"/>
          <a:lstStyle/>
          <a:p>
            <a:pPr indent="0" marL="0">
              <a:lnSpc>
                <a:spcPts val="1300"/>
              </a:lnSpc>
              <a:buNone/>
            </a:pPr>
            <a:r>
              <a:rPr lang="en-US" sz="1080" dirty="0">
                <a:solidFill>
                  <a:srgbClr val="16323A"/>
                </a:solidFill>
                <a:latin typeface="Calibri" pitchFamily="34" charset="0"/>
                <a:ea typeface="Calibri" pitchFamily="34" charset="-122"/>
                <a:cs typeface="Calibri" pitchFamily="34" charset="-120"/>
              </a:rPr>
              <a:t>Image restructuring: patch splitting → tokens → linear + positional embedding</a:t>
            </a:r>
            <a:endParaRPr lang="en-US" sz="1080" dirty="0"/>
          </a:p>
        </p:txBody>
      </p:sp>
      <p:sp>
        <p:nvSpPr>
          <p:cNvPr id="15" name="Shape 13"/>
          <p:cNvSpPr/>
          <p:nvPr/>
        </p:nvSpPr>
        <p:spPr>
          <a:xfrm>
            <a:off x="548640" y="3657600"/>
            <a:ext cx="5394960" cy="1051560"/>
          </a:xfrm>
          <a:prstGeom prst="roundRect">
            <a:avLst>
              <a:gd name="adj" fmla="val 6957"/>
            </a:avLst>
          </a:prstGeom>
          <a:solidFill>
            <a:srgbClr val="FFFFFF"/>
          </a:solidFill>
          <a:ln w="12700">
            <a:solidFill>
              <a:srgbClr val="DCEBEA"/>
            </a:solidFill>
            <a:prstDash val="solid"/>
          </a:ln>
        </p:spPr>
      </p:sp>
      <p:sp>
        <p:nvSpPr>
          <p:cNvPr id="16" name="Shape 14"/>
          <p:cNvSpPr/>
          <p:nvPr/>
        </p:nvSpPr>
        <p:spPr>
          <a:xfrm>
            <a:off x="713232" y="3822192"/>
            <a:ext cx="365760" cy="365760"/>
          </a:xfrm>
          <a:prstGeom prst="ellipse">
            <a:avLst/>
          </a:prstGeom>
          <a:solidFill>
            <a:srgbClr val="028090"/>
          </a:solidFill>
          <a:ln/>
        </p:spPr>
      </p:sp>
      <p:sp>
        <p:nvSpPr>
          <p:cNvPr id="17" name="Text 15"/>
          <p:cNvSpPr/>
          <p:nvPr/>
        </p:nvSpPr>
        <p:spPr>
          <a:xfrm>
            <a:off x="713232" y="382219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207008" y="3749040"/>
            <a:ext cx="4572000" cy="868680"/>
          </a:xfrm>
          <a:prstGeom prst="rect">
            <a:avLst/>
          </a:prstGeom>
          <a:noFill/>
          <a:ln/>
        </p:spPr>
        <p:txBody>
          <a:bodyPr wrap="square" rtlCol="0" anchor="ctr"/>
          <a:lstStyle/>
          <a:p>
            <a:pPr indent="0" marL="0">
              <a:lnSpc>
                <a:spcPts val="1300"/>
              </a:lnSpc>
              <a:buNone/>
            </a:pPr>
            <a:r>
              <a:rPr lang="en-US" sz="1080" dirty="0">
                <a:solidFill>
                  <a:srgbClr val="16323A"/>
                </a:solidFill>
                <a:latin typeface="Calibri" pitchFamily="34" charset="0"/>
                <a:ea typeface="Calibri" pitchFamily="34" charset="-122"/>
                <a:cs typeface="Calibri" pitchFamily="34" charset="-120"/>
              </a:rPr>
              <a:t>Transformer encoder block with multi-head self-attention</a:t>
            </a:r>
            <a:endParaRPr lang="en-US" sz="1080" dirty="0"/>
          </a:p>
        </p:txBody>
      </p:sp>
      <p:sp>
        <p:nvSpPr>
          <p:cNvPr id="19" name="Shape 17"/>
          <p:cNvSpPr/>
          <p:nvPr/>
        </p:nvSpPr>
        <p:spPr>
          <a:xfrm>
            <a:off x="6245352" y="3657600"/>
            <a:ext cx="5394960" cy="1051560"/>
          </a:xfrm>
          <a:prstGeom prst="roundRect">
            <a:avLst>
              <a:gd name="adj" fmla="val 6957"/>
            </a:avLst>
          </a:prstGeom>
          <a:solidFill>
            <a:srgbClr val="FFFFFF"/>
          </a:solidFill>
          <a:ln w="12700">
            <a:solidFill>
              <a:srgbClr val="DCEBEA"/>
            </a:solidFill>
            <a:prstDash val="solid"/>
          </a:ln>
        </p:spPr>
      </p:sp>
      <p:sp>
        <p:nvSpPr>
          <p:cNvPr id="20" name="Shape 18"/>
          <p:cNvSpPr/>
          <p:nvPr/>
        </p:nvSpPr>
        <p:spPr>
          <a:xfrm>
            <a:off x="6409944" y="3822192"/>
            <a:ext cx="365760" cy="365760"/>
          </a:xfrm>
          <a:prstGeom prst="ellipse">
            <a:avLst/>
          </a:prstGeom>
          <a:solidFill>
            <a:srgbClr val="00A896"/>
          </a:solidFill>
          <a:ln/>
        </p:spPr>
      </p:sp>
      <p:sp>
        <p:nvSpPr>
          <p:cNvPr id="21" name="Text 19"/>
          <p:cNvSpPr/>
          <p:nvPr/>
        </p:nvSpPr>
        <p:spPr>
          <a:xfrm>
            <a:off x="6409944" y="382219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6903720" y="3749040"/>
            <a:ext cx="4572000" cy="868680"/>
          </a:xfrm>
          <a:prstGeom prst="rect">
            <a:avLst/>
          </a:prstGeom>
          <a:noFill/>
          <a:ln/>
        </p:spPr>
        <p:txBody>
          <a:bodyPr wrap="square" rtlCol="0" anchor="ctr"/>
          <a:lstStyle/>
          <a:p>
            <a:pPr indent="0" marL="0">
              <a:lnSpc>
                <a:spcPts val="1300"/>
              </a:lnSpc>
              <a:buNone/>
            </a:pPr>
            <a:r>
              <a:rPr lang="en-US" sz="1080" dirty="0">
                <a:solidFill>
                  <a:srgbClr val="16323A"/>
                </a:solidFill>
                <a:latin typeface="Calibri" pitchFamily="34" charset="0"/>
                <a:ea typeface="Calibri" pitchFamily="34" charset="-122"/>
                <a:cs typeface="Calibri" pitchFamily="34" charset="-120"/>
              </a:rPr>
              <a:t>A modified classification block (extra batch-normalisation) that slightly outperforms the original ViT MLP head</a:t>
            </a:r>
            <a:endParaRPr lang="en-US" sz="1080" dirty="0"/>
          </a:p>
        </p:txBody>
      </p:sp>
      <p:sp>
        <p:nvSpPr>
          <p:cNvPr id="23" name="Shape 21"/>
          <p:cNvSpPr/>
          <p:nvPr/>
        </p:nvSpPr>
        <p:spPr>
          <a:xfrm>
            <a:off x="548640" y="4892040"/>
            <a:ext cx="5394960" cy="1051560"/>
          </a:xfrm>
          <a:prstGeom prst="roundRect">
            <a:avLst>
              <a:gd name="adj" fmla="val 6957"/>
            </a:avLst>
          </a:prstGeom>
          <a:solidFill>
            <a:srgbClr val="FFFFFF"/>
          </a:solidFill>
          <a:ln w="12700">
            <a:solidFill>
              <a:srgbClr val="DCEBEA"/>
            </a:solidFill>
            <a:prstDash val="solid"/>
          </a:ln>
        </p:spPr>
      </p:sp>
      <p:sp>
        <p:nvSpPr>
          <p:cNvPr id="24" name="Shape 22"/>
          <p:cNvSpPr/>
          <p:nvPr/>
        </p:nvSpPr>
        <p:spPr>
          <a:xfrm>
            <a:off x="713232" y="5056632"/>
            <a:ext cx="365760" cy="365760"/>
          </a:xfrm>
          <a:prstGeom prst="ellipse">
            <a:avLst/>
          </a:prstGeom>
          <a:solidFill>
            <a:srgbClr val="028090"/>
          </a:solidFill>
          <a:ln/>
        </p:spPr>
      </p:sp>
      <p:sp>
        <p:nvSpPr>
          <p:cNvPr id="25" name="Text 23"/>
          <p:cNvSpPr/>
          <p:nvPr/>
        </p:nvSpPr>
        <p:spPr>
          <a:xfrm>
            <a:off x="713232" y="505663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6" name="Text 24"/>
          <p:cNvSpPr/>
          <p:nvPr/>
        </p:nvSpPr>
        <p:spPr>
          <a:xfrm>
            <a:off x="1207008" y="4983480"/>
            <a:ext cx="4572000" cy="868680"/>
          </a:xfrm>
          <a:prstGeom prst="rect">
            <a:avLst/>
          </a:prstGeom>
          <a:noFill/>
          <a:ln/>
        </p:spPr>
        <p:txBody>
          <a:bodyPr wrap="square" rtlCol="0" anchor="ctr"/>
          <a:lstStyle/>
          <a:p>
            <a:pPr indent="0" marL="0">
              <a:lnSpc>
                <a:spcPts val="1300"/>
              </a:lnSpc>
              <a:buNone/>
            </a:pPr>
            <a:r>
              <a:rPr lang="en-US" sz="1080" dirty="0">
                <a:solidFill>
                  <a:srgbClr val="16323A"/>
                </a:solidFill>
                <a:latin typeface="Calibri" pitchFamily="34" charset="0"/>
                <a:ea typeface="Calibri" pitchFamily="34" charset="-122"/>
                <a:cs typeface="Calibri" pitchFamily="34" charset="-120"/>
              </a:rPr>
              <a:t>Transfer learning — ImageNet pretraining, fine-tuned on HAM10000</a:t>
            </a:r>
            <a:endParaRPr lang="en-US" sz="1080" dirty="0"/>
          </a:p>
        </p:txBody>
      </p:sp>
      <p:sp>
        <p:nvSpPr>
          <p:cNvPr id="27" name="Shape 25"/>
          <p:cNvSpPr/>
          <p:nvPr/>
        </p:nvSpPr>
        <p:spPr>
          <a:xfrm>
            <a:off x="6245352" y="4892040"/>
            <a:ext cx="5394960" cy="1051560"/>
          </a:xfrm>
          <a:prstGeom prst="roundRect">
            <a:avLst>
              <a:gd name="adj" fmla="val 6957"/>
            </a:avLst>
          </a:prstGeom>
          <a:solidFill>
            <a:srgbClr val="FFFFFF"/>
          </a:solidFill>
          <a:ln w="12700">
            <a:solidFill>
              <a:srgbClr val="DCEBEA"/>
            </a:solidFill>
            <a:prstDash val="solid"/>
          </a:ln>
        </p:spPr>
      </p:sp>
      <p:sp>
        <p:nvSpPr>
          <p:cNvPr id="28" name="Shape 26"/>
          <p:cNvSpPr/>
          <p:nvPr/>
        </p:nvSpPr>
        <p:spPr>
          <a:xfrm>
            <a:off x="6409944" y="5056632"/>
            <a:ext cx="365760" cy="365760"/>
          </a:xfrm>
          <a:prstGeom prst="ellipse">
            <a:avLst/>
          </a:prstGeom>
          <a:solidFill>
            <a:srgbClr val="00A896"/>
          </a:solidFill>
          <a:ln/>
        </p:spPr>
      </p:sp>
      <p:sp>
        <p:nvSpPr>
          <p:cNvPr id="29" name="Text 27"/>
          <p:cNvSpPr/>
          <p:nvPr/>
        </p:nvSpPr>
        <p:spPr>
          <a:xfrm>
            <a:off x="6409944" y="505663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0" name="Text 28"/>
          <p:cNvSpPr/>
          <p:nvPr/>
        </p:nvSpPr>
        <p:spPr>
          <a:xfrm>
            <a:off x="6903720" y="4983480"/>
            <a:ext cx="4572000" cy="868680"/>
          </a:xfrm>
          <a:prstGeom prst="rect">
            <a:avLst/>
          </a:prstGeom>
          <a:noFill/>
          <a:ln/>
        </p:spPr>
        <p:txBody>
          <a:bodyPr wrap="square" rtlCol="0" anchor="ctr"/>
          <a:lstStyle/>
          <a:p>
            <a:pPr indent="0" marL="0">
              <a:lnSpc>
                <a:spcPts val="1300"/>
              </a:lnSpc>
              <a:buNone/>
            </a:pPr>
            <a:r>
              <a:rPr lang="en-US" sz="1080" dirty="0">
                <a:solidFill>
                  <a:srgbClr val="16323A"/>
                </a:solidFill>
                <a:latin typeface="Calibri" pitchFamily="34" charset="0"/>
                <a:ea typeface="Calibri" pitchFamily="34" charset="-122"/>
                <a:cs typeface="Calibri" pitchFamily="34" charset="-120"/>
              </a:rPr>
              <a:t>Systematic evaluation against ResNet50+SA, IRv2+SA, and the original ViT on two datasets</a:t>
            </a:r>
            <a:endParaRPr lang="en-US" sz="1080" dirty="0"/>
          </a:p>
        </p:txBody>
      </p:sp>
      <p:sp>
        <p:nvSpPr>
          <p:cNvPr id="31" name="Text 29"/>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32" name="Text 30"/>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8</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2600" b="1" dirty="0">
                <a:solidFill>
                  <a:srgbClr val="16323A"/>
                </a:solidFill>
                <a:latin typeface="Cambria" pitchFamily="34" charset="0"/>
                <a:ea typeface="Cambria" pitchFamily="34" charset="-122"/>
                <a:cs typeface="Cambria" pitchFamily="34" charset="-120"/>
              </a:rPr>
              <a:t>Proposed Methodology — ViTfSCD Architecture</a:t>
            </a:r>
            <a:endParaRPr lang="en-US" sz="2600" dirty="0"/>
          </a:p>
        </p:txBody>
      </p:sp>
      <p:sp>
        <p:nvSpPr>
          <p:cNvPr id="4" name="Text 2"/>
          <p:cNvSpPr/>
          <p:nvPr/>
        </p:nvSpPr>
        <p:spPr>
          <a:xfrm>
            <a:off x="548640" y="960120"/>
            <a:ext cx="9144000" cy="274320"/>
          </a:xfrm>
          <a:prstGeom prst="rect">
            <a:avLst/>
          </a:prstGeom>
          <a:noFill/>
          <a:ln/>
        </p:spPr>
        <p:txBody>
          <a:bodyPr wrap="square" rtlCol="0" anchor="ctr"/>
          <a:lstStyle/>
          <a:p>
            <a:pPr indent="0" marL="0">
              <a:buNone/>
            </a:pPr>
            <a:r>
              <a:rPr lang="en-US" sz="1200" i="1" dirty="0">
                <a:solidFill>
                  <a:srgbClr val="5C7A80"/>
                </a:solidFill>
                <a:latin typeface="Calibri" pitchFamily="34" charset="0"/>
                <a:ea typeface="Calibri" pitchFamily="34" charset="-122"/>
                <a:cs typeface="Calibri" pitchFamily="34" charset="-120"/>
              </a:rPr>
              <a:t>Original Architecture from the Research Paper (Fig. 1)</a:t>
            </a:r>
            <a:endParaRPr lang="en-US" sz="1200" dirty="0"/>
          </a:p>
        </p:txBody>
      </p:sp>
      <p:sp>
        <p:nvSpPr>
          <p:cNvPr id="5" name="Shape 3"/>
          <p:cNvSpPr/>
          <p:nvPr/>
        </p:nvSpPr>
        <p:spPr>
          <a:xfrm>
            <a:off x="685800" y="1417320"/>
            <a:ext cx="5074920" cy="713232"/>
          </a:xfrm>
          <a:prstGeom prst="roundRect">
            <a:avLst>
              <a:gd name="adj" fmla="val 10256"/>
            </a:avLst>
          </a:prstGeom>
          <a:solidFill>
            <a:srgbClr val="028090"/>
          </a:solidFill>
          <a:ln/>
          <a:effectLst>
            <a:outerShdw sx="100000" sy="100000" kx="0" ky="0" algn="bl" rotWithShape="0" blurRad="50800" dist="25400" dir="5400000">
              <a:srgbClr val="000000">
                <a:alpha val="18000"/>
              </a:srgbClr>
            </a:outerShdw>
          </a:effectLst>
        </p:spPr>
      </p:sp>
      <p:sp>
        <p:nvSpPr>
          <p:cNvPr id="6" name="Text 4"/>
          <p:cNvSpPr/>
          <p:nvPr/>
        </p:nvSpPr>
        <p:spPr>
          <a:xfrm>
            <a:off x="777240" y="1417320"/>
            <a:ext cx="4892040" cy="71323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HAM10000 Skin Images</a:t>
            </a:r>
            <a:endParaRPr lang="en-US" sz="1250" dirty="0"/>
          </a:p>
        </p:txBody>
      </p:sp>
      <p:sp>
        <p:nvSpPr>
          <p:cNvPr id="7" name="Shape 5"/>
          <p:cNvSpPr/>
          <p:nvPr/>
        </p:nvSpPr>
        <p:spPr>
          <a:xfrm>
            <a:off x="3140964" y="2148840"/>
            <a:ext cx="164592" cy="54864"/>
          </a:xfrm>
          <a:prstGeom prst="downArrow">
            <a:avLst/>
          </a:prstGeom>
          <a:solidFill>
            <a:srgbClr val="5C7A80"/>
          </a:solidFill>
          <a:ln/>
        </p:spPr>
      </p:sp>
      <p:sp>
        <p:nvSpPr>
          <p:cNvPr id="8" name="Shape 6"/>
          <p:cNvSpPr/>
          <p:nvPr/>
        </p:nvSpPr>
        <p:spPr>
          <a:xfrm>
            <a:off x="685800" y="2221992"/>
            <a:ext cx="5074920" cy="713232"/>
          </a:xfrm>
          <a:prstGeom prst="roundRect">
            <a:avLst>
              <a:gd name="adj" fmla="val 10256"/>
            </a:avLst>
          </a:prstGeom>
          <a:solidFill>
            <a:srgbClr val="00A896"/>
          </a:solidFill>
          <a:ln/>
          <a:effectLst>
            <a:outerShdw sx="100000" sy="100000" kx="0" ky="0" algn="bl" rotWithShape="0" blurRad="50800" dist="25400" dir="5400000">
              <a:srgbClr val="000000">
                <a:alpha val="18000"/>
              </a:srgbClr>
            </a:outerShdw>
          </a:effectLst>
        </p:spPr>
      </p:sp>
      <p:sp>
        <p:nvSpPr>
          <p:cNvPr id="9" name="Text 7"/>
          <p:cNvSpPr/>
          <p:nvPr/>
        </p:nvSpPr>
        <p:spPr>
          <a:xfrm>
            <a:off x="777240" y="2221992"/>
            <a:ext cx="4892040" cy="512064"/>
          </a:xfrm>
          <a:prstGeom prst="rect">
            <a:avLst/>
          </a:prstGeom>
          <a:noFill/>
          <a:ln/>
        </p:spPr>
        <p:txBody>
          <a:bodyPr wrap="square" lIns="0" tIns="0" rIns="0" bIns="0" rtlCol="0" anchor="b"/>
          <a:lstStyle/>
          <a:p>
            <a:pPr algn="ctr" indent="0" marL="0">
              <a:buNone/>
            </a:pPr>
            <a:r>
              <a:rPr lang="en-US" sz="1250" b="1" dirty="0">
                <a:solidFill>
                  <a:srgbClr val="FFFFFF"/>
                </a:solidFill>
                <a:latin typeface="Calibri" pitchFamily="34" charset="0"/>
                <a:ea typeface="Calibri" pitchFamily="34" charset="-122"/>
                <a:cs typeface="Calibri" pitchFamily="34" charset="-120"/>
              </a:rPr>
              <a:t>Data Augmentation + Class Rebalancing</a:t>
            </a:r>
            <a:endParaRPr lang="en-US" sz="1250" dirty="0"/>
          </a:p>
        </p:txBody>
      </p:sp>
      <p:sp>
        <p:nvSpPr>
          <p:cNvPr id="10" name="Text 8"/>
          <p:cNvSpPr/>
          <p:nvPr/>
        </p:nvSpPr>
        <p:spPr>
          <a:xfrm>
            <a:off x="777240" y="2697480"/>
            <a:ext cx="4892040" cy="219456"/>
          </a:xfrm>
          <a:prstGeom prst="rect">
            <a:avLst/>
          </a:prstGeom>
          <a:noFill/>
          <a:ln/>
        </p:spPr>
        <p:txBody>
          <a:bodyPr wrap="square" lIns="0" tIns="0" rIns="0" bIns="0" rtlCol="0" anchor="t"/>
          <a:lstStyle/>
          <a:p>
            <a:pPr algn="ctr" indent="0" marL="0">
              <a:buNone/>
            </a:pPr>
            <a:r>
              <a:rPr lang="en-US" sz="850" i="1" dirty="0">
                <a:solidFill>
                  <a:srgbClr val="E5F6F4"/>
                </a:solidFill>
                <a:latin typeface="Calibri" pitchFamily="34" charset="0"/>
                <a:ea typeface="Calibri" pitchFamily="34" charset="-122"/>
                <a:cs typeface="Calibri" pitchFamily="34" charset="-120"/>
              </a:rPr>
              <a:t>over-/under-sampling, duplicate removal</a:t>
            </a:r>
            <a:endParaRPr lang="en-US" sz="850" dirty="0"/>
          </a:p>
        </p:txBody>
      </p:sp>
      <p:sp>
        <p:nvSpPr>
          <p:cNvPr id="11" name="Shape 9"/>
          <p:cNvSpPr/>
          <p:nvPr/>
        </p:nvSpPr>
        <p:spPr>
          <a:xfrm>
            <a:off x="3140964" y="2953512"/>
            <a:ext cx="164592" cy="54864"/>
          </a:xfrm>
          <a:prstGeom prst="downArrow">
            <a:avLst/>
          </a:prstGeom>
          <a:solidFill>
            <a:srgbClr val="5C7A80"/>
          </a:solidFill>
          <a:ln/>
        </p:spPr>
      </p:sp>
      <p:sp>
        <p:nvSpPr>
          <p:cNvPr id="12" name="Shape 10"/>
          <p:cNvSpPr/>
          <p:nvPr/>
        </p:nvSpPr>
        <p:spPr>
          <a:xfrm>
            <a:off x="685800" y="3026664"/>
            <a:ext cx="5074920" cy="713232"/>
          </a:xfrm>
          <a:prstGeom prst="roundRect">
            <a:avLst>
              <a:gd name="adj" fmla="val 10256"/>
            </a:avLst>
          </a:prstGeom>
          <a:solidFill>
            <a:srgbClr val="028090"/>
          </a:solidFill>
          <a:ln/>
          <a:effectLst>
            <a:outerShdw sx="100000" sy="100000" kx="0" ky="0" algn="bl" rotWithShape="0" blurRad="50800" dist="25400" dir="5400000">
              <a:srgbClr val="000000">
                <a:alpha val="18000"/>
              </a:srgbClr>
            </a:outerShdw>
          </a:effectLst>
        </p:spPr>
      </p:sp>
      <p:sp>
        <p:nvSpPr>
          <p:cNvPr id="13" name="Text 11"/>
          <p:cNvSpPr/>
          <p:nvPr/>
        </p:nvSpPr>
        <p:spPr>
          <a:xfrm>
            <a:off x="777240" y="3026664"/>
            <a:ext cx="4892040" cy="512064"/>
          </a:xfrm>
          <a:prstGeom prst="rect">
            <a:avLst/>
          </a:prstGeom>
          <a:noFill/>
          <a:ln/>
        </p:spPr>
        <p:txBody>
          <a:bodyPr wrap="square" lIns="0" tIns="0" rIns="0" bIns="0" rtlCol="0" anchor="b"/>
          <a:lstStyle/>
          <a:p>
            <a:pPr algn="ctr" indent="0" marL="0">
              <a:buNone/>
            </a:pPr>
            <a:r>
              <a:rPr lang="en-US" sz="1250" b="1" dirty="0">
                <a:solidFill>
                  <a:srgbClr val="FFFFFF"/>
                </a:solidFill>
                <a:latin typeface="Calibri" pitchFamily="34" charset="0"/>
                <a:ea typeface="Calibri" pitchFamily="34" charset="-122"/>
                <a:cs typeface="Calibri" pitchFamily="34" charset="-120"/>
              </a:rPr>
              <a:t>Image Restructuring Block</a:t>
            </a:r>
            <a:endParaRPr lang="en-US" sz="1250" dirty="0"/>
          </a:p>
        </p:txBody>
      </p:sp>
      <p:sp>
        <p:nvSpPr>
          <p:cNvPr id="14" name="Text 12"/>
          <p:cNvSpPr/>
          <p:nvPr/>
        </p:nvSpPr>
        <p:spPr>
          <a:xfrm>
            <a:off x="777240" y="3502152"/>
            <a:ext cx="4892040" cy="219456"/>
          </a:xfrm>
          <a:prstGeom prst="rect">
            <a:avLst/>
          </a:prstGeom>
          <a:noFill/>
          <a:ln/>
        </p:spPr>
        <p:txBody>
          <a:bodyPr wrap="square" lIns="0" tIns="0" rIns="0" bIns="0" rtlCol="0" anchor="t"/>
          <a:lstStyle/>
          <a:p>
            <a:pPr algn="ctr" indent="0" marL="0">
              <a:buNone/>
            </a:pPr>
            <a:r>
              <a:rPr lang="en-US" sz="850" i="1" dirty="0">
                <a:solidFill>
                  <a:srgbClr val="E5F6F4"/>
                </a:solidFill>
                <a:latin typeface="Calibri" pitchFamily="34" charset="0"/>
                <a:ea typeface="Calibri" pitchFamily="34" charset="-122"/>
                <a:cs typeface="Calibri" pitchFamily="34" charset="-120"/>
              </a:rPr>
              <a:t>patching → linear embedding → positional embedding</a:t>
            </a:r>
            <a:endParaRPr lang="en-US" sz="850" dirty="0"/>
          </a:p>
        </p:txBody>
      </p:sp>
      <p:sp>
        <p:nvSpPr>
          <p:cNvPr id="15" name="Shape 13"/>
          <p:cNvSpPr/>
          <p:nvPr/>
        </p:nvSpPr>
        <p:spPr>
          <a:xfrm>
            <a:off x="3140964" y="3758184"/>
            <a:ext cx="164592" cy="54864"/>
          </a:xfrm>
          <a:prstGeom prst="downArrow">
            <a:avLst/>
          </a:prstGeom>
          <a:solidFill>
            <a:srgbClr val="5C7A80"/>
          </a:solidFill>
          <a:ln/>
        </p:spPr>
      </p:sp>
      <p:sp>
        <p:nvSpPr>
          <p:cNvPr id="16" name="Shape 14"/>
          <p:cNvSpPr/>
          <p:nvPr/>
        </p:nvSpPr>
        <p:spPr>
          <a:xfrm>
            <a:off x="685800" y="3831336"/>
            <a:ext cx="5074920" cy="713232"/>
          </a:xfrm>
          <a:prstGeom prst="roundRect">
            <a:avLst>
              <a:gd name="adj" fmla="val 10256"/>
            </a:avLst>
          </a:prstGeom>
          <a:solidFill>
            <a:srgbClr val="00A896"/>
          </a:solidFill>
          <a:ln/>
          <a:effectLst>
            <a:outerShdw sx="100000" sy="100000" kx="0" ky="0" algn="bl" rotWithShape="0" blurRad="50800" dist="25400" dir="5400000">
              <a:srgbClr val="000000">
                <a:alpha val="18000"/>
              </a:srgbClr>
            </a:outerShdw>
          </a:effectLst>
        </p:spPr>
      </p:sp>
      <p:sp>
        <p:nvSpPr>
          <p:cNvPr id="17" name="Text 15"/>
          <p:cNvSpPr/>
          <p:nvPr/>
        </p:nvSpPr>
        <p:spPr>
          <a:xfrm>
            <a:off x="777240" y="3831336"/>
            <a:ext cx="4892040" cy="512064"/>
          </a:xfrm>
          <a:prstGeom prst="rect">
            <a:avLst/>
          </a:prstGeom>
          <a:noFill/>
          <a:ln/>
        </p:spPr>
        <p:txBody>
          <a:bodyPr wrap="square" lIns="0" tIns="0" rIns="0" bIns="0" rtlCol="0" anchor="b"/>
          <a:lstStyle/>
          <a:p>
            <a:pPr algn="ctr" indent="0" marL="0">
              <a:buNone/>
            </a:pPr>
            <a:r>
              <a:rPr lang="en-US" sz="1250" b="1" dirty="0">
                <a:solidFill>
                  <a:srgbClr val="FFFFFF"/>
                </a:solidFill>
                <a:latin typeface="Calibri" pitchFamily="34" charset="0"/>
                <a:ea typeface="Calibri" pitchFamily="34" charset="-122"/>
                <a:cs typeface="Calibri" pitchFamily="34" charset="-120"/>
              </a:rPr>
              <a:t>Transformer Encoder Block (×N)</a:t>
            </a:r>
            <a:endParaRPr lang="en-US" sz="1250" dirty="0"/>
          </a:p>
        </p:txBody>
      </p:sp>
      <p:sp>
        <p:nvSpPr>
          <p:cNvPr id="18" name="Text 16"/>
          <p:cNvSpPr/>
          <p:nvPr/>
        </p:nvSpPr>
        <p:spPr>
          <a:xfrm>
            <a:off x="777240" y="4306824"/>
            <a:ext cx="4892040" cy="219456"/>
          </a:xfrm>
          <a:prstGeom prst="rect">
            <a:avLst/>
          </a:prstGeom>
          <a:noFill/>
          <a:ln/>
        </p:spPr>
        <p:txBody>
          <a:bodyPr wrap="square" lIns="0" tIns="0" rIns="0" bIns="0" rtlCol="0" anchor="t"/>
          <a:lstStyle/>
          <a:p>
            <a:pPr algn="ctr" indent="0" marL="0">
              <a:buNone/>
            </a:pPr>
            <a:r>
              <a:rPr lang="en-US" sz="850" i="1" dirty="0">
                <a:solidFill>
                  <a:srgbClr val="E5F6F4"/>
                </a:solidFill>
                <a:latin typeface="Calibri" pitchFamily="34" charset="0"/>
                <a:ea typeface="Calibri" pitchFamily="34" charset="-122"/>
                <a:cs typeface="Calibri" pitchFamily="34" charset="-120"/>
              </a:rPr>
              <a:t>multi-head self-attention + MLP, residual + layer-norm</a:t>
            </a:r>
            <a:endParaRPr lang="en-US" sz="850" dirty="0"/>
          </a:p>
        </p:txBody>
      </p:sp>
      <p:sp>
        <p:nvSpPr>
          <p:cNvPr id="19" name="Shape 17"/>
          <p:cNvSpPr/>
          <p:nvPr/>
        </p:nvSpPr>
        <p:spPr>
          <a:xfrm>
            <a:off x="3140964" y="4562856"/>
            <a:ext cx="164592" cy="54864"/>
          </a:xfrm>
          <a:prstGeom prst="downArrow">
            <a:avLst/>
          </a:prstGeom>
          <a:solidFill>
            <a:srgbClr val="5C7A80"/>
          </a:solidFill>
          <a:ln/>
        </p:spPr>
      </p:sp>
      <p:sp>
        <p:nvSpPr>
          <p:cNvPr id="20" name="Shape 18"/>
          <p:cNvSpPr/>
          <p:nvPr/>
        </p:nvSpPr>
        <p:spPr>
          <a:xfrm>
            <a:off x="685800" y="4636008"/>
            <a:ext cx="5074920" cy="713232"/>
          </a:xfrm>
          <a:prstGeom prst="roundRect">
            <a:avLst>
              <a:gd name="adj" fmla="val 10256"/>
            </a:avLst>
          </a:prstGeom>
          <a:solidFill>
            <a:srgbClr val="028090"/>
          </a:solidFill>
          <a:ln/>
          <a:effectLst>
            <a:outerShdw sx="100000" sy="100000" kx="0" ky="0" algn="bl" rotWithShape="0" blurRad="50800" dist="25400" dir="5400000">
              <a:srgbClr val="000000">
                <a:alpha val="18000"/>
              </a:srgbClr>
            </a:outerShdw>
          </a:effectLst>
        </p:spPr>
      </p:sp>
      <p:sp>
        <p:nvSpPr>
          <p:cNvPr id="21" name="Text 19"/>
          <p:cNvSpPr/>
          <p:nvPr/>
        </p:nvSpPr>
        <p:spPr>
          <a:xfrm>
            <a:off x="777240" y="4636008"/>
            <a:ext cx="4892040" cy="512064"/>
          </a:xfrm>
          <a:prstGeom prst="rect">
            <a:avLst/>
          </a:prstGeom>
          <a:noFill/>
          <a:ln/>
        </p:spPr>
        <p:txBody>
          <a:bodyPr wrap="square" lIns="0" tIns="0" rIns="0" bIns="0" rtlCol="0" anchor="b"/>
          <a:lstStyle/>
          <a:p>
            <a:pPr algn="ctr" indent="0" marL="0">
              <a:buNone/>
            </a:pPr>
            <a:r>
              <a:rPr lang="en-US" sz="1250" b="1" dirty="0">
                <a:solidFill>
                  <a:srgbClr val="FFFFFF"/>
                </a:solidFill>
                <a:latin typeface="Calibri" pitchFamily="34" charset="0"/>
                <a:ea typeface="Calibri" pitchFamily="34" charset="-122"/>
                <a:cs typeface="Calibri" pitchFamily="34" charset="-120"/>
              </a:rPr>
              <a:t>Classification Block</a:t>
            </a:r>
            <a:endParaRPr lang="en-US" sz="1250" dirty="0"/>
          </a:p>
        </p:txBody>
      </p:sp>
      <p:sp>
        <p:nvSpPr>
          <p:cNvPr id="22" name="Text 20"/>
          <p:cNvSpPr/>
          <p:nvPr/>
        </p:nvSpPr>
        <p:spPr>
          <a:xfrm>
            <a:off x="777240" y="5111496"/>
            <a:ext cx="4892040" cy="219456"/>
          </a:xfrm>
          <a:prstGeom prst="rect">
            <a:avLst/>
          </a:prstGeom>
          <a:noFill/>
          <a:ln/>
        </p:spPr>
        <p:txBody>
          <a:bodyPr wrap="square" lIns="0" tIns="0" rIns="0" bIns="0" rtlCol="0" anchor="t"/>
          <a:lstStyle/>
          <a:p>
            <a:pPr algn="ctr" indent="0" marL="0">
              <a:buNone/>
            </a:pPr>
            <a:r>
              <a:rPr lang="en-US" sz="850" i="1" dirty="0">
                <a:solidFill>
                  <a:srgbClr val="E5F6F4"/>
                </a:solidFill>
                <a:latin typeface="Calibri" pitchFamily="34" charset="0"/>
                <a:ea typeface="Calibri" pitchFamily="34" charset="-122"/>
                <a:cs typeface="Calibri" pitchFamily="34" charset="-120"/>
              </a:rPr>
              <a:t>flatten → batch-norm → GeLU dense → batch-norm → softmax</a:t>
            </a:r>
            <a:endParaRPr lang="en-US" sz="850" dirty="0"/>
          </a:p>
        </p:txBody>
      </p:sp>
      <p:sp>
        <p:nvSpPr>
          <p:cNvPr id="23" name="Shape 21"/>
          <p:cNvSpPr/>
          <p:nvPr/>
        </p:nvSpPr>
        <p:spPr>
          <a:xfrm>
            <a:off x="3140964" y="5367528"/>
            <a:ext cx="164592" cy="54864"/>
          </a:xfrm>
          <a:prstGeom prst="downArrow">
            <a:avLst/>
          </a:prstGeom>
          <a:solidFill>
            <a:srgbClr val="5C7A80"/>
          </a:solidFill>
          <a:ln/>
        </p:spPr>
      </p:sp>
      <p:sp>
        <p:nvSpPr>
          <p:cNvPr id="24" name="Shape 22"/>
          <p:cNvSpPr/>
          <p:nvPr/>
        </p:nvSpPr>
        <p:spPr>
          <a:xfrm>
            <a:off x="685800" y="5440680"/>
            <a:ext cx="5074920" cy="713232"/>
          </a:xfrm>
          <a:prstGeom prst="roundRect">
            <a:avLst>
              <a:gd name="adj" fmla="val 10256"/>
            </a:avLst>
          </a:prstGeom>
          <a:solidFill>
            <a:srgbClr val="F4A261"/>
          </a:solidFill>
          <a:ln/>
          <a:effectLst>
            <a:outerShdw sx="100000" sy="100000" kx="0" ky="0" algn="bl" rotWithShape="0" blurRad="50800" dist="25400" dir="5400000">
              <a:srgbClr val="000000">
                <a:alpha val="18000"/>
              </a:srgbClr>
            </a:outerShdw>
          </a:effectLst>
        </p:spPr>
      </p:sp>
      <p:sp>
        <p:nvSpPr>
          <p:cNvPr id="25" name="Text 23"/>
          <p:cNvSpPr/>
          <p:nvPr/>
        </p:nvSpPr>
        <p:spPr>
          <a:xfrm>
            <a:off x="777240" y="5440680"/>
            <a:ext cx="4892040" cy="512064"/>
          </a:xfrm>
          <a:prstGeom prst="rect">
            <a:avLst/>
          </a:prstGeom>
          <a:noFill/>
          <a:ln/>
        </p:spPr>
        <p:txBody>
          <a:bodyPr wrap="square" lIns="0" tIns="0" rIns="0" bIns="0" rtlCol="0" anchor="b"/>
          <a:lstStyle/>
          <a:p>
            <a:pPr algn="ctr" indent="0" marL="0">
              <a:buNone/>
            </a:pPr>
            <a:r>
              <a:rPr lang="en-US" sz="1250" b="1" dirty="0">
                <a:solidFill>
                  <a:srgbClr val="FFFFFF"/>
                </a:solidFill>
                <a:latin typeface="Calibri" pitchFamily="34" charset="0"/>
                <a:ea typeface="Calibri" pitchFamily="34" charset="-122"/>
                <a:cs typeface="Calibri" pitchFamily="34" charset="-120"/>
              </a:rPr>
              <a:t>7 Skin-Cancer Classes</a:t>
            </a:r>
            <a:endParaRPr lang="en-US" sz="1250" dirty="0"/>
          </a:p>
        </p:txBody>
      </p:sp>
      <p:sp>
        <p:nvSpPr>
          <p:cNvPr id="26" name="Text 24"/>
          <p:cNvSpPr/>
          <p:nvPr/>
        </p:nvSpPr>
        <p:spPr>
          <a:xfrm>
            <a:off x="777240" y="5916168"/>
            <a:ext cx="4892040" cy="219456"/>
          </a:xfrm>
          <a:prstGeom prst="rect">
            <a:avLst/>
          </a:prstGeom>
          <a:noFill/>
          <a:ln/>
        </p:spPr>
        <p:txBody>
          <a:bodyPr wrap="square" lIns="0" tIns="0" rIns="0" bIns="0" rtlCol="0" anchor="t"/>
          <a:lstStyle/>
          <a:p>
            <a:pPr algn="ctr" indent="0" marL="0">
              <a:buNone/>
            </a:pPr>
            <a:r>
              <a:rPr lang="en-US" sz="850" i="1" dirty="0">
                <a:solidFill>
                  <a:srgbClr val="E5F6F4"/>
                </a:solidFill>
                <a:latin typeface="Calibri" pitchFamily="34" charset="0"/>
                <a:ea typeface="Calibri" pitchFamily="34" charset="-122"/>
                <a:cs typeface="Calibri" pitchFamily="34" charset="-120"/>
              </a:rPr>
              <a:t>AKIEC · BCC · BKL · DF · MEL · NV · VASC</a:t>
            </a:r>
            <a:endParaRPr lang="en-US" sz="850" dirty="0"/>
          </a:p>
        </p:txBody>
      </p:sp>
      <p:sp>
        <p:nvSpPr>
          <p:cNvPr id="27" name="Shape 25"/>
          <p:cNvSpPr/>
          <p:nvPr/>
        </p:nvSpPr>
        <p:spPr>
          <a:xfrm>
            <a:off x="6126480" y="1417320"/>
            <a:ext cx="5532120" cy="4709160"/>
          </a:xfrm>
          <a:prstGeom prst="roundRect">
            <a:avLst>
              <a:gd name="adj" fmla="val 1942"/>
            </a:avLst>
          </a:prstGeom>
          <a:solidFill>
            <a:srgbClr val="0B2E33"/>
          </a:solidFill>
          <a:ln/>
        </p:spPr>
      </p:sp>
      <p:sp>
        <p:nvSpPr>
          <p:cNvPr id="28" name="Text 26"/>
          <p:cNvSpPr/>
          <p:nvPr/>
        </p:nvSpPr>
        <p:spPr>
          <a:xfrm>
            <a:off x="6309360" y="1572768"/>
            <a:ext cx="512064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HOW TO READ FIG. 1 (Yang et al., 2023)</a:t>
            </a:r>
            <a:endParaRPr lang="en-US" sz="1100" dirty="0"/>
          </a:p>
        </p:txBody>
      </p:sp>
      <p:sp>
        <p:nvSpPr>
          <p:cNvPr id="29" name="Text 27"/>
          <p:cNvSpPr/>
          <p:nvPr/>
        </p:nvSpPr>
        <p:spPr>
          <a:xfrm>
            <a:off x="6309360" y="1920240"/>
            <a:ext cx="5120640" cy="2834640"/>
          </a:xfrm>
          <a:prstGeom prst="rect">
            <a:avLst/>
          </a:prstGeom>
          <a:noFill/>
          <a:ln/>
        </p:spPr>
        <p:txBody>
          <a:bodyPr wrap="square" lIns="0" tIns="0" rIns="0" bIns="0" rtlCol="0" anchor="t"/>
          <a:lstStyle/>
          <a:p>
            <a:pPr marL="177800" indent="-177800">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Four blocks, left to right in the original figure: augmentation/rebalancing → image restructuring → transformer encoder → classification.</a:t>
            </a:r>
            <a:endParaRPr lang="en-US" sz="1150" dirty="0"/>
          </a:p>
          <a:p>
            <a:pPr marL="177800" indent="-177800">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Encoder Block 1..N each contain: LayerNorm → Multi-Head Self-Attention (Q,K,V) → residual add → LayerNorm → MLP → residual add.</a:t>
            </a:r>
            <a:endParaRPr lang="en-US" sz="1150" dirty="0"/>
          </a:p>
          <a:p>
            <a:pPr marL="177800" indent="-177800">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The classification block is the authors' modification: Flatten → BatchNorm → Dense(GeLU) → BatchNorm → Softmax.</a:t>
            </a:r>
            <a:endParaRPr lang="en-US" sz="1150" dirty="0"/>
          </a:p>
          <a:p>
            <a:pPr marL="177800" indent="-177800">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Output: probability over the 7 HAM10000 classes.</a:t>
            </a:r>
            <a:endParaRPr lang="en-US" sz="1150" dirty="0"/>
          </a:p>
        </p:txBody>
      </p:sp>
      <p:sp>
        <p:nvSpPr>
          <p:cNvPr id="30" name="Text 28"/>
          <p:cNvSpPr/>
          <p:nvPr/>
        </p:nvSpPr>
        <p:spPr>
          <a:xfrm>
            <a:off x="6309360" y="5760720"/>
            <a:ext cx="5120640" cy="274320"/>
          </a:xfrm>
          <a:prstGeom prst="rect">
            <a:avLst/>
          </a:prstGeom>
          <a:noFill/>
          <a:ln/>
        </p:spPr>
        <p:txBody>
          <a:bodyPr wrap="square" rtlCol="0" anchor="ctr"/>
          <a:lstStyle/>
          <a:p>
            <a:pPr indent="0" marL="0">
              <a:buNone/>
            </a:pPr>
            <a:r>
              <a:rPr lang="en-US" sz="950" i="1" dirty="0">
                <a:solidFill>
                  <a:srgbClr val="7FB8B4"/>
                </a:solidFill>
                <a:latin typeface="Calibri" pitchFamily="34" charset="0"/>
                <a:ea typeface="Calibri" pitchFamily="34" charset="-122"/>
                <a:cs typeface="Calibri" pitchFamily="34" charset="-120"/>
              </a:rPr>
              <a:t>Figure adapted from Yang et al. (2023), Fig. 1.</a:t>
            </a:r>
            <a:endParaRPr lang="en-US" sz="950" dirty="0"/>
          </a:p>
        </p:txBody>
      </p:sp>
      <p:sp>
        <p:nvSpPr>
          <p:cNvPr id="31" name="Text 29"/>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32" name="Text 30"/>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8 (CONT.)</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2800" b="1" dirty="0">
                <a:solidFill>
                  <a:srgbClr val="16323A"/>
                </a:solidFill>
                <a:latin typeface="Cambria" pitchFamily="34" charset="0"/>
                <a:ea typeface="Cambria" pitchFamily="34" charset="-122"/>
                <a:cs typeface="Cambria" pitchFamily="34" charset="-120"/>
              </a:rPr>
              <a:t>How the Vision Transformer Works</a:t>
            </a:r>
            <a:endParaRPr lang="en-US" sz="2800" dirty="0"/>
          </a:p>
        </p:txBody>
      </p:sp>
      <p:sp>
        <p:nvSpPr>
          <p:cNvPr id="4" name="Shape 2"/>
          <p:cNvSpPr/>
          <p:nvPr/>
        </p:nvSpPr>
        <p:spPr>
          <a:xfrm>
            <a:off x="548640" y="1371600"/>
            <a:ext cx="5394960" cy="987552"/>
          </a:xfrm>
          <a:prstGeom prst="roundRect">
            <a:avLst>
              <a:gd name="adj" fmla="val 7407"/>
            </a:avLst>
          </a:prstGeom>
          <a:solidFill>
            <a:srgbClr val="F7FAFA"/>
          </a:solidFill>
          <a:ln w="12700">
            <a:solidFill>
              <a:srgbClr val="DCEBEA"/>
            </a:solidFill>
            <a:prstDash val="solid"/>
          </a:ln>
        </p:spPr>
      </p:sp>
      <p:sp>
        <p:nvSpPr>
          <p:cNvPr id="5" name="Shape 3"/>
          <p:cNvSpPr/>
          <p:nvPr/>
        </p:nvSpPr>
        <p:spPr>
          <a:xfrm>
            <a:off x="548640" y="1371600"/>
            <a:ext cx="82296" cy="987552"/>
          </a:xfrm>
          <a:prstGeom prst="rect">
            <a:avLst/>
          </a:prstGeom>
          <a:solidFill>
            <a:srgbClr val="028090"/>
          </a:solidFill>
          <a:ln/>
        </p:spPr>
      </p:sp>
      <p:sp>
        <p:nvSpPr>
          <p:cNvPr id="6" name="Text 4"/>
          <p:cNvSpPr/>
          <p:nvPr/>
        </p:nvSpPr>
        <p:spPr>
          <a:xfrm>
            <a:off x="777240" y="1444752"/>
            <a:ext cx="4983480" cy="320040"/>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1. Image Patching</a:t>
            </a:r>
            <a:endParaRPr lang="en-US" sz="1300" dirty="0"/>
          </a:p>
        </p:txBody>
      </p:sp>
      <p:sp>
        <p:nvSpPr>
          <p:cNvPr id="7" name="Text 5"/>
          <p:cNvSpPr/>
          <p:nvPr/>
        </p:nvSpPr>
        <p:spPr>
          <a:xfrm>
            <a:off x="777240" y="1773936"/>
            <a:ext cx="4983480" cy="530352"/>
          </a:xfrm>
          <a:prstGeom prst="rect">
            <a:avLst/>
          </a:prstGeom>
          <a:noFill/>
          <a:ln/>
        </p:spPr>
        <p:txBody>
          <a:bodyPr wrap="square" rtlCol="0" anchor="ctr"/>
          <a:lstStyle/>
          <a:p>
            <a:pPr indent="0" marL="0">
              <a:lnSpc>
                <a:spcPts val="1300"/>
              </a:lnSpc>
              <a:buNone/>
            </a:pPr>
            <a:r>
              <a:rPr lang="en-US" sz="1080" dirty="0">
                <a:solidFill>
                  <a:srgbClr val="5C7A80"/>
                </a:solidFill>
                <a:latin typeface="Calibri" pitchFamily="34" charset="0"/>
                <a:ea typeface="Calibri" pitchFamily="34" charset="-122"/>
                <a:cs typeface="Calibri" pitchFamily="34" charset="-120"/>
              </a:rPr>
              <a:t>Input image split into fixed-size 16×16 patches.</a:t>
            </a:r>
            <a:endParaRPr lang="en-US" sz="1080" dirty="0"/>
          </a:p>
        </p:txBody>
      </p:sp>
      <p:sp>
        <p:nvSpPr>
          <p:cNvPr id="8" name="Shape 6"/>
          <p:cNvSpPr/>
          <p:nvPr/>
        </p:nvSpPr>
        <p:spPr>
          <a:xfrm>
            <a:off x="6245352" y="1371600"/>
            <a:ext cx="5394960" cy="987552"/>
          </a:xfrm>
          <a:prstGeom prst="roundRect">
            <a:avLst>
              <a:gd name="adj" fmla="val 7407"/>
            </a:avLst>
          </a:prstGeom>
          <a:solidFill>
            <a:srgbClr val="F7FAFA"/>
          </a:solidFill>
          <a:ln w="12700">
            <a:solidFill>
              <a:srgbClr val="DCEBEA"/>
            </a:solidFill>
            <a:prstDash val="solid"/>
          </a:ln>
        </p:spPr>
      </p:sp>
      <p:sp>
        <p:nvSpPr>
          <p:cNvPr id="9" name="Shape 7"/>
          <p:cNvSpPr/>
          <p:nvPr/>
        </p:nvSpPr>
        <p:spPr>
          <a:xfrm>
            <a:off x="6245352" y="1371600"/>
            <a:ext cx="82296" cy="987552"/>
          </a:xfrm>
          <a:prstGeom prst="rect">
            <a:avLst/>
          </a:prstGeom>
          <a:solidFill>
            <a:srgbClr val="00A896"/>
          </a:solidFill>
          <a:ln/>
        </p:spPr>
      </p:sp>
      <p:sp>
        <p:nvSpPr>
          <p:cNvPr id="10" name="Text 8"/>
          <p:cNvSpPr/>
          <p:nvPr/>
        </p:nvSpPr>
        <p:spPr>
          <a:xfrm>
            <a:off x="6473952" y="1444752"/>
            <a:ext cx="4983480" cy="320040"/>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2. Patch Flattening</a:t>
            </a:r>
            <a:endParaRPr lang="en-US" sz="1300" dirty="0"/>
          </a:p>
        </p:txBody>
      </p:sp>
      <p:sp>
        <p:nvSpPr>
          <p:cNvPr id="11" name="Text 9"/>
          <p:cNvSpPr/>
          <p:nvPr/>
        </p:nvSpPr>
        <p:spPr>
          <a:xfrm>
            <a:off x="6473952" y="1773936"/>
            <a:ext cx="4983480" cy="530352"/>
          </a:xfrm>
          <a:prstGeom prst="rect">
            <a:avLst/>
          </a:prstGeom>
          <a:noFill/>
          <a:ln/>
        </p:spPr>
        <p:txBody>
          <a:bodyPr wrap="square" rtlCol="0" anchor="ctr"/>
          <a:lstStyle/>
          <a:p>
            <a:pPr indent="0" marL="0">
              <a:lnSpc>
                <a:spcPts val="1300"/>
              </a:lnSpc>
              <a:buNone/>
            </a:pPr>
            <a:r>
              <a:rPr lang="en-US" sz="1080" dirty="0">
                <a:solidFill>
                  <a:srgbClr val="5C7A80"/>
                </a:solidFill>
                <a:latin typeface="Calibri" pitchFamily="34" charset="0"/>
                <a:ea typeface="Calibri" pitchFamily="34" charset="-122"/>
                <a:cs typeface="Calibri" pitchFamily="34" charset="-120"/>
              </a:rPr>
              <a:t>Each patch is converted into a 1D vector.</a:t>
            </a:r>
            <a:endParaRPr lang="en-US" sz="1080" dirty="0"/>
          </a:p>
        </p:txBody>
      </p:sp>
      <p:sp>
        <p:nvSpPr>
          <p:cNvPr id="12" name="Shape 10"/>
          <p:cNvSpPr/>
          <p:nvPr/>
        </p:nvSpPr>
        <p:spPr>
          <a:xfrm>
            <a:off x="548640" y="2542032"/>
            <a:ext cx="5394960" cy="987552"/>
          </a:xfrm>
          <a:prstGeom prst="roundRect">
            <a:avLst>
              <a:gd name="adj" fmla="val 7407"/>
            </a:avLst>
          </a:prstGeom>
          <a:solidFill>
            <a:srgbClr val="F7FAFA"/>
          </a:solidFill>
          <a:ln w="12700">
            <a:solidFill>
              <a:srgbClr val="DCEBEA"/>
            </a:solidFill>
            <a:prstDash val="solid"/>
          </a:ln>
        </p:spPr>
      </p:sp>
      <p:sp>
        <p:nvSpPr>
          <p:cNvPr id="13" name="Shape 11"/>
          <p:cNvSpPr/>
          <p:nvPr/>
        </p:nvSpPr>
        <p:spPr>
          <a:xfrm>
            <a:off x="548640" y="2542032"/>
            <a:ext cx="82296" cy="987552"/>
          </a:xfrm>
          <a:prstGeom prst="rect">
            <a:avLst/>
          </a:prstGeom>
          <a:solidFill>
            <a:srgbClr val="028090"/>
          </a:solidFill>
          <a:ln/>
        </p:spPr>
      </p:sp>
      <p:sp>
        <p:nvSpPr>
          <p:cNvPr id="14" name="Text 12"/>
          <p:cNvSpPr/>
          <p:nvPr/>
        </p:nvSpPr>
        <p:spPr>
          <a:xfrm>
            <a:off x="777240" y="2615184"/>
            <a:ext cx="4983480" cy="320040"/>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3. Linear Embedding</a:t>
            </a:r>
            <a:endParaRPr lang="en-US" sz="1300" dirty="0"/>
          </a:p>
        </p:txBody>
      </p:sp>
      <p:sp>
        <p:nvSpPr>
          <p:cNvPr id="15" name="Text 13"/>
          <p:cNvSpPr/>
          <p:nvPr/>
        </p:nvSpPr>
        <p:spPr>
          <a:xfrm>
            <a:off x="777240" y="2944368"/>
            <a:ext cx="4983480" cy="530352"/>
          </a:xfrm>
          <a:prstGeom prst="rect">
            <a:avLst/>
          </a:prstGeom>
          <a:noFill/>
          <a:ln/>
        </p:spPr>
        <p:txBody>
          <a:bodyPr wrap="square" rtlCol="0" anchor="ctr"/>
          <a:lstStyle/>
          <a:p>
            <a:pPr indent="0" marL="0">
              <a:lnSpc>
                <a:spcPts val="1300"/>
              </a:lnSpc>
              <a:buNone/>
            </a:pPr>
            <a:r>
              <a:rPr lang="en-US" sz="1080" dirty="0">
                <a:solidFill>
                  <a:srgbClr val="5C7A80"/>
                </a:solidFill>
                <a:latin typeface="Calibri" pitchFamily="34" charset="0"/>
                <a:ea typeface="Calibri" pitchFamily="34" charset="-122"/>
                <a:cs typeface="Calibri" pitchFamily="34" charset="-120"/>
              </a:rPr>
              <a:t>Patch vectors are projected into a constant-size embedding space.</a:t>
            </a:r>
            <a:endParaRPr lang="en-US" sz="1080" dirty="0"/>
          </a:p>
        </p:txBody>
      </p:sp>
      <p:sp>
        <p:nvSpPr>
          <p:cNvPr id="16" name="Shape 14"/>
          <p:cNvSpPr/>
          <p:nvPr/>
        </p:nvSpPr>
        <p:spPr>
          <a:xfrm>
            <a:off x="6245352" y="2542032"/>
            <a:ext cx="5394960" cy="987552"/>
          </a:xfrm>
          <a:prstGeom prst="roundRect">
            <a:avLst>
              <a:gd name="adj" fmla="val 7407"/>
            </a:avLst>
          </a:prstGeom>
          <a:solidFill>
            <a:srgbClr val="F7FAFA"/>
          </a:solidFill>
          <a:ln w="12700">
            <a:solidFill>
              <a:srgbClr val="DCEBEA"/>
            </a:solidFill>
            <a:prstDash val="solid"/>
          </a:ln>
        </p:spPr>
      </p:sp>
      <p:sp>
        <p:nvSpPr>
          <p:cNvPr id="17" name="Shape 15"/>
          <p:cNvSpPr/>
          <p:nvPr/>
        </p:nvSpPr>
        <p:spPr>
          <a:xfrm>
            <a:off x="6245352" y="2542032"/>
            <a:ext cx="82296" cy="987552"/>
          </a:xfrm>
          <a:prstGeom prst="rect">
            <a:avLst/>
          </a:prstGeom>
          <a:solidFill>
            <a:srgbClr val="00A896"/>
          </a:solidFill>
          <a:ln/>
        </p:spPr>
      </p:sp>
      <p:sp>
        <p:nvSpPr>
          <p:cNvPr id="18" name="Text 16"/>
          <p:cNvSpPr/>
          <p:nvPr/>
        </p:nvSpPr>
        <p:spPr>
          <a:xfrm>
            <a:off x="6473952" y="2615184"/>
            <a:ext cx="4983480" cy="320040"/>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4. Positional Embedding</a:t>
            </a:r>
            <a:endParaRPr lang="en-US" sz="1300" dirty="0"/>
          </a:p>
        </p:txBody>
      </p:sp>
      <p:sp>
        <p:nvSpPr>
          <p:cNvPr id="19" name="Text 17"/>
          <p:cNvSpPr/>
          <p:nvPr/>
        </p:nvSpPr>
        <p:spPr>
          <a:xfrm>
            <a:off x="6473952" y="2944368"/>
            <a:ext cx="4983480" cy="530352"/>
          </a:xfrm>
          <a:prstGeom prst="rect">
            <a:avLst/>
          </a:prstGeom>
          <a:noFill/>
          <a:ln/>
        </p:spPr>
        <p:txBody>
          <a:bodyPr wrap="square" rtlCol="0" anchor="ctr"/>
          <a:lstStyle/>
          <a:p>
            <a:pPr indent="0" marL="0">
              <a:lnSpc>
                <a:spcPts val="1300"/>
              </a:lnSpc>
              <a:buNone/>
            </a:pPr>
            <a:r>
              <a:rPr lang="en-US" sz="1080" dirty="0">
                <a:solidFill>
                  <a:srgbClr val="5C7A80"/>
                </a:solidFill>
                <a:latin typeface="Calibri" pitchFamily="34" charset="0"/>
                <a:ea typeface="Calibri" pitchFamily="34" charset="-122"/>
                <a:cs typeface="Calibri" pitchFamily="34" charset="-120"/>
              </a:rPr>
              <a:t>Learnable 1D position information is added to keep spatial order.</a:t>
            </a:r>
            <a:endParaRPr lang="en-US" sz="1080" dirty="0"/>
          </a:p>
        </p:txBody>
      </p:sp>
      <p:sp>
        <p:nvSpPr>
          <p:cNvPr id="20" name="Shape 18"/>
          <p:cNvSpPr/>
          <p:nvPr/>
        </p:nvSpPr>
        <p:spPr>
          <a:xfrm>
            <a:off x="548640" y="3712464"/>
            <a:ext cx="5394960" cy="987552"/>
          </a:xfrm>
          <a:prstGeom prst="roundRect">
            <a:avLst>
              <a:gd name="adj" fmla="val 7407"/>
            </a:avLst>
          </a:prstGeom>
          <a:solidFill>
            <a:srgbClr val="F7FAFA"/>
          </a:solidFill>
          <a:ln w="12700">
            <a:solidFill>
              <a:srgbClr val="DCEBEA"/>
            </a:solidFill>
            <a:prstDash val="solid"/>
          </a:ln>
        </p:spPr>
      </p:sp>
      <p:sp>
        <p:nvSpPr>
          <p:cNvPr id="21" name="Shape 19"/>
          <p:cNvSpPr/>
          <p:nvPr/>
        </p:nvSpPr>
        <p:spPr>
          <a:xfrm>
            <a:off x="548640" y="3712464"/>
            <a:ext cx="82296" cy="987552"/>
          </a:xfrm>
          <a:prstGeom prst="rect">
            <a:avLst/>
          </a:prstGeom>
          <a:solidFill>
            <a:srgbClr val="028090"/>
          </a:solidFill>
          <a:ln/>
        </p:spPr>
      </p:sp>
      <p:sp>
        <p:nvSpPr>
          <p:cNvPr id="22" name="Text 20"/>
          <p:cNvSpPr/>
          <p:nvPr/>
        </p:nvSpPr>
        <p:spPr>
          <a:xfrm>
            <a:off x="777240" y="3785616"/>
            <a:ext cx="4983480" cy="320040"/>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5. Transformer Encoder</a:t>
            </a:r>
            <a:endParaRPr lang="en-US" sz="1300" dirty="0"/>
          </a:p>
        </p:txBody>
      </p:sp>
      <p:sp>
        <p:nvSpPr>
          <p:cNvPr id="23" name="Text 21"/>
          <p:cNvSpPr/>
          <p:nvPr/>
        </p:nvSpPr>
        <p:spPr>
          <a:xfrm>
            <a:off x="777240" y="4114800"/>
            <a:ext cx="4983480" cy="530352"/>
          </a:xfrm>
          <a:prstGeom prst="rect">
            <a:avLst/>
          </a:prstGeom>
          <a:noFill/>
          <a:ln/>
        </p:spPr>
        <p:txBody>
          <a:bodyPr wrap="square" rtlCol="0" anchor="ctr"/>
          <a:lstStyle/>
          <a:p>
            <a:pPr indent="0" marL="0">
              <a:lnSpc>
                <a:spcPts val="1300"/>
              </a:lnSpc>
              <a:buNone/>
            </a:pPr>
            <a:r>
              <a:rPr lang="en-US" sz="1080" dirty="0">
                <a:solidFill>
                  <a:srgbClr val="5C7A80"/>
                </a:solidFill>
                <a:latin typeface="Calibri" pitchFamily="34" charset="0"/>
                <a:ea typeface="Calibri" pitchFamily="34" charset="-122"/>
                <a:cs typeface="Calibri" pitchFamily="34" charset="-120"/>
              </a:rPr>
              <a:t>N encoder layers process the token sequence.</a:t>
            </a:r>
            <a:endParaRPr lang="en-US" sz="1080" dirty="0"/>
          </a:p>
        </p:txBody>
      </p:sp>
      <p:sp>
        <p:nvSpPr>
          <p:cNvPr id="24" name="Shape 22"/>
          <p:cNvSpPr/>
          <p:nvPr/>
        </p:nvSpPr>
        <p:spPr>
          <a:xfrm>
            <a:off x="6245352" y="3712464"/>
            <a:ext cx="5394960" cy="987552"/>
          </a:xfrm>
          <a:prstGeom prst="roundRect">
            <a:avLst>
              <a:gd name="adj" fmla="val 7407"/>
            </a:avLst>
          </a:prstGeom>
          <a:solidFill>
            <a:srgbClr val="F7FAFA"/>
          </a:solidFill>
          <a:ln w="12700">
            <a:solidFill>
              <a:srgbClr val="DCEBEA"/>
            </a:solidFill>
            <a:prstDash val="solid"/>
          </a:ln>
        </p:spPr>
      </p:sp>
      <p:sp>
        <p:nvSpPr>
          <p:cNvPr id="25" name="Shape 23"/>
          <p:cNvSpPr/>
          <p:nvPr/>
        </p:nvSpPr>
        <p:spPr>
          <a:xfrm>
            <a:off x="6245352" y="3712464"/>
            <a:ext cx="82296" cy="987552"/>
          </a:xfrm>
          <a:prstGeom prst="rect">
            <a:avLst/>
          </a:prstGeom>
          <a:solidFill>
            <a:srgbClr val="00A896"/>
          </a:solidFill>
          <a:ln/>
        </p:spPr>
      </p:sp>
      <p:sp>
        <p:nvSpPr>
          <p:cNvPr id="26" name="Text 24"/>
          <p:cNvSpPr/>
          <p:nvPr/>
        </p:nvSpPr>
        <p:spPr>
          <a:xfrm>
            <a:off x="6473952" y="3785616"/>
            <a:ext cx="4983480" cy="320040"/>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6. Multi-Head Self-Attention</a:t>
            </a:r>
            <a:endParaRPr lang="en-US" sz="1300" dirty="0"/>
          </a:p>
        </p:txBody>
      </p:sp>
      <p:sp>
        <p:nvSpPr>
          <p:cNvPr id="27" name="Text 25"/>
          <p:cNvSpPr/>
          <p:nvPr/>
        </p:nvSpPr>
        <p:spPr>
          <a:xfrm>
            <a:off x="6473952" y="4114800"/>
            <a:ext cx="4983480" cy="530352"/>
          </a:xfrm>
          <a:prstGeom prst="rect">
            <a:avLst/>
          </a:prstGeom>
          <a:noFill/>
          <a:ln/>
        </p:spPr>
        <p:txBody>
          <a:bodyPr wrap="square" rtlCol="0" anchor="ctr"/>
          <a:lstStyle/>
          <a:p>
            <a:pPr indent="0" marL="0">
              <a:lnSpc>
                <a:spcPts val="1300"/>
              </a:lnSpc>
              <a:buNone/>
            </a:pPr>
            <a:r>
              <a:rPr lang="en-US" sz="1080" dirty="0">
                <a:solidFill>
                  <a:srgbClr val="5C7A80"/>
                </a:solidFill>
                <a:latin typeface="Calibri" pitchFamily="34" charset="0"/>
                <a:ea typeface="Calibri" pitchFamily="34" charset="-122"/>
                <a:cs typeface="Calibri" pitchFamily="34" charset="-120"/>
              </a:rPr>
              <a:t>The model learns relationships between different image regions.</a:t>
            </a:r>
            <a:endParaRPr lang="en-US" sz="1080" dirty="0"/>
          </a:p>
        </p:txBody>
      </p:sp>
      <p:sp>
        <p:nvSpPr>
          <p:cNvPr id="28" name="Shape 26"/>
          <p:cNvSpPr/>
          <p:nvPr/>
        </p:nvSpPr>
        <p:spPr>
          <a:xfrm>
            <a:off x="548640" y="4882896"/>
            <a:ext cx="5394960" cy="987552"/>
          </a:xfrm>
          <a:prstGeom prst="roundRect">
            <a:avLst>
              <a:gd name="adj" fmla="val 7407"/>
            </a:avLst>
          </a:prstGeom>
          <a:solidFill>
            <a:srgbClr val="F7FAFA"/>
          </a:solidFill>
          <a:ln w="12700">
            <a:solidFill>
              <a:srgbClr val="DCEBEA"/>
            </a:solidFill>
            <a:prstDash val="solid"/>
          </a:ln>
        </p:spPr>
      </p:sp>
      <p:sp>
        <p:nvSpPr>
          <p:cNvPr id="29" name="Shape 27"/>
          <p:cNvSpPr/>
          <p:nvPr/>
        </p:nvSpPr>
        <p:spPr>
          <a:xfrm>
            <a:off x="548640" y="4882896"/>
            <a:ext cx="82296" cy="987552"/>
          </a:xfrm>
          <a:prstGeom prst="rect">
            <a:avLst/>
          </a:prstGeom>
          <a:solidFill>
            <a:srgbClr val="028090"/>
          </a:solidFill>
          <a:ln/>
        </p:spPr>
      </p:sp>
      <p:sp>
        <p:nvSpPr>
          <p:cNvPr id="30" name="Text 28"/>
          <p:cNvSpPr/>
          <p:nvPr/>
        </p:nvSpPr>
        <p:spPr>
          <a:xfrm>
            <a:off x="777240" y="4956048"/>
            <a:ext cx="4983480" cy="320040"/>
          </a:xfrm>
          <a:prstGeom prst="rect">
            <a:avLst/>
          </a:prstGeom>
          <a:noFill/>
          <a:ln/>
        </p:spPr>
        <p:txBody>
          <a:bodyPr wrap="square" rtlCol="0" anchor="ctr"/>
          <a:lstStyle/>
          <a:p>
            <a:pPr indent="0" marL="0">
              <a:buNone/>
            </a:pPr>
            <a:r>
              <a:rPr lang="en-US" sz="1300" b="1" dirty="0">
                <a:solidFill>
                  <a:srgbClr val="16323A"/>
                </a:solidFill>
                <a:latin typeface="Calibri" pitchFamily="34" charset="0"/>
                <a:ea typeface="Calibri" pitchFamily="34" charset="-122"/>
                <a:cs typeface="Calibri" pitchFamily="34" charset="-120"/>
              </a:rPr>
              <a:t>7. Classification</a:t>
            </a:r>
            <a:endParaRPr lang="en-US" sz="1300" dirty="0"/>
          </a:p>
        </p:txBody>
      </p:sp>
      <p:sp>
        <p:nvSpPr>
          <p:cNvPr id="31" name="Text 29"/>
          <p:cNvSpPr/>
          <p:nvPr/>
        </p:nvSpPr>
        <p:spPr>
          <a:xfrm>
            <a:off x="777240" y="5285232"/>
            <a:ext cx="4983480" cy="530352"/>
          </a:xfrm>
          <a:prstGeom prst="rect">
            <a:avLst/>
          </a:prstGeom>
          <a:noFill/>
          <a:ln/>
        </p:spPr>
        <p:txBody>
          <a:bodyPr wrap="square" rtlCol="0" anchor="ctr"/>
          <a:lstStyle/>
          <a:p>
            <a:pPr indent="0" marL="0">
              <a:lnSpc>
                <a:spcPts val="1300"/>
              </a:lnSpc>
              <a:buNone/>
            </a:pPr>
            <a:r>
              <a:rPr lang="en-US" sz="1080" dirty="0">
                <a:solidFill>
                  <a:srgbClr val="5C7A80"/>
                </a:solidFill>
                <a:latin typeface="Calibri" pitchFamily="34" charset="0"/>
                <a:ea typeface="Calibri" pitchFamily="34" charset="-122"/>
                <a:cs typeface="Calibri" pitchFamily="34" charset="-120"/>
              </a:rPr>
              <a:t>The final representation is passed to the classification block → softmax.</a:t>
            </a:r>
            <a:endParaRPr lang="en-US" sz="1080" dirty="0"/>
          </a:p>
        </p:txBody>
      </p:sp>
      <p:sp>
        <p:nvSpPr>
          <p:cNvPr id="32" name="Text 30"/>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33" name="Text 31"/>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8 (CONT.)</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2800" b="1" dirty="0">
                <a:solidFill>
                  <a:srgbClr val="16323A"/>
                </a:solidFill>
                <a:latin typeface="Cambria" pitchFamily="34" charset="0"/>
                <a:ea typeface="Cambria" pitchFamily="34" charset="-122"/>
                <a:cs typeface="Cambria" pitchFamily="34" charset="-120"/>
              </a:rPr>
              <a:t>Multi-Head Self-Attention</a:t>
            </a:r>
            <a:endParaRPr lang="en-US" sz="2800" dirty="0"/>
          </a:p>
        </p:txBody>
      </p:sp>
      <p:sp>
        <p:nvSpPr>
          <p:cNvPr id="4" name="Text 2"/>
          <p:cNvSpPr/>
          <p:nvPr/>
        </p:nvSpPr>
        <p:spPr>
          <a:xfrm>
            <a:off x="548640" y="1371600"/>
            <a:ext cx="5486400" cy="4206240"/>
          </a:xfrm>
          <a:prstGeom prst="rect">
            <a:avLst/>
          </a:prstGeom>
          <a:noFill/>
          <a:ln/>
        </p:spPr>
        <p:txBody>
          <a:bodyPr wrap="square" lIns="0" tIns="0" rIns="0" bIns="0" rtlCol="0" anchor="t"/>
          <a:lstStyle/>
          <a:p>
            <a:pPr marL="177800" indent="-177800">
              <a:spcAft>
                <a:spcPts val="1200"/>
              </a:spcAft>
              <a:buSzPct val="100000"/>
              <a:buChar char="•"/>
            </a:pPr>
            <a:r>
              <a:rPr lang="en-US" sz="1250" dirty="0">
                <a:solidFill>
                  <a:srgbClr val="16323A"/>
                </a:solidFill>
                <a:latin typeface="Calibri" pitchFamily="34" charset="0"/>
                <a:ea typeface="Calibri" pitchFamily="34" charset="-122"/>
                <a:cs typeface="Calibri" pitchFamily="34" charset="-120"/>
              </a:rPr>
              <a:t>Query (Q), Key (K), Value (V) are obtained by multiplying the patch-token embedding by three learned weight matrices.</a:t>
            </a:r>
            <a:endParaRPr lang="en-US" sz="1250" dirty="0"/>
          </a:p>
          <a:p>
            <a:pPr marL="177800" indent="-177800">
              <a:spcAft>
                <a:spcPts val="1200"/>
              </a:spcAft>
              <a:buSzPct val="100000"/>
              <a:buChar char="•"/>
            </a:pPr>
            <a:r>
              <a:rPr lang="en-US" sz="1250" dirty="0">
                <a:solidFill>
                  <a:srgbClr val="16323A"/>
                </a:solidFill>
                <a:latin typeface="Calibri" pitchFamily="34" charset="0"/>
                <a:ea typeface="Calibri" pitchFamily="34" charset="-122"/>
                <a:cs typeface="Calibri" pitchFamily="34" charset="-120"/>
              </a:rPr>
              <a:t>A compatibility score between Q and K decides how much attention each patch pays to every other patch.</a:t>
            </a:r>
            <a:endParaRPr lang="en-US" sz="1250" dirty="0"/>
          </a:p>
          <a:p>
            <a:pPr marL="177800" indent="-177800">
              <a:spcAft>
                <a:spcPts val="1200"/>
              </a:spcAft>
              <a:buSzPct val="100000"/>
              <a:buChar char="•"/>
            </a:pPr>
            <a:r>
              <a:rPr lang="en-US" sz="1250" dirty="0">
                <a:solidFill>
                  <a:srgbClr val="16323A"/>
                </a:solidFill>
                <a:latin typeface="Calibri" pitchFamily="34" charset="0"/>
                <a:ea typeface="Calibri" pitchFamily="34" charset="-122"/>
                <a:cs typeface="Calibri" pitchFamily="34" charset="-120"/>
              </a:rPr>
              <a:t>Scores are scaled by √dk for stable gradients, then passed through softmax so weights sum to 1.</a:t>
            </a:r>
            <a:endParaRPr lang="en-US" sz="1250" dirty="0"/>
          </a:p>
          <a:p>
            <a:pPr marL="177800" indent="-177800">
              <a:spcAft>
                <a:spcPts val="1200"/>
              </a:spcAft>
              <a:buSzPct val="100000"/>
              <a:buChar char="•"/>
            </a:pPr>
            <a:r>
              <a:rPr lang="en-US" sz="1250" dirty="0">
                <a:solidFill>
                  <a:srgbClr val="16323A"/>
                </a:solidFill>
                <a:latin typeface="Calibri" pitchFamily="34" charset="0"/>
                <a:ea typeface="Calibri" pitchFamily="34" charset="-122"/>
                <a:cs typeface="Calibri" pitchFamily="34" charset="-120"/>
              </a:rPr>
              <a:t>The weighted sum of V vectors is the attention output for that patch.</a:t>
            </a:r>
            <a:endParaRPr lang="en-US" sz="1250" dirty="0"/>
          </a:p>
          <a:p>
            <a:pPr marL="177800" indent="-177800">
              <a:spcAft>
                <a:spcPts val="1200"/>
              </a:spcAft>
              <a:buSzPct val="100000"/>
              <a:buChar char="•"/>
            </a:pPr>
            <a:r>
              <a:rPr lang="en-US" sz="1250" dirty="0">
                <a:solidFill>
                  <a:srgbClr val="16323A"/>
                </a:solidFill>
                <a:latin typeface="Calibri" pitchFamily="34" charset="0"/>
                <a:ea typeface="Calibri" pitchFamily="34" charset="-122"/>
                <a:cs typeface="Calibri" pitchFamily="34" charset="-120"/>
              </a:rPr>
              <a:t>Multi-head attention repeats this in parallel (paper uses 12 or 16 heads) so the model can capture different types of relationships at once.</a:t>
            </a:r>
            <a:endParaRPr lang="en-US" sz="1250" dirty="0"/>
          </a:p>
        </p:txBody>
      </p:sp>
      <p:sp>
        <p:nvSpPr>
          <p:cNvPr id="5" name="Shape 3"/>
          <p:cNvSpPr/>
          <p:nvPr/>
        </p:nvSpPr>
        <p:spPr>
          <a:xfrm>
            <a:off x="6355080" y="1371600"/>
            <a:ext cx="5285232" cy="1920240"/>
          </a:xfrm>
          <a:prstGeom prst="roundRect">
            <a:avLst>
              <a:gd name="adj" fmla="val 4762"/>
            </a:avLst>
          </a:prstGeom>
          <a:solidFill>
            <a:srgbClr val="0B2E33"/>
          </a:solidFill>
          <a:ln/>
        </p:spPr>
      </p:sp>
      <p:sp>
        <p:nvSpPr>
          <p:cNvPr id="6" name="Text 4"/>
          <p:cNvSpPr/>
          <p:nvPr/>
        </p:nvSpPr>
        <p:spPr>
          <a:xfrm>
            <a:off x="6537960" y="1508760"/>
            <a:ext cx="4937760" cy="274320"/>
          </a:xfrm>
          <a:prstGeom prst="rect">
            <a:avLst/>
          </a:prstGeom>
          <a:noFill/>
          <a:ln/>
        </p:spPr>
        <p:txBody>
          <a:bodyPr wrap="square" rtlCol="0" anchor="ctr"/>
          <a:lstStyle/>
          <a:p>
            <a:pPr indent="0" marL="0">
              <a:buNone/>
            </a:pPr>
            <a:r>
              <a:rPr lang="en-US" sz="1050" b="1" spc="100" kern="0" dirty="0">
                <a:solidFill>
                  <a:srgbClr val="02C39A"/>
                </a:solidFill>
                <a:latin typeface="Calibri" pitchFamily="34" charset="0"/>
                <a:ea typeface="Calibri" pitchFamily="34" charset="-122"/>
                <a:cs typeface="Calibri" pitchFamily="34" charset="-120"/>
              </a:rPr>
              <a:t>SCALED DOT-PRODUCT ATTENTION  (Eq. 1)</a:t>
            </a:r>
            <a:endParaRPr lang="en-US" sz="1050" dirty="0"/>
          </a:p>
        </p:txBody>
      </p:sp>
      <p:sp>
        <p:nvSpPr>
          <p:cNvPr id="7" name="Text 5"/>
          <p:cNvSpPr/>
          <p:nvPr/>
        </p:nvSpPr>
        <p:spPr>
          <a:xfrm>
            <a:off x="6537960" y="1920240"/>
            <a:ext cx="4937760" cy="36576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Attention(Q, K, V) = softmax</a:t>
            </a:r>
            <a:endParaRPr lang="en-US" sz="1700" dirty="0"/>
          </a:p>
        </p:txBody>
      </p:sp>
      <p:sp>
        <p:nvSpPr>
          <p:cNvPr id="8" name="Text 6"/>
          <p:cNvSpPr/>
          <p:nvPr/>
        </p:nvSpPr>
        <p:spPr>
          <a:xfrm>
            <a:off x="6537960" y="2286000"/>
            <a:ext cx="4937760" cy="320040"/>
          </a:xfrm>
          <a:prstGeom prst="rect">
            <a:avLst/>
          </a:prstGeom>
          <a:noFill/>
          <a:ln/>
        </p:spPr>
        <p:txBody>
          <a:bodyPr wrap="square" lIns="0" tIns="0" rIns="0" bIns="0" rtlCol="0" anchor="ctr"/>
          <a:lstStyle/>
          <a:p>
            <a:pPr algn="ctr" indent="0" marL="0">
              <a:buNone/>
            </a:pPr>
            <a:r>
              <a:rPr lang="en-US" sz="1500" b="1" dirty="0">
                <a:solidFill>
                  <a:srgbClr val="FFFFFF"/>
                </a:solidFill>
              </a:rPr>
              <a:t>QK</a:t>
            </a:r>
            <a:pPr algn="ctr" indent="0" marL="0">
              <a:buNone/>
            </a:pPr>
            <a:r>
              <a:rPr lang="en-US" sz="1000" b="1" baseline="30000" dirty="0">
                <a:solidFill>
                  <a:srgbClr val="FFFFFF"/>
                </a:solidFill>
              </a:rPr>
              <a:t>T</a:t>
            </a:r>
            <a:pPr algn="ctr" indent="0" marL="0">
              <a:buNone/>
            </a:pPr>
            <a:r>
              <a:rPr lang="en-US" sz="1500" b="1" dirty="0">
                <a:solidFill>
                  <a:srgbClr val="FFFFFF"/>
                </a:solidFill>
              </a:rPr>
              <a:t>  ⁄  √dk</a:t>
            </a:r>
            <a:endParaRPr lang="en-US" sz="1500" dirty="0"/>
          </a:p>
        </p:txBody>
      </p:sp>
      <p:sp>
        <p:nvSpPr>
          <p:cNvPr id="9" name="Text 7"/>
          <p:cNvSpPr/>
          <p:nvPr/>
        </p:nvSpPr>
        <p:spPr>
          <a:xfrm>
            <a:off x="6537960" y="2587752"/>
            <a:ext cx="4937760" cy="256032"/>
          </a:xfrm>
          <a:prstGeom prst="rect">
            <a:avLst/>
          </a:prstGeom>
          <a:noFill/>
          <a:ln/>
        </p:spPr>
        <p:txBody>
          <a:bodyPr wrap="square" rtlCol="0" anchor="ctr"/>
          <a:lstStyle/>
          <a:p>
            <a:pPr algn="ctr" indent="0" marL="0">
              <a:buNone/>
            </a:pPr>
            <a:r>
              <a:rPr lang="en-US" sz="1100" i="1" dirty="0">
                <a:solidFill>
                  <a:srgbClr val="9FD3D0"/>
                </a:solidFill>
                <a:latin typeface="Calibri" pitchFamily="34" charset="0"/>
                <a:ea typeface="Calibri" pitchFamily="34" charset="-122"/>
                <a:cs typeface="Calibri" pitchFamily="34" charset="-120"/>
              </a:rPr>
              <a:t>( multiplied by V )</a:t>
            </a:r>
            <a:endParaRPr lang="en-US" sz="1100" dirty="0"/>
          </a:p>
        </p:txBody>
      </p:sp>
      <p:sp>
        <p:nvSpPr>
          <p:cNvPr id="10" name="Text 8"/>
          <p:cNvSpPr/>
          <p:nvPr/>
        </p:nvSpPr>
        <p:spPr>
          <a:xfrm>
            <a:off x="6537960" y="2880360"/>
            <a:ext cx="4937760" cy="320040"/>
          </a:xfrm>
          <a:prstGeom prst="rect">
            <a:avLst/>
          </a:prstGeom>
          <a:noFill/>
          <a:ln/>
        </p:spPr>
        <p:txBody>
          <a:bodyPr wrap="square" rtlCol="0" anchor="ctr"/>
          <a:lstStyle/>
          <a:p>
            <a:pPr algn="ctr" indent="0" marL="0">
              <a:lnSpc>
                <a:spcPts val="1200"/>
              </a:lnSpc>
              <a:buNone/>
            </a:pPr>
            <a:r>
              <a:rPr lang="en-US" sz="950" dirty="0">
                <a:solidFill>
                  <a:srgbClr val="9FD3D0"/>
                </a:solidFill>
                <a:latin typeface="Calibri" pitchFamily="34" charset="0"/>
                <a:ea typeface="Calibri" pitchFamily="34" charset="-122"/>
                <a:cs typeface="Calibri" pitchFamily="34" charset="-120"/>
              </a:rPr>
              <a:t>dk = dimension of the key vectors  ·  Q, K, V come from input X via learned weights</a:t>
            </a:r>
            <a:endParaRPr lang="en-US" sz="950" dirty="0"/>
          </a:p>
        </p:txBody>
      </p:sp>
      <p:sp>
        <p:nvSpPr>
          <p:cNvPr id="11" name="Shape 9"/>
          <p:cNvSpPr/>
          <p:nvPr/>
        </p:nvSpPr>
        <p:spPr>
          <a:xfrm>
            <a:off x="6355080" y="3520440"/>
            <a:ext cx="5285232" cy="2057400"/>
          </a:xfrm>
          <a:prstGeom prst="roundRect">
            <a:avLst>
              <a:gd name="adj" fmla="val 4444"/>
            </a:avLst>
          </a:prstGeom>
          <a:solidFill>
            <a:srgbClr val="F7FAFA"/>
          </a:solidFill>
          <a:ln w="12700">
            <a:solidFill>
              <a:srgbClr val="DCEBEA"/>
            </a:solidFill>
            <a:prstDash val="solid"/>
          </a:ln>
        </p:spPr>
      </p:sp>
      <p:sp>
        <p:nvSpPr>
          <p:cNvPr id="12" name="Text 10"/>
          <p:cNvSpPr/>
          <p:nvPr/>
        </p:nvSpPr>
        <p:spPr>
          <a:xfrm>
            <a:off x="6537960" y="3657600"/>
            <a:ext cx="4937760" cy="274320"/>
          </a:xfrm>
          <a:prstGeom prst="rect">
            <a:avLst/>
          </a:prstGeom>
          <a:noFill/>
          <a:ln/>
        </p:spPr>
        <p:txBody>
          <a:bodyPr wrap="square"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MULTI-HEAD SELF-ATTENTION  (Eq. 2)</a:t>
            </a:r>
            <a:endParaRPr lang="en-US" sz="1050" dirty="0"/>
          </a:p>
        </p:txBody>
      </p:sp>
      <p:sp>
        <p:nvSpPr>
          <p:cNvPr id="13" name="Text 11"/>
          <p:cNvSpPr/>
          <p:nvPr/>
        </p:nvSpPr>
        <p:spPr>
          <a:xfrm>
            <a:off x="6537960" y="3986784"/>
            <a:ext cx="4937760" cy="365760"/>
          </a:xfrm>
          <a:prstGeom prst="rect">
            <a:avLst/>
          </a:prstGeom>
          <a:noFill/>
          <a:ln/>
        </p:spPr>
        <p:txBody>
          <a:bodyPr wrap="square" rtlCol="0" anchor="ctr"/>
          <a:lstStyle/>
          <a:p>
            <a:pPr algn="ctr" indent="0" marL="0">
              <a:buNone/>
            </a:pPr>
            <a:r>
              <a:rPr lang="en-US" sz="1450" b="1" dirty="0">
                <a:solidFill>
                  <a:srgbClr val="16323A"/>
                </a:solidFill>
                <a:latin typeface="Calibri" pitchFamily="34" charset="0"/>
                <a:ea typeface="Calibri" pitchFamily="34" charset="-122"/>
                <a:cs typeface="Calibri" pitchFamily="34" charset="-120"/>
              </a:rPr>
              <a:t>MultiHead(Q,K,V) = Concat(head₁, ..., headₕ) Wᴼ</a:t>
            </a:r>
            <a:endParaRPr lang="en-US" sz="1450" dirty="0"/>
          </a:p>
        </p:txBody>
      </p:sp>
      <p:sp>
        <p:nvSpPr>
          <p:cNvPr id="14" name="Text 12"/>
          <p:cNvSpPr/>
          <p:nvPr/>
        </p:nvSpPr>
        <p:spPr>
          <a:xfrm>
            <a:off x="6537960" y="4407408"/>
            <a:ext cx="4937760" cy="365760"/>
          </a:xfrm>
          <a:prstGeom prst="rect">
            <a:avLst/>
          </a:prstGeom>
          <a:noFill/>
          <a:ln/>
        </p:spPr>
        <p:txBody>
          <a:bodyPr wrap="square" rtlCol="0" anchor="ctr"/>
          <a:lstStyle/>
          <a:p>
            <a:pPr algn="ctr" indent="0" marL="0">
              <a:buNone/>
            </a:pPr>
            <a:r>
              <a:rPr lang="en-US" sz="1250" dirty="0">
                <a:solidFill>
                  <a:srgbClr val="16323A"/>
                </a:solidFill>
                <a:latin typeface="Calibri" pitchFamily="34" charset="0"/>
                <a:ea typeface="Calibri" pitchFamily="34" charset="-122"/>
                <a:cs typeface="Calibri" pitchFamily="34" charset="-120"/>
              </a:rPr>
              <a:t>where headᵢ = Attention(QWᵢQ, KWᵢK, VWᵢV)</a:t>
            </a:r>
            <a:endParaRPr lang="en-US" sz="1250" dirty="0"/>
          </a:p>
        </p:txBody>
      </p:sp>
      <p:sp>
        <p:nvSpPr>
          <p:cNvPr id="15" name="Text 13"/>
          <p:cNvSpPr/>
          <p:nvPr/>
        </p:nvSpPr>
        <p:spPr>
          <a:xfrm>
            <a:off x="6537960" y="4892040"/>
            <a:ext cx="4937760" cy="594360"/>
          </a:xfrm>
          <a:prstGeom prst="rect">
            <a:avLst/>
          </a:prstGeom>
          <a:noFill/>
          <a:ln/>
        </p:spPr>
        <p:txBody>
          <a:bodyPr wrap="square" rtlCol="0" anchor="ctr"/>
          <a:lstStyle/>
          <a:p>
            <a:pPr indent="0" marL="0">
              <a:lnSpc>
                <a:spcPts val="1300"/>
              </a:lnSpc>
              <a:buNone/>
            </a:pPr>
            <a:r>
              <a:rPr lang="en-US" sz="1050" i="1" dirty="0">
                <a:solidFill>
                  <a:srgbClr val="5C7A80"/>
                </a:solidFill>
                <a:latin typeface="Calibri" pitchFamily="34" charset="0"/>
                <a:ea typeface="Calibri" pitchFamily="34" charset="-122"/>
                <a:cs typeface="Calibri" pitchFamily="34" charset="-120"/>
              </a:rPr>
              <a:t>In plain words: multi-head self-attention lets the model learn several different relationships between image patches at the same time, instead of just one.</a:t>
            </a:r>
            <a:endParaRPr lang="en-US" sz="1050" dirty="0"/>
          </a:p>
        </p:txBody>
      </p:sp>
      <p:sp>
        <p:nvSpPr>
          <p:cNvPr id="16" name="Text 14"/>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17" name="Text 15"/>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9</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Dataset: HAM10000</a:t>
            </a:r>
            <a:endParaRPr lang="en-US" sz="3000" dirty="0"/>
          </a:p>
        </p:txBody>
      </p:sp>
      <p:sp>
        <p:nvSpPr>
          <p:cNvPr id="4" name="Shape 2"/>
          <p:cNvSpPr/>
          <p:nvPr/>
        </p:nvSpPr>
        <p:spPr>
          <a:xfrm>
            <a:off x="548640" y="1371600"/>
            <a:ext cx="3520440" cy="1691640"/>
          </a:xfrm>
          <a:prstGeom prst="roundRect">
            <a:avLst>
              <a:gd name="adj" fmla="val 5405"/>
            </a:avLst>
          </a:prstGeom>
          <a:solidFill>
            <a:srgbClr val="028090"/>
          </a:solidFill>
          <a:ln/>
        </p:spPr>
      </p:sp>
      <p:sp>
        <p:nvSpPr>
          <p:cNvPr id="5" name="Text 3"/>
          <p:cNvSpPr/>
          <p:nvPr/>
        </p:nvSpPr>
        <p:spPr>
          <a:xfrm>
            <a:off x="731520" y="1481328"/>
            <a:ext cx="3108960" cy="5943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10,015</a:t>
            </a:r>
            <a:endParaRPr lang="en-US" sz="3400" dirty="0"/>
          </a:p>
        </p:txBody>
      </p:sp>
      <p:sp>
        <p:nvSpPr>
          <p:cNvPr id="6" name="Text 4"/>
          <p:cNvSpPr/>
          <p:nvPr/>
        </p:nvSpPr>
        <p:spPr>
          <a:xfrm>
            <a:off x="731520" y="2084832"/>
            <a:ext cx="3108960" cy="822960"/>
          </a:xfrm>
          <a:prstGeom prst="rect">
            <a:avLst/>
          </a:prstGeom>
          <a:noFill/>
          <a:ln/>
        </p:spPr>
        <p:txBody>
          <a:bodyPr wrap="square" rtlCol="0" anchor="ctr"/>
          <a:lstStyle/>
          <a:p>
            <a:pPr indent="0" marL="0">
              <a:lnSpc>
                <a:spcPts val="1400"/>
              </a:lnSpc>
              <a:buNone/>
            </a:pPr>
            <a:r>
              <a:rPr lang="en-US" sz="1150" dirty="0">
                <a:solidFill>
                  <a:srgbClr val="E5F6F4"/>
                </a:solidFill>
                <a:latin typeface="Calibri" pitchFamily="34" charset="0"/>
                <a:ea typeface="Calibri" pitchFamily="34" charset="-122"/>
                <a:cs typeface="Calibri" pitchFamily="34" charset="-120"/>
              </a:rPr>
              <a:t>dermoscopic images, 450×600 px, from ISIC</a:t>
            </a:r>
            <a:endParaRPr lang="en-US" sz="1150" dirty="0"/>
          </a:p>
        </p:txBody>
      </p:sp>
      <p:sp>
        <p:nvSpPr>
          <p:cNvPr id="7" name="Shape 5"/>
          <p:cNvSpPr/>
          <p:nvPr/>
        </p:nvSpPr>
        <p:spPr>
          <a:xfrm>
            <a:off x="4206240" y="1371600"/>
            <a:ext cx="3520440" cy="1691640"/>
          </a:xfrm>
          <a:prstGeom prst="roundRect">
            <a:avLst>
              <a:gd name="adj" fmla="val 5405"/>
            </a:avLst>
          </a:prstGeom>
          <a:solidFill>
            <a:srgbClr val="00A896"/>
          </a:solidFill>
          <a:ln/>
        </p:spPr>
      </p:sp>
      <p:sp>
        <p:nvSpPr>
          <p:cNvPr id="8" name="Text 6"/>
          <p:cNvSpPr/>
          <p:nvPr/>
        </p:nvSpPr>
        <p:spPr>
          <a:xfrm>
            <a:off x="4389120" y="1481328"/>
            <a:ext cx="3108960" cy="5943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9" name="Text 7"/>
          <p:cNvSpPr/>
          <p:nvPr/>
        </p:nvSpPr>
        <p:spPr>
          <a:xfrm>
            <a:off x="4389120" y="2084832"/>
            <a:ext cx="3108960" cy="822960"/>
          </a:xfrm>
          <a:prstGeom prst="rect">
            <a:avLst/>
          </a:prstGeom>
          <a:noFill/>
          <a:ln/>
        </p:spPr>
        <p:txBody>
          <a:bodyPr wrap="square" rtlCol="0" anchor="ctr"/>
          <a:lstStyle/>
          <a:p>
            <a:pPr indent="0" marL="0">
              <a:lnSpc>
                <a:spcPts val="1400"/>
              </a:lnSpc>
              <a:buNone/>
            </a:pPr>
            <a:r>
              <a:rPr lang="en-US" sz="1150" dirty="0">
                <a:solidFill>
                  <a:srgbClr val="E5F6F4"/>
                </a:solidFill>
                <a:latin typeface="Calibri" pitchFamily="34" charset="0"/>
                <a:ea typeface="Calibri" pitchFamily="34" charset="-122"/>
                <a:cs typeface="Calibri" pitchFamily="34" charset="-120"/>
              </a:rPr>
              <a:t>skin-lesion classes, highly imbalanced by count</a:t>
            </a:r>
            <a:endParaRPr lang="en-US" sz="1150" dirty="0"/>
          </a:p>
        </p:txBody>
      </p:sp>
      <p:sp>
        <p:nvSpPr>
          <p:cNvPr id="10" name="Shape 8"/>
          <p:cNvSpPr/>
          <p:nvPr/>
        </p:nvSpPr>
        <p:spPr>
          <a:xfrm>
            <a:off x="7863840" y="1371600"/>
            <a:ext cx="3776472" cy="1691640"/>
          </a:xfrm>
          <a:prstGeom prst="roundRect">
            <a:avLst>
              <a:gd name="adj" fmla="val 5405"/>
            </a:avLst>
          </a:prstGeom>
          <a:solidFill>
            <a:srgbClr val="F4A261"/>
          </a:solidFill>
          <a:ln/>
        </p:spPr>
      </p:sp>
      <p:sp>
        <p:nvSpPr>
          <p:cNvPr id="11" name="Text 9"/>
          <p:cNvSpPr/>
          <p:nvPr/>
        </p:nvSpPr>
        <p:spPr>
          <a:xfrm>
            <a:off x="8046720" y="1481328"/>
            <a:ext cx="34290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70.5% → 91.4%</a:t>
            </a:r>
            <a:endParaRPr lang="en-US" sz="2600" dirty="0"/>
          </a:p>
        </p:txBody>
      </p:sp>
      <p:sp>
        <p:nvSpPr>
          <p:cNvPr id="12" name="Text 10"/>
          <p:cNvSpPr/>
          <p:nvPr/>
        </p:nvSpPr>
        <p:spPr>
          <a:xfrm>
            <a:off x="8046720" y="2084832"/>
            <a:ext cx="3429000" cy="822960"/>
          </a:xfrm>
          <a:prstGeom prst="rect">
            <a:avLst/>
          </a:prstGeom>
          <a:noFill/>
          <a:ln/>
        </p:spPr>
        <p:txBody>
          <a:bodyPr wrap="square" rtlCol="0" anchor="ctr"/>
          <a:lstStyle/>
          <a:p>
            <a:pPr indent="0" marL="0">
              <a:lnSpc>
                <a:spcPts val="1400"/>
              </a:lnSpc>
              <a:buNone/>
            </a:pPr>
            <a:r>
              <a:rPr lang="en-US" sz="1150" dirty="0">
                <a:solidFill>
                  <a:srgbClr val="FBEFE1"/>
                </a:solidFill>
                <a:latin typeface="Calibri" pitchFamily="34" charset="0"/>
                <a:ea typeface="Calibri" pitchFamily="34" charset="-122"/>
                <a:cs typeface="Calibri" pitchFamily="34" charset="-120"/>
              </a:rPr>
              <a:t>accuracy before vs. after oversampling (ViTfSCD-B)</a:t>
            </a:r>
            <a:endParaRPr lang="en-US" sz="1150" dirty="0"/>
          </a:p>
        </p:txBody>
      </p:sp>
      <p:sp>
        <p:nvSpPr>
          <p:cNvPr id="13" name="Text 11"/>
          <p:cNvSpPr/>
          <p:nvPr/>
        </p:nvSpPr>
        <p:spPr>
          <a:xfrm>
            <a:off x="548640" y="3246120"/>
            <a:ext cx="5486400" cy="274320"/>
          </a:xfrm>
          <a:prstGeom prst="rect">
            <a:avLst/>
          </a:prstGeom>
          <a:noFill/>
          <a:ln/>
        </p:spPr>
        <p:txBody>
          <a:bodyPr wrap="square" rtlCol="0" anchor="ctr"/>
          <a:lstStyle/>
          <a:p>
            <a:pPr indent="0" marL="0">
              <a:buNone/>
            </a:pPr>
            <a:r>
              <a:rPr lang="en-US" sz="1150" b="1" dirty="0">
                <a:solidFill>
                  <a:srgbClr val="16323A"/>
                </a:solidFill>
                <a:latin typeface="Calibri" pitchFamily="34" charset="0"/>
                <a:ea typeface="Calibri" pitchFamily="34" charset="-122"/>
                <a:cs typeface="Calibri" pitchFamily="34" charset="-120"/>
              </a:rPr>
              <a:t>Original class counts (imbalanced):</a:t>
            </a:r>
            <a:endParaRPr lang="en-US" sz="1150" dirty="0"/>
          </a:p>
        </p:txBody>
      </p:sp>
      <p:sp>
        <p:nvSpPr>
          <p:cNvPr id="14" name="Shape 12"/>
          <p:cNvSpPr/>
          <p:nvPr/>
        </p:nvSpPr>
        <p:spPr>
          <a:xfrm>
            <a:off x="548640" y="3566160"/>
            <a:ext cx="1529661" cy="685800"/>
          </a:xfrm>
          <a:prstGeom prst="rect">
            <a:avLst/>
          </a:prstGeom>
          <a:solidFill>
            <a:srgbClr val="F7FAFA"/>
          </a:solidFill>
          <a:ln/>
        </p:spPr>
      </p:sp>
      <p:sp>
        <p:nvSpPr>
          <p:cNvPr id="15" name="Text 13"/>
          <p:cNvSpPr/>
          <p:nvPr/>
        </p:nvSpPr>
        <p:spPr>
          <a:xfrm>
            <a:off x="548640" y="3611880"/>
            <a:ext cx="1529661" cy="256032"/>
          </a:xfrm>
          <a:prstGeom prst="rect">
            <a:avLst/>
          </a:prstGeom>
          <a:noFill/>
          <a:ln/>
        </p:spPr>
        <p:txBody>
          <a:bodyPr wrap="square"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AKIEC</a:t>
            </a:r>
            <a:endParaRPr lang="en-US" sz="1050" dirty="0"/>
          </a:p>
        </p:txBody>
      </p:sp>
      <p:sp>
        <p:nvSpPr>
          <p:cNvPr id="16" name="Text 14"/>
          <p:cNvSpPr/>
          <p:nvPr/>
        </p:nvSpPr>
        <p:spPr>
          <a:xfrm>
            <a:off x="548640" y="3858768"/>
            <a:ext cx="1529661" cy="320040"/>
          </a:xfrm>
          <a:prstGeom prst="rect">
            <a:avLst/>
          </a:prstGeom>
          <a:noFill/>
          <a:ln/>
        </p:spPr>
        <p:txBody>
          <a:bodyPr wrap="square" rtlCol="0" anchor="ctr"/>
          <a:lstStyle/>
          <a:p>
            <a:pPr algn="ctr" indent="0" marL="0">
              <a:buNone/>
            </a:pPr>
            <a:r>
              <a:rPr lang="en-US" sz="1250" b="1" dirty="0">
                <a:solidFill>
                  <a:srgbClr val="16323A"/>
                </a:solidFill>
                <a:latin typeface="Calibri" pitchFamily="34" charset="0"/>
                <a:ea typeface="Calibri" pitchFamily="34" charset="-122"/>
                <a:cs typeface="Calibri" pitchFamily="34" charset="-120"/>
              </a:rPr>
              <a:t>327</a:t>
            </a:r>
            <a:endParaRPr lang="en-US" sz="1250" dirty="0"/>
          </a:p>
        </p:txBody>
      </p:sp>
      <p:sp>
        <p:nvSpPr>
          <p:cNvPr id="17" name="Shape 15"/>
          <p:cNvSpPr/>
          <p:nvPr/>
        </p:nvSpPr>
        <p:spPr>
          <a:xfrm>
            <a:off x="2133165" y="3566160"/>
            <a:ext cx="1529661" cy="685800"/>
          </a:xfrm>
          <a:prstGeom prst="rect">
            <a:avLst/>
          </a:prstGeom>
          <a:solidFill>
            <a:srgbClr val="F7FAFA"/>
          </a:solidFill>
          <a:ln/>
        </p:spPr>
      </p:sp>
      <p:sp>
        <p:nvSpPr>
          <p:cNvPr id="18" name="Text 16"/>
          <p:cNvSpPr/>
          <p:nvPr/>
        </p:nvSpPr>
        <p:spPr>
          <a:xfrm>
            <a:off x="2133165" y="3611880"/>
            <a:ext cx="1529661" cy="256032"/>
          </a:xfrm>
          <a:prstGeom prst="rect">
            <a:avLst/>
          </a:prstGeom>
          <a:noFill/>
          <a:ln/>
        </p:spPr>
        <p:txBody>
          <a:bodyPr wrap="square"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BCC</a:t>
            </a:r>
            <a:endParaRPr lang="en-US" sz="1050" dirty="0"/>
          </a:p>
        </p:txBody>
      </p:sp>
      <p:sp>
        <p:nvSpPr>
          <p:cNvPr id="19" name="Text 17"/>
          <p:cNvSpPr/>
          <p:nvPr/>
        </p:nvSpPr>
        <p:spPr>
          <a:xfrm>
            <a:off x="2133165" y="3858768"/>
            <a:ext cx="1529661" cy="320040"/>
          </a:xfrm>
          <a:prstGeom prst="rect">
            <a:avLst/>
          </a:prstGeom>
          <a:noFill/>
          <a:ln/>
        </p:spPr>
        <p:txBody>
          <a:bodyPr wrap="square" rtlCol="0" anchor="ctr"/>
          <a:lstStyle/>
          <a:p>
            <a:pPr algn="ctr" indent="0" marL="0">
              <a:buNone/>
            </a:pPr>
            <a:r>
              <a:rPr lang="en-US" sz="1250" b="1" dirty="0">
                <a:solidFill>
                  <a:srgbClr val="16323A"/>
                </a:solidFill>
                <a:latin typeface="Calibri" pitchFamily="34" charset="0"/>
                <a:ea typeface="Calibri" pitchFamily="34" charset="-122"/>
                <a:cs typeface="Calibri" pitchFamily="34" charset="-120"/>
              </a:rPr>
              <a:t>514</a:t>
            </a:r>
            <a:endParaRPr lang="en-US" sz="1250" dirty="0"/>
          </a:p>
        </p:txBody>
      </p:sp>
      <p:sp>
        <p:nvSpPr>
          <p:cNvPr id="20" name="Shape 18"/>
          <p:cNvSpPr/>
          <p:nvPr/>
        </p:nvSpPr>
        <p:spPr>
          <a:xfrm>
            <a:off x="3717689" y="3566160"/>
            <a:ext cx="1529661" cy="685800"/>
          </a:xfrm>
          <a:prstGeom prst="rect">
            <a:avLst/>
          </a:prstGeom>
          <a:solidFill>
            <a:srgbClr val="F7FAFA"/>
          </a:solidFill>
          <a:ln/>
        </p:spPr>
      </p:sp>
      <p:sp>
        <p:nvSpPr>
          <p:cNvPr id="21" name="Text 19"/>
          <p:cNvSpPr/>
          <p:nvPr/>
        </p:nvSpPr>
        <p:spPr>
          <a:xfrm>
            <a:off x="3717689" y="3611880"/>
            <a:ext cx="1529661" cy="256032"/>
          </a:xfrm>
          <a:prstGeom prst="rect">
            <a:avLst/>
          </a:prstGeom>
          <a:noFill/>
          <a:ln/>
        </p:spPr>
        <p:txBody>
          <a:bodyPr wrap="square"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BKL</a:t>
            </a:r>
            <a:endParaRPr lang="en-US" sz="1050" dirty="0"/>
          </a:p>
        </p:txBody>
      </p:sp>
      <p:sp>
        <p:nvSpPr>
          <p:cNvPr id="22" name="Text 20"/>
          <p:cNvSpPr/>
          <p:nvPr/>
        </p:nvSpPr>
        <p:spPr>
          <a:xfrm>
            <a:off x="3717689" y="3858768"/>
            <a:ext cx="1529661" cy="320040"/>
          </a:xfrm>
          <a:prstGeom prst="rect">
            <a:avLst/>
          </a:prstGeom>
          <a:noFill/>
          <a:ln/>
        </p:spPr>
        <p:txBody>
          <a:bodyPr wrap="square" rtlCol="0" anchor="ctr"/>
          <a:lstStyle/>
          <a:p>
            <a:pPr algn="ctr" indent="0" marL="0">
              <a:buNone/>
            </a:pPr>
            <a:r>
              <a:rPr lang="en-US" sz="1250" b="1" dirty="0">
                <a:solidFill>
                  <a:srgbClr val="16323A"/>
                </a:solidFill>
                <a:latin typeface="Calibri" pitchFamily="34" charset="0"/>
                <a:ea typeface="Calibri" pitchFamily="34" charset="-122"/>
                <a:cs typeface="Calibri" pitchFamily="34" charset="-120"/>
              </a:rPr>
              <a:t>1,099</a:t>
            </a:r>
            <a:endParaRPr lang="en-US" sz="1250" dirty="0"/>
          </a:p>
        </p:txBody>
      </p:sp>
      <p:sp>
        <p:nvSpPr>
          <p:cNvPr id="23" name="Shape 21"/>
          <p:cNvSpPr/>
          <p:nvPr/>
        </p:nvSpPr>
        <p:spPr>
          <a:xfrm>
            <a:off x="5302214" y="3566160"/>
            <a:ext cx="1529661" cy="685800"/>
          </a:xfrm>
          <a:prstGeom prst="rect">
            <a:avLst/>
          </a:prstGeom>
          <a:solidFill>
            <a:srgbClr val="F7FAFA"/>
          </a:solidFill>
          <a:ln/>
        </p:spPr>
      </p:sp>
      <p:sp>
        <p:nvSpPr>
          <p:cNvPr id="24" name="Text 22"/>
          <p:cNvSpPr/>
          <p:nvPr/>
        </p:nvSpPr>
        <p:spPr>
          <a:xfrm>
            <a:off x="5302214" y="3611880"/>
            <a:ext cx="1529661" cy="256032"/>
          </a:xfrm>
          <a:prstGeom prst="rect">
            <a:avLst/>
          </a:prstGeom>
          <a:noFill/>
          <a:ln/>
        </p:spPr>
        <p:txBody>
          <a:bodyPr wrap="square"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DF</a:t>
            </a:r>
            <a:endParaRPr lang="en-US" sz="1050" dirty="0"/>
          </a:p>
        </p:txBody>
      </p:sp>
      <p:sp>
        <p:nvSpPr>
          <p:cNvPr id="25" name="Text 23"/>
          <p:cNvSpPr/>
          <p:nvPr/>
        </p:nvSpPr>
        <p:spPr>
          <a:xfrm>
            <a:off x="5302214" y="3858768"/>
            <a:ext cx="1529661" cy="320040"/>
          </a:xfrm>
          <a:prstGeom prst="rect">
            <a:avLst/>
          </a:prstGeom>
          <a:noFill/>
          <a:ln/>
        </p:spPr>
        <p:txBody>
          <a:bodyPr wrap="square" rtlCol="0" anchor="ctr"/>
          <a:lstStyle/>
          <a:p>
            <a:pPr algn="ctr" indent="0" marL="0">
              <a:buNone/>
            </a:pPr>
            <a:r>
              <a:rPr lang="en-US" sz="1250" b="1" dirty="0">
                <a:solidFill>
                  <a:srgbClr val="16323A"/>
                </a:solidFill>
                <a:latin typeface="Calibri" pitchFamily="34" charset="0"/>
                <a:ea typeface="Calibri" pitchFamily="34" charset="-122"/>
                <a:cs typeface="Calibri" pitchFamily="34" charset="-120"/>
              </a:rPr>
              <a:t>115</a:t>
            </a:r>
            <a:endParaRPr lang="en-US" sz="1250" dirty="0"/>
          </a:p>
        </p:txBody>
      </p:sp>
      <p:sp>
        <p:nvSpPr>
          <p:cNvPr id="26" name="Shape 24"/>
          <p:cNvSpPr/>
          <p:nvPr/>
        </p:nvSpPr>
        <p:spPr>
          <a:xfrm>
            <a:off x="6886738" y="3566160"/>
            <a:ext cx="1529661" cy="685800"/>
          </a:xfrm>
          <a:prstGeom prst="rect">
            <a:avLst/>
          </a:prstGeom>
          <a:solidFill>
            <a:srgbClr val="F7FAFA"/>
          </a:solidFill>
          <a:ln/>
        </p:spPr>
      </p:sp>
      <p:sp>
        <p:nvSpPr>
          <p:cNvPr id="27" name="Text 25"/>
          <p:cNvSpPr/>
          <p:nvPr/>
        </p:nvSpPr>
        <p:spPr>
          <a:xfrm>
            <a:off x="6886738" y="3611880"/>
            <a:ext cx="1529661" cy="256032"/>
          </a:xfrm>
          <a:prstGeom prst="rect">
            <a:avLst/>
          </a:prstGeom>
          <a:noFill/>
          <a:ln/>
        </p:spPr>
        <p:txBody>
          <a:bodyPr wrap="square"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MEL</a:t>
            </a:r>
            <a:endParaRPr lang="en-US" sz="1050" dirty="0"/>
          </a:p>
        </p:txBody>
      </p:sp>
      <p:sp>
        <p:nvSpPr>
          <p:cNvPr id="28" name="Text 26"/>
          <p:cNvSpPr/>
          <p:nvPr/>
        </p:nvSpPr>
        <p:spPr>
          <a:xfrm>
            <a:off x="6886738" y="3858768"/>
            <a:ext cx="1529661" cy="320040"/>
          </a:xfrm>
          <a:prstGeom prst="rect">
            <a:avLst/>
          </a:prstGeom>
          <a:noFill/>
          <a:ln/>
        </p:spPr>
        <p:txBody>
          <a:bodyPr wrap="square" rtlCol="0" anchor="ctr"/>
          <a:lstStyle/>
          <a:p>
            <a:pPr algn="ctr" indent="0" marL="0">
              <a:buNone/>
            </a:pPr>
            <a:r>
              <a:rPr lang="en-US" sz="1250" b="1" dirty="0">
                <a:solidFill>
                  <a:srgbClr val="16323A"/>
                </a:solidFill>
                <a:latin typeface="Calibri" pitchFamily="34" charset="0"/>
                <a:ea typeface="Calibri" pitchFamily="34" charset="-122"/>
                <a:cs typeface="Calibri" pitchFamily="34" charset="-120"/>
              </a:rPr>
              <a:t>1,113</a:t>
            </a:r>
            <a:endParaRPr lang="en-US" sz="1250" dirty="0"/>
          </a:p>
        </p:txBody>
      </p:sp>
      <p:sp>
        <p:nvSpPr>
          <p:cNvPr id="29" name="Shape 27"/>
          <p:cNvSpPr/>
          <p:nvPr/>
        </p:nvSpPr>
        <p:spPr>
          <a:xfrm>
            <a:off x="8471263" y="3566160"/>
            <a:ext cx="1529661" cy="685800"/>
          </a:xfrm>
          <a:prstGeom prst="rect">
            <a:avLst/>
          </a:prstGeom>
          <a:solidFill>
            <a:srgbClr val="D7263D"/>
          </a:solidFill>
          <a:ln/>
        </p:spPr>
      </p:sp>
      <p:sp>
        <p:nvSpPr>
          <p:cNvPr id="30" name="Text 28"/>
          <p:cNvSpPr/>
          <p:nvPr/>
        </p:nvSpPr>
        <p:spPr>
          <a:xfrm>
            <a:off x="8471263" y="3611880"/>
            <a:ext cx="1529661" cy="25603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NV</a:t>
            </a:r>
            <a:endParaRPr lang="en-US" sz="1050" dirty="0"/>
          </a:p>
        </p:txBody>
      </p:sp>
      <p:sp>
        <p:nvSpPr>
          <p:cNvPr id="31" name="Text 29"/>
          <p:cNvSpPr/>
          <p:nvPr/>
        </p:nvSpPr>
        <p:spPr>
          <a:xfrm>
            <a:off x="8471263" y="3858768"/>
            <a:ext cx="1529661" cy="3200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6,705</a:t>
            </a:r>
            <a:endParaRPr lang="en-US" sz="1250" dirty="0"/>
          </a:p>
        </p:txBody>
      </p:sp>
      <p:sp>
        <p:nvSpPr>
          <p:cNvPr id="32" name="Shape 30"/>
          <p:cNvSpPr/>
          <p:nvPr/>
        </p:nvSpPr>
        <p:spPr>
          <a:xfrm>
            <a:off x="10055787" y="3566160"/>
            <a:ext cx="1529661" cy="685800"/>
          </a:xfrm>
          <a:prstGeom prst="rect">
            <a:avLst/>
          </a:prstGeom>
          <a:solidFill>
            <a:srgbClr val="F7FAFA"/>
          </a:solidFill>
          <a:ln/>
        </p:spPr>
      </p:sp>
      <p:sp>
        <p:nvSpPr>
          <p:cNvPr id="33" name="Text 31"/>
          <p:cNvSpPr/>
          <p:nvPr/>
        </p:nvSpPr>
        <p:spPr>
          <a:xfrm>
            <a:off x="10055787" y="3611880"/>
            <a:ext cx="1529661" cy="256032"/>
          </a:xfrm>
          <a:prstGeom prst="rect">
            <a:avLst/>
          </a:prstGeom>
          <a:noFill/>
          <a:ln/>
        </p:spPr>
        <p:txBody>
          <a:bodyPr wrap="square"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VASC</a:t>
            </a:r>
            <a:endParaRPr lang="en-US" sz="1050" dirty="0"/>
          </a:p>
        </p:txBody>
      </p:sp>
      <p:sp>
        <p:nvSpPr>
          <p:cNvPr id="34" name="Text 32"/>
          <p:cNvSpPr/>
          <p:nvPr/>
        </p:nvSpPr>
        <p:spPr>
          <a:xfrm>
            <a:off x="10055787" y="3858768"/>
            <a:ext cx="1529661" cy="320040"/>
          </a:xfrm>
          <a:prstGeom prst="rect">
            <a:avLst/>
          </a:prstGeom>
          <a:noFill/>
          <a:ln/>
        </p:spPr>
        <p:txBody>
          <a:bodyPr wrap="square" rtlCol="0" anchor="ctr"/>
          <a:lstStyle/>
          <a:p>
            <a:pPr algn="ctr" indent="0" marL="0">
              <a:buNone/>
            </a:pPr>
            <a:r>
              <a:rPr lang="en-US" sz="1250" b="1" dirty="0">
                <a:solidFill>
                  <a:srgbClr val="16323A"/>
                </a:solidFill>
                <a:latin typeface="Calibri" pitchFamily="34" charset="0"/>
                <a:ea typeface="Calibri" pitchFamily="34" charset="-122"/>
                <a:cs typeface="Calibri" pitchFamily="34" charset="-120"/>
              </a:rPr>
              <a:t>142</a:t>
            </a:r>
            <a:endParaRPr lang="en-US" sz="1250" dirty="0"/>
          </a:p>
        </p:txBody>
      </p:sp>
      <p:sp>
        <p:nvSpPr>
          <p:cNvPr id="35" name="Text 33"/>
          <p:cNvSpPr/>
          <p:nvPr/>
        </p:nvSpPr>
        <p:spPr>
          <a:xfrm>
            <a:off x="548640" y="4343400"/>
            <a:ext cx="11064240" cy="274320"/>
          </a:xfrm>
          <a:prstGeom prst="rect">
            <a:avLst/>
          </a:prstGeom>
          <a:noFill/>
          <a:ln/>
        </p:spPr>
        <p:txBody>
          <a:bodyPr wrap="square" rtlCol="0" anchor="ctr"/>
          <a:lstStyle/>
          <a:p>
            <a:pPr indent="0" marL="0">
              <a:buNone/>
            </a:pPr>
            <a:r>
              <a:rPr lang="en-US" sz="1000" i="1" dirty="0">
                <a:solidFill>
                  <a:srgbClr val="5C7A80"/>
                </a:solidFill>
                <a:latin typeface="Calibri" pitchFamily="34" charset="0"/>
                <a:ea typeface="Calibri" pitchFamily="34" charset="-122"/>
                <a:cs typeface="Calibri" pitchFamily="34" charset="-120"/>
              </a:rPr>
              <a:t>NV dominates the dataset (6,705 of 10,015 images) — this imbalance is why rebalancing is needed.</a:t>
            </a:r>
            <a:endParaRPr lang="en-US" sz="1000" dirty="0"/>
          </a:p>
        </p:txBody>
      </p:sp>
      <p:sp>
        <p:nvSpPr>
          <p:cNvPr id="36" name="Text 34"/>
          <p:cNvSpPr/>
          <p:nvPr/>
        </p:nvSpPr>
        <p:spPr>
          <a:xfrm>
            <a:off x="548640" y="4709160"/>
            <a:ext cx="11064240" cy="173736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6323A"/>
                </a:solidFill>
                <a:latin typeface="Calibri" pitchFamily="34" charset="0"/>
                <a:ea typeface="Calibri" pitchFamily="34" charset="-122"/>
                <a:cs typeface="Calibri" pitchFamily="34" charset="-120"/>
              </a:rPr>
              <a:t>Class rebalancing: oversampling (Keras augmentation — rotation, shift, zoom, flips) applied to minority classes; undersampling via duplicate removal.</a:t>
            </a:r>
            <a:endParaRPr lang="en-US" sz="1150" dirty="0"/>
          </a:p>
          <a:p>
            <a:pPr marL="177800" indent="-177800">
              <a:spcAft>
                <a:spcPts val="800"/>
              </a:spcAft>
              <a:buSzPct val="100000"/>
              <a:buChar char="•"/>
            </a:pPr>
            <a:r>
              <a:rPr lang="en-US" sz="1150" dirty="0">
                <a:solidFill>
                  <a:srgbClr val="16323A"/>
                </a:solidFill>
                <a:latin typeface="Calibri" pitchFamily="34" charset="0"/>
                <a:ea typeface="Calibri" pitchFamily="34" charset="-122"/>
                <a:cs typeface="Calibri" pitchFamily="34" charset="-120"/>
              </a:rPr>
              <a:t>After oversampling, each class has ≈ 6,900–8,000 training images (total 52,692).</a:t>
            </a:r>
            <a:endParaRPr lang="en-US" sz="1150" dirty="0"/>
          </a:p>
          <a:p>
            <a:pPr marL="177800" indent="-177800">
              <a:spcAft>
                <a:spcPts val="800"/>
              </a:spcAft>
              <a:buSzPct val="100000"/>
              <a:buChar char="•"/>
            </a:pPr>
            <a:r>
              <a:rPr lang="en-US" sz="1150" dirty="0">
                <a:solidFill>
                  <a:srgbClr val="16323A"/>
                </a:solidFill>
                <a:latin typeface="Calibri" pitchFamily="34" charset="0"/>
                <a:ea typeface="Calibri" pitchFamily="34" charset="-122"/>
                <a:cs typeface="Calibri" pitchFamily="34" charset="-120"/>
              </a:rPr>
              <a:t>Pixel values normalised to a 0–1 range; additional pixel-level augmentation (saturation, contrast, brightness).</a:t>
            </a:r>
            <a:endParaRPr lang="en-US" sz="1150" dirty="0"/>
          </a:p>
          <a:p>
            <a:pPr marL="177800" indent="-177800">
              <a:spcAft>
                <a:spcPts val="800"/>
              </a:spcAft>
              <a:buSzPct val="100000"/>
              <a:buChar char="•"/>
            </a:pPr>
            <a:r>
              <a:rPr lang="en-US" sz="1150" dirty="0">
                <a:solidFill>
                  <a:srgbClr val="16323A"/>
                </a:solidFill>
                <a:latin typeface="Calibri" pitchFamily="34" charset="0"/>
                <a:ea typeface="Calibri" pitchFamily="34" charset="-122"/>
                <a:cs typeface="Calibri" pitchFamily="34" charset="-120"/>
              </a:rPr>
              <a:t>A second dataset, Edinburgh DERMOFIT (10 classes, 1,300 clinical images), is used for further comparison.</a:t>
            </a:r>
            <a:endParaRPr lang="en-US" sz="1150" dirty="0"/>
          </a:p>
        </p:txBody>
      </p:sp>
      <p:sp>
        <p:nvSpPr>
          <p:cNvPr id="37" name="Text 35"/>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38" name="Text 36"/>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10</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Experimental Setup</a:t>
            </a:r>
            <a:endParaRPr lang="en-US" sz="3000" dirty="0"/>
          </a:p>
        </p:txBody>
      </p:sp>
      <p:sp>
        <p:nvSpPr>
          <p:cNvPr id="4" name="Text 2"/>
          <p:cNvSpPr/>
          <p:nvPr/>
        </p:nvSpPr>
        <p:spPr>
          <a:xfrm>
            <a:off x="548640" y="1325880"/>
            <a:ext cx="5486400" cy="274320"/>
          </a:xfrm>
          <a:prstGeom prst="rect">
            <a:avLst/>
          </a:prstGeom>
          <a:noFill/>
          <a:ln/>
        </p:spPr>
        <p:txBody>
          <a:bodyPr wrap="square" rtlCol="0" anchor="ctr"/>
          <a:lstStyle/>
          <a:p>
            <a:pPr indent="0" marL="0">
              <a:buNone/>
            </a:pPr>
            <a:r>
              <a:rPr lang="en-US" sz="1250" b="1" dirty="0">
                <a:solidFill>
                  <a:srgbClr val="16323A"/>
                </a:solidFill>
                <a:latin typeface="Calibri" pitchFamily="34" charset="0"/>
                <a:ea typeface="Calibri" pitchFamily="34" charset="-122"/>
                <a:cs typeface="Calibri" pitchFamily="34" charset="-120"/>
              </a:rPr>
              <a:t>ViTfSCD model variants</a:t>
            </a:r>
            <a:endParaRPr lang="en-US" sz="1250" dirty="0"/>
          </a:p>
        </p:txBody>
      </p:sp>
      <p:sp>
        <p:nvSpPr>
          <p:cNvPr id="5" name="Shape 3"/>
          <p:cNvSpPr/>
          <p:nvPr/>
        </p:nvSpPr>
        <p:spPr>
          <a:xfrm>
            <a:off x="548640" y="1645920"/>
            <a:ext cx="5486400" cy="329184"/>
          </a:xfrm>
          <a:prstGeom prst="rect">
            <a:avLst/>
          </a:prstGeom>
          <a:solidFill>
            <a:srgbClr val="028090"/>
          </a:solidFill>
          <a:ln/>
        </p:spPr>
      </p:sp>
      <p:sp>
        <p:nvSpPr>
          <p:cNvPr id="6" name="Text 4"/>
          <p:cNvSpPr/>
          <p:nvPr/>
        </p:nvSpPr>
        <p:spPr>
          <a:xfrm>
            <a:off x="594360" y="1645920"/>
            <a:ext cx="1417320" cy="32918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p>
        </p:txBody>
      </p:sp>
      <p:sp>
        <p:nvSpPr>
          <p:cNvPr id="7" name="Text 5"/>
          <p:cNvSpPr/>
          <p:nvPr/>
        </p:nvSpPr>
        <p:spPr>
          <a:xfrm>
            <a:off x="2057400" y="1645920"/>
            <a:ext cx="731520" cy="32918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Layers</a:t>
            </a:r>
            <a:endParaRPr lang="en-US" sz="950" dirty="0"/>
          </a:p>
        </p:txBody>
      </p:sp>
      <p:sp>
        <p:nvSpPr>
          <p:cNvPr id="8" name="Text 6"/>
          <p:cNvSpPr/>
          <p:nvPr/>
        </p:nvSpPr>
        <p:spPr>
          <a:xfrm>
            <a:off x="2834640" y="1645920"/>
            <a:ext cx="731520" cy="32918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Hidden</a:t>
            </a:r>
            <a:endParaRPr lang="en-US" sz="950" dirty="0"/>
          </a:p>
        </p:txBody>
      </p:sp>
      <p:sp>
        <p:nvSpPr>
          <p:cNvPr id="9" name="Text 7"/>
          <p:cNvSpPr/>
          <p:nvPr/>
        </p:nvSpPr>
        <p:spPr>
          <a:xfrm>
            <a:off x="3611880" y="1645920"/>
            <a:ext cx="731520" cy="32918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MLP</a:t>
            </a:r>
            <a:endParaRPr lang="en-US" sz="950" dirty="0"/>
          </a:p>
        </p:txBody>
      </p:sp>
      <p:sp>
        <p:nvSpPr>
          <p:cNvPr id="10" name="Text 8"/>
          <p:cNvSpPr/>
          <p:nvPr/>
        </p:nvSpPr>
        <p:spPr>
          <a:xfrm>
            <a:off x="4389120" y="1645920"/>
            <a:ext cx="640080" cy="32918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Heads</a:t>
            </a:r>
            <a:endParaRPr lang="en-US" sz="950" dirty="0"/>
          </a:p>
        </p:txBody>
      </p:sp>
      <p:sp>
        <p:nvSpPr>
          <p:cNvPr id="11" name="Text 9"/>
          <p:cNvSpPr/>
          <p:nvPr/>
        </p:nvSpPr>
        <p:spPr>
          <a:xfrm>
            <a:off x="5074920" y="1645920"/>
            <a:ext cx="960120" cy="32918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Params</a:t>
            </a:r>
            <a:endParaRPr lang="en-US" sz="950" dirty="0"/>
          </a:p>
        </p:txBody>
      </p:sp>
      <p:sp>
        <p:nvSpPr>
          <p:cNvPr id="12" name="Shape 10"/>
          <p:cNvSpPr/>
          <p:nvPr/>
        </p:nvSpPr>
        <p:spPr>
          <a:xfrm>
            <a:off x="548640" y="1975104"/>
            <a:ext cx="5486400" cy="347472"/>
          </a:xfrm>
          <a:prstGeom prst="rect">
            <a:avLst/>
          </a:prstGeom>
          <a:solidFill>
            <a:srgbClr val="F7FAFA"/>
          </a:solidFill>
          <a:ln/>
        </p:spPr>
      </p:sp>
      <p:sp>
        <p:nvSpPr>
          <p:cNvPr id="13" name="Text 11"/>
          <p:cNvSpPr/>
          <p:nvPr/>
        </p:nvSpPr>
        <p:spPr>
          <a:xfrm>
            <a:off x="594360" y="1975104"/>
            <a:ext cx="1417320" cy="347472"/>
          </a:xfrm>
          <a:prstGeom prst="rect">
            <a:avLst/>
          </a:prstGeom>
          <a:noFill/>
          <a:ln/>
        </p:spPr>
        <p:txBody>
          <a:bodyPr wrap="square" lIns="0" tIns="0" rIns="0" bIns="0" rtlCol="0" anchor="ctr"/>
          <a:lstStyle/>
          <a:p>
            <a:pPr indent="0" marL="0">
              <a:buNone/>
            </a:pPr>
            <a:r>
              <a:rPr lang="en-US" sz="970" b="1" dirty="0">
                <a:solidFill>
                  <a:srgbClr val="16323A"/>
                </a:solidFill>
                <a:latin typeface="Calibri" pitchFamily="34" charset="0"/>
                <a:ea typeface="Calibri" pitchFamily="34" charset="-122"/>
                <a:cs typeface="Calibri" pitchFamily="34" charset="-120"/>
              </a:rPr>
              <a:t>ViTfSCD-Base</a:t>
            </a:r>
            <a:endParaRPr lang="en-US" sz="970" dirty="0"/>
          </a:p>
        </p:txBody>
      </p:sp>
      <p:sp>
        <p:nvSpPr>
          <p:cNvPr id="14" name="Text 12"/>
          <p:cNvSpPr/>
          <p:nvPr/>
        </p:nvSpPr>
        <p:spPr>
          <a:xfrm>
            <a:off x="2057400" y="1975104"/>
            <a:ext cx="7315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12</a:t>
            </a:r>
            <a:endParaRPr lang="en-US" sz="970" dirty="0"/>
          </a:p>
        </p:txBody>
      </p:sp>
      <p:sp>
        <p:nvSpPr>
          <p:cNvPr id="15" name="Text 13"/>
          <p:cNvSpPr/>
          <p:nvPr/>
        </p:nvSpPr>
        <p:spPr>
          <a:xfrm>
            <a:off x="2834640" y="1975104"/>
            <a:ext cx="7315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768</a:t>
            </a:r>
            <a:endParaRPr lang="en-US" sz="970" dirty="0"/>
          </a:p>
        </p:txBody>
      </p:sp>
      <p:sp>
        <p:nvSpPr>
          <p:cNvPr id="16" name="Text 14"/>
          <p:cNvSpPr/>
          <p:nvPr/>
        </p:nvSpPr>
        <p:spPr>
          <a:xfrm>
            <a:off x="3611880" y="1975104"/>
            <a:ext cx="7315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3072</a:t>
            </a:r>
            <a:endParaRPr lang="en-US" sz="970" dirty="0"/>
          </a:p>
        </p:txBody>
      </p:sp>
      <p:sp>
        <p:nvSpPr>
          <p:cNvPr id="17" name="Text 15"/>
          <p:cNvSpPr/>
          <p:nvPr/>
        </p:nvSpPr>
        <p:spPr>
          <a:xfrm>
            <a:off x="4389120" y="1975104"/>
            <a:ext cx="64008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12</a:t>
            </a:r>
            <a:endParaRPr lang="en-US" sz="970" dirty="0"/>
          </a:p>
        </p:txBody>
      </p:sp>
      <p:sp>
        <p:nvSpPr>
          <p:cNvPr id="18" name="Text 16"/>
          <p:cNvSpPr/>
          <p:nvPr/>
        </p:nvSpPr>
        <p:spPr>
          <a:xfrm>
            <a:off x="5074920" y="1975104"/>
            <a:ext cx="9601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86M</a:t>
            </a:r>
            <a:endParaRPr lang="en-US" sz="970" dirty="0"/>
          </a:p>
        </p:txBody>
      </p:sp>
      <p:sp>
        <p:nvSpPr>
          <p:cNvPr id="19" name="Shape 17"/>
          <p:cNvSpPr/>
          <p:nvPr/>
        </p:nvSpPr>
        <p:spPr>
          <a:xfrm>
            <a:off x="548640" y="2322576"/>
            <a:ext cx="5486400" cy="347472"/>
          </a:xfrm>
          <a:prstGeom prst="rect">
            <a:avLst/>
          </a:prstGeom>
          <a:solidFill>
            <a:srgbClr val="FFFFFF"/>
          </a:solidFill>
          <a:ln/>
        </p:spPr>
      </p:sp>
      <p:sp>
        <p:nvSpPr>
          <p:cNvPr id="20" name="Text 18"/>
          <p:cNvSpPr/>
          <p:nvPr/>
        </p:nvSpPr>
        <p:spPr>
          <a:xfrm>
            <a:off x="594360" y="2322576"/>
            <a:ext cx="1417320" cy="347472"/>
          </a:xfrm>
          <a:prstGeom prst="rect">
            <a:avLst/>
          </a:prstGeom>
          <a:noFill/>
          <a:ln/>
        </p:spPr>
        <p:txBody>
          <a:bodyPr wrap="square" lIns="0" tIns="0" rIns="0" bIns="0" rtlCol="0" anchor="ctr"/>
          <a:lstStyle/>
          <a:p>
            <a:pPr indent="0" marL="0">
              <a:buNone/>
            </a:pPr>
            <a:r>
              <a:rPr lang="en-US" sz="970" b="1" dirty="0">
                <a:solidFill>
                  <a:srgbClr val="16323A"/>
                </a:solidFill>
                <a:latin typeface="Calibri" pitchFamily="34" charset="0"/>
                <a:ea typeface="Calibri" pitchFamily="34" charset="-122"/>
                <a:cs typeface="Calibri" pitchFamily="34" charset="-120"/>
              </a:rPr>
              <a:t>ViTfSCD-Large</a:t>
            </a:r>
            <a:endParaRPr lang="en-US" sz="970" dirty="0"/>
          </a:p>
        </p:txBody>
      </p:sp>
      <p:sp>
        <p:nvSpPr>
          <p:cNvPr id="21" name="Text 19"/>
          <p:cNvSpPr/>
          <p:nvPr/>
        </p:nvSpPr>
        <p:spPr>
          <a:xfrm>
            <a:off x="2057400" y="2322576"/>
            <a:ext cx="7315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24</a:t>
            </a:r>
            <a:endParaRPr lang="en-US" sz="970" dirty="0"/>
          </a:p>
        </p:txBody>
      </p:sp>
      <p:sp>
        <p:nvSpPr>
          <p:cNvPr id="22" name="Text 20"/>
          <p:cNvSpPr/>
          <p:nvPr/>
        </p:nvSpPr>
        <p:spPr>
          <a:xfrm>
            <a:off x="2834640" y="2322576"/>
            <a:ext cx="7315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1024</a:t>
            </a:r>
            <a:endParaRPr lang="en-US" sz="970" dirty="0"/>
          </a:p>
        </p:txBody>
      </p:sp>
      <p:sp>
        <p:nvSpPr>
          <p:cNvPr id="23" name="Text 21"/>
          <p:cNvSpPr/>
          <p:nvPr/>
        </p:nvSpPr>
        <p:spPr>
          <a:xfrm>
            <a:off x="3611880" y="2322576"/>
            <a:ext cx="7315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5120</a:t>
            </a:r>
            <a:endParaRPr lang="en-US" sz="970" dirty="0"/>
          </a:p>
        </p:txBody>
      </p:sp>
      <p:sp>
        <p:nvSpPr>
          <p:cNvPr id="24" name="Text 22"/>
          <p:cNvSpPr/>
          <p:nvPr/>
        </p:nvSpPr>
        <p:spPr>
          <a:xfrm>
            <a:off x="4389120" y="2322576"/>
            <a:ext cx="64008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16</a:t>
            </a:r>
            <a:endParaRPr lang="en-US" sz="970" dirty="0"/>
          </a:p>
        </p:txBody>
      </p:sp>
      <p:sp>
        <p:nvSpPr>
          <p:cNvPr id="25" name="Text 23"/>
          <p:cNvSpPr/>
          <p:nvPr/>
        </p:nvSpPr>
        <p:spPr>
          <a:xfrm>
            <a:off x="5074920" y="2322576"/>
            <a:ext cx="960120" cy="347472"/>
          </a:xfrm>
          <a:prstGeom prst="rect">
            <a:avLst/>
          </a:prstGeom>
          <a:noFill/>
          <a:ln/>
        </p:spPr>
        <p:txBody>
          <a:bodyPr wrap="square" lIns="0" tIns="0" rIns="0" bIns="0" rtlCol="0" anchor="ctr"/>
          <a:lstStyle/>
          <a:p>
            <a:pPr indent="0" marL="0">
              <a:buNone/>
            </a:pPr>
            <a:r>
              <a:rPr lang="en-US" sz="970" dirty="0">
                <a:solidFill>
                  <a:srgbClr val="16323A"/>
                </a:solidFill>
                <a:latin typeface="Calibri" pitchFamily="34" charset="0"/>
                <a:ea typeface="Calibri" pitchFamily="34" charset="-122"/>
                <a:cs typeface="Calibri" pitchFamily="34" charset="-120"/>
              </a:rPr>
              <a:t>307M</a:t>
            </a:r>
            <a:endParaRPr lang="en-US" sz="970" dirty="0"/>
          </a:p>
        </p:txBody>
      </p:sp>
      <p:sp>
        <p:nvSpPr>
          <p:cNvPr id="26" name="Text 24"/>
          <p:cNvSpPr/>
          <p:nvPr/>
        </p:nvSpPr>
        <p:spPr>
          <a:xfrm>
            <a:off x="548640" y="2807208"/>
            <a:ext cx="5486400" cy="457200"/>
          </a:xfrm>
          <a:prstGeom prst="rect">
            <a:avLst/>
          </a:prstGeom>
          <a:noFill/>
          <a:ln/>
        </p:spPr>
        <p:txBody>
          <a:bodyPr wrap="square" rtlCol="0" anchor="ctr"/>
          <a:lstStyle/>
          <a:p>
            <a:pPr indent="0" marL="0">
              <a:lnSpc>
                <a:spcPts val="1200"/>
              </a:lnSpc>
              <a:buNone/>
            </a:pPr>
            <a:r>
              <a:rPr lang="en-US" sz="1000" i="1" dirty="0">
                <a:solidFill>
                  <a:srgbClr val="5C7A80"/>
                </a:solidFill>
                <a:latin typeface="Calibri" pitchFamily="34" charset="0"/>
                <a:ea typeface="Calibri" pitchFamily="34" charset="-122"/>
                <a:cs typeface="Calibri" pitchFamily="34" charset="-120"/>
              </a:rPr>
              <a:t>Both use 16×16 patch size. Pretrained on ImageNet, fine-tuned on HAM10000 (low learning rate).</a:t>
            </a:r>
            <a:endParaRPr lang="en-US" sz="1000" dirty="0"/>
          </a:p>
        </p:txBody>
      </p:sp>
      <p:sp>
        <p:nvSpPr>
          <p:cNvPr id="27" name="Shape 25"/>
          <p:cNvSpPr/>
          <p:nvPr/>
        </p:nvSpPr>
        <p:spPr>
          <a:xfrm>
            <a:off x="6355080" y="1325880"/>
            <a:ext cx="5285232" cy="2194560"/>
          </a:xfrm>
          <a:prstGeom prst="roundRect">
            <a:avLst>
              <a:gd name="adj" fmla="val 4167"/>
            </a:avLst>
          </a:prstGeom>
          <a:solidFill>
            <a:srgbClr val="F7FAFA"/>
          </a:solidFill>
          <a:ln w="12700">
            <a:solidFill>
              <a:srgbClr val="DCEBEA"/>
            </a:solidFill>
            <a:prstDash val="solid"/>
          </a:ln>
        </p:spPr>
      </p:sp>
      <p:sp>
        <p:nvSpPr>
          <p:cNvPr id="28" name="Text 26"/>
          <p:cNvSpPr/>
          <p:nvPr/>
        </p:nvSpPr>
        <p:spPr>
          <a:xfrm>
            <a:off x="6537960" y="1463040"/>
            <a:ext cx="4937760" cy="274320"/>
          </a:xfrm>
          <a:prstGeom prst="rect">
            <a:avLst/>
          </a:prstGeom>
          <a:noFill/>
          <a:ln/>
        </p:spPr>
        <p:txBody>
          <a:bodyPr wrap="square"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KEY SETTINGS REPORTED</a:t>
            </a:r>
            <a:endParaRPr lang="en-US" sz="1050" dirty="0"/>
          </a:p>
        </p:txBody>
      </p:sp>
      <p:sp>
        <p:nvSpPr>
          <p:cNvPr id="29" name="Text 27"/>
          <p:cNvSpPr/>
          <p:nvPr/>
        </p:nvSpPr>
        <p:spPr>
          <a:xfrm>
            <a:off x="6537960" y="1783080"/>
            <a:ext cx="4937760" cy="169164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6323A"/>
                </a:solidFill>
                <a:latin typeface="Calibri" pitchFamily="34" charset="0"/>
                <a:ea typeface="Calibri" pitchFamily="34" charset="-122"/>
                <a:cs typeface="Calibri" pitchFamily="34" charset="-120"/>
              </a:rPr>
              <a:t>Train/test split: 85% / 15%</a:t>
            </a:r>
            <a:endParaRPr lang="en-US" sz="1050" dirty="0"/>
          </a:p>
          <a:p>
            <a:pPr marL="177800" indent="-177800">
              <a:spcAft>
                <a:spcPts val="800"/>
              </a:spcAft>
              <a:buSzPct val="100000"/>
              <a:buChar char="•"/>
            </a:pPr>
            <a:r>
              <a:rPr lang="en-US" sz="1050" dirty="0">
                <a:solidFill>
                  <a:srgbClr val="16323A"/>
                </a:solidFill>
                <a:latin typeface="Calibri" pitchFamily="34" charset="0"/>
                <a:ea typeface="Calibri" pitchFamily="34" charset="-122"/>
                <a:cs typeface="Calibri" pitchFamily="34" charset="-120"/>
              </a:rPr>
              <a:t>Image resize: 384×384 (ViTfSCD), 299×299 (IRv2+SA), 224×224 (ResNet50+SA)</a:t>
            </a:r>
            <a:endParaRPr lang="en-US" sz="1050" dirty="0"/>
          </a:p>
          <a:p>
            <a:pPr marL="177800" indent="-177800">
              <a:spcAft>
                <a:spcPts val="800"/>
              </a:spcAft>
              <a:buSzPct val="100000"/>
              <a:buChar char="•"/>
            </a:pPr>
            <a:r>
              <a:rPr lang="en-US" sz="1050" dirty="0">
                <a:solidFill>
                  <a:srgbClr val="16323A"/>
                </a:solidFill>
                <a:latin typeface="Calibri" pitchFamily="34" charset="0"/>
                <a:ea typeface="Calibri" pitchFamily="34" charset="-122"/>
                <a:cs typeface="Calibri" pitchFamily="34" charset="-120"/>
              </a:rPr>
              <a:t>Transfer learning: ImageNet-pretrained → fine-tuned on HAM10000</a:t>
            </a:r>
            <a:endParaRPr lang="en-US" sz="1050" dirty="0"/>
          </a:p>
          <a:p>
            <a:pPr marL="177800" indent="-177800">
              <a:spcAft>
                <a:spcPts val="800"/>
              </a:spcAft>
              <a:buSzPct val="100000"/>
              <a:buChar char="•"/>
            </a:pPr>
            <a:r>
              <a:rPr lang="en-US" sz="1050" dirty="0">
                <a:solidFill>
                  <a:srgbClr val="16323A"/>
                </a:solidFill>
                <a:latin typeface="Calibri" pitchFamily="34" charset="0"/>
                <a:ea typeface="Calibri" pitchFamily="34" charset="-122"/>
                <a:cs typeface="Calibri" pitchFamily="34" charset="-120"/>
              </a:rPr>
              <a:t>Other hyperparameters (e.g., exact learning rate, epochs): not specified in the paper</a:t>
            </a:r>
            <a:endParaRPr lang="en-US" sz="1050" dirty="0"/>
          </a:p>
        </p:txBody>
      </p:sp>
      <p:sp>
        <p:nvSpPr>
          <p:cNvPr id="30" name="Shape 28"/>
          <p:cNvSpPr/>
          <p:nvPr/>
        </p:nvSpPr>
        <p:spPr>
          <a:xfrm>
            <a:off x="6355080" y="3657600"/>
            <a:ext cx="5285232" cy="1554480"/>
          </a:xfrm>
          <a:prstGeom prst="roundRect">
            <a:avLst>
              <a:gd name="adj" fmla="val 5882"/>
            </a:avLst>
          </a:prstGeom>
          <a:solidFill>
            <a:srgbClr val="0B2E33"/>
          </a:solidFill>
          <a:ln/>
        </p:spPr>
      </p:sp>
      <p:sp>
        <p:nvSpPr>
          <p:cNvPr id="31" name="Text 29"/>
          <p:cNvSpPr/>
          <p:nvPr/>
        </p:nvSpPr>
        <p:spPr>
          <a:xfrm>
            <a:off x="6537960" y="3794760"/>
            <a:ext cx="4937760" cy="274320"/>
          </a:xfrm>
          <a:prstGeom prst="rect">
            <a:avLst/>
          </a:prstGeom>
          <a:noFill/>
          <a:ln/>
        </p:spPr>
        <p:txBody>
          <a:bodyPr wrap="square" rtlCol="0" anchor="ctr"/>
          <a:lstStyle/>
          <a:p>
            <a:pPr indent="0" marL="0">
              <a:buNone/>
            </a:pPr>
            <a:r>
              <a:rPr lang="en-US" sz="1050" b="1" spc="100" kern="0" dirty="0">
                <a:solidFill>
                  <a:srgbClr val="02C39A"/>
                </a:solidFill>
                <a:latin typeface="Calibri" pitchFamily="34" charset="0"/>
                <a:ea typeface="Calibri" pitchFamily="34" charset="-122"/>
                <a:cs typeface="Calibri" pitchFamily="34" charset="-120"/>
              </a:rPr>
              <a:t>BASELINE MODELS COMPARED</a:t>
            </a:r>
            <a:endParaRPr lang="en-US" sz="1050" dirty="0"/>
          </a:p>
        </p:txBody>
      </p:sp>
      <p:sp>
        <p:nvSpPr>
          <p:cNvPr id="32" name="Text 30"/>
          <p:cNvSpPr/>
          <p:nvPr/>
        </p:nvSpPr>
        <p:spPr>
          <a:xfrm>
            <a:off x="6537960" y="4114800"/>
            <a:ext cx="4937760" cy="10058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ResNet50 + Soft Attention</a:t>
            </a:r>
            <a:endParaRPr lang="en-US" sz="1100" dirty="0"/>
          </a:p>
          <a:p>
            <a:pPr marL="177800" indent="-1778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Inception-ResNet (IRv2) + Soft Attention</a:t>
            </a:r>
            <a:endParaRPr lang="en-US" sz="1100" dirty="0"/>
          </a:p>
          <a:p>
            <a:pPr marL="177800" indent="-1778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ViT-Base16 / ViT-Large16 (original ViT)</a:t>
            </a:r>
            <a:endParaRPr lang="en-US" sz="1100" dirty="0"/>
          </a:p>
        </p:txBody>
      </p:sp>
      <p:sp>
        <p:nvSpPr>
          <p:cNvPr id="33" name="Text 31"/>
          <p:cNvSpPr/>
          <p:nvPr/>
        </p:nvSpPr>
        <p:spPr>
          <a:xfrm>
            <a:off x="548640" y="3977640"/>
            <a:ext cx="5486400" cy="13716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6323A"/>
                </a:solidFill>
                <a:latin typeface="Calibri" pitchFamily="34" charset="0"/>
                <a:ea typeface="Calibri" pitchFamily="34" charset="-122"/>
                <a:cs typeface="Calibri" pitchFamily="34" charset="-120"/>
              </a:rPr>
              <a:t>Accuracy</a:t>
            </a:r>
            <a:endParaRPr lang="en-US" sz="1150" dirty="0"/>
          </a:p>
          <a:p>
            <a:pPr marL="177800" indent="-177800">
              <a:spcAft>
                <a:spcPts val="600"/>
              </a:spcAft>
              <a:buSzPct val="100000"/>
              <a:buChar char="•"/>
            </a:pPr>
            <a:r>
              <a:rPr lang="en-US" sz="1150" dirty="0">
                <a:solidFill>
                  <a:srgbClr val="16323A"/>
                </a:solidFill>
                <a:latin typeface="Calibri" pitchFamily="34" charset="0"/>
                <a:ea typeface="Calibri" pitchFamily="34" charset="-122"/>
                <a:cs typeface="Calibri" pitchFamily="34" charset="-120"/>
              </a:rPr>
              <a:t>Precision</a:t>
            </a:r>
            <a:endParaRPr lang="en-US" sz="1150" dirty="0"/>
          </a:p>
          <a:p>
            <a:pPr marL="177800" indent="-177800">
              <a:spcAft>
                <a:spcPts val="600"/>
              </a:spcAft>
              <a:buSzPct val="100000"/>
              <a:buChar char="•"/>
            </a:pPr>
            <a:r>
              <a:rPr lang="en-US" sz="1150" dirty="0">
                <a:solidFill>
                  <a:srgbClr val="16323A"/>
                </a:solidFill>
                <a:latin typeface="Calibri" pitchFamily="34" charset="0"/>
                <a:ea typeface="Calibri" pitchFamily="34" charset="-122"/>
                <a:cs typeface="Calibri" pitchFamily="34" charset="-120"/>
              </a:rPr>
              <a:t>Sensitivity (Recall)</a:t>
            </a:r>
            <a:endParaRPr lang="en-US" sz="1150" dirty="0"/>
          </a:p>
          <a:p>
            <a:pPr marL="177800" indent="-177800">
              <a:spcAft>
                <a:spcPts val="600"/>
              </a:spcAft>
              <a:buSzPct val="100000"/>
              <a:buChar char="•"/>
            </a:pPr>
            <a:r>
              <a:rPr lang="en-US" sz="1150" dirty="0">
                <a:solidFill>
                  <a:srgbClr val="16323A"/>
                </a:solidFill>
                <a:latin typeface="Calibri" pitchFamily="34" charset="0"/>
                <a:ea typeface="Calibri" pitchFamily="34" charset="-122"/>
                <a:cs typeface="Calibri" pitchFamily="34" charset="-120"/>
              </a:rPr>
              <a:t>F1-score</a:t>
            </a:r>
            <a:endParaRPr lang="en-US" sz="1150" dirty="0"/>
          </a:p>
          <a:p>
            <a:pPr marL="177800" indent="-177800">
              <a:spcAft>
                <a:spcPts val="600"/>
              </a:spcAft>
              <a:buSzPct val="100000"/>
              <a:buChar char="•"/>
            </a:pPr>
            <a:r>
              <a:rPr lang="en-US" sz="1150" dirty="0">
                <a:solidFill>
                  <a:srgbClr val="16323A"/>
                </a:solidFill>
                <a:latin typeface="Calibri" pitchFamily="34" charset="0"/>
                <a:ea typeface="Calibri" pitchFamily="34" charset="-122"/>
                <a:cs typeface="Calibri" pitchFamily="34" charset="-120"/>
              </a:rPr>
              <a:t>Specificity</a:t>
            </a:r>
            <a:endParaRPr lang="en-US" sz="1150" dirty="0"/>
          </a:p>
        </p:txBody>
      </p:sp>
      <p:sp>
        <p:nvSpPr>
          <p:cNvPr id="34" name="Text 32"/>
          <p:cNvSpPr/>
          <p:nvPr/>
        </p:nvSpPr>
        <p:spPr>
          <a:xfrm>
            <a:off x="548640" y="3675888"/>
            <a:ext cx="5486400" cy="274320"/>
          </a:xfrm>
          <a:prstGeom prst="rect">
            <a:avLst/>
          </a:prstGeom>
          <a:noFill/>
          <a:ln/>
        </p:spPr>
        <p:txBody>
          <a:bodyPr wrap="square" rtlCol="0" anchor="ctr"/>
          <a:lstStyle/>
          <a:p>
            <a:pPr indent="0" marL="0">
              <a:buNone/>
            </a:pPr>
            <a:r>
              <a:rPr lang="en-US" sz="1250" b="1" dirty="0">
                <a:solidFill>
                  <a:srgbClr val="16323A"/>
                </a:solidFill>
                <a:latin typeface="Calibri" pitchFamily="34" charset="0"/>
                <a:ea typeface="Calibri" pitchFamily="34" charset="-122"/>
                <a:cs typeface="Calibri" pitchFamily="34" charset="-120"/>
              </a:rPr>
              <a:t>Evaluation metrics used</a:t>
            </a:r>
            <a:endParaRPr lang="en-US" sz="1250" dirty="0"/>
          </a:p>
        </p:txBody>
      </p:sp>
      <p:sp>
        <p:nvSpPr>
          <p:cNvPr id="35" name="Text 33"/>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36" name="Text 34"/>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10 (CONT.)</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Experimental Results</a:t>
            </a:r>
            <a:endParaRPr lang="en-US" sz="3000" dirty="0"/>
          </a:p>
        </p:txBody>
      </p:sp>
      <p:sp>
        <p:nvSpPr>
          <p:cNvPr id="4" name="Shape 2"/>
          <p:cNvSpPr/>
          <p:nvPr/>
        </p:nvSpPr>
        <p:spPr>
          <a:xfrm>
            <a:off x="548640" y="1371600"/>
            <a:ext cx="5212080" cy="1554480"/>
          </a:xfrm>
          <a:prstGeom prst="roundRect">
            <a:avLst>
              <a:gd name="adj" fmla="val 5882"/>
            </a:avLst>
          </a:prstGeom>
          <a:solidFill>
            <a:srgbClr val="F4A261"/>
          </a:solidFill>
          <a:ln/>
        </p:spPr>
      </p:sp>
      <p:sp>
        <p:nvSpPr>
          <p:cNvPr id="5" name="Text 3"/>
          <p:cNvSpPr/>
          <p:nvPr/>
        </p:nvSpPr>
        <p:spPr>
          <a:xfrm>
            <a:off x="777240" y="1444752"/>
            <a:ext cx="4572000" cy="77724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94.1%</a:t>
            </a:r>
            <a:endParaRPr lang="en-US" sz="4600" dirty="0"/>
          </a:p>
        </p:txBody>
      </p:sp>
      <p:sp>
        <p:nvSpPr>
          <p:cNvPr id="6" name="Text 4"/>
          <p:cNvSpPr/>
          <p:nvPr/>
        </p:nvSpPr>
        <p:spPr>
          <a:xfrm>
            <a:off x="777240" y="2240280"/>
            <a:ext cx="4754880" cy="594360"/>
          </a:xfrm>
          <a:prstGeom prst="rect">
            <a:avLst/>
          </a:prstGeom>
          <a:noFill/>
          <a:ln/>
        </p:spPr>
        <p:txBody>
          <a:bodyPr wrap="square" rtlCol="0" anchor="ctr"/>
          <a:lstStyle/>
          <a:p>
            <a:pPr indent="0" marL="0">
              <a:buNone/>
            </a:pPr>
            <a:r>
              <a:rPr lang="en-US" sz="1250" dirty="0">
                <a:solidFill>
                  <a:srgbClr val="FBEFE1"/>
                </a:solidFill>
                <a:latin typeface="Calibri" pitchFamily="34" charset="0"/>
                <a:ea typeface="Calibri" pitchFamily="34" charset="-122"/>
                <a:cs typeface="Calibri" pitchFamily="34" charset="-120"/>
              </a:rPr>
              <a:t>ViTfSCD-Large — best overall accuracy on HAM10000</a:t>
            </a:r>
            <a:endParaRPr lang="en-US" sz="1250" dirty="0"/>
          </a:p>
        </p:txBody>
      </p:sp>
      <p:sp>
        <p:nvSpPr>
          <p:cNvPr id="7" name="Shape 5"/>
          <p:cNvSpPr/>
          <p:nvPr/>
        </p:nvSpPr>
        <p:spPr>
          <a:xfrm>
            <a:off x="5989320" y="1371600"/>
            <a:ext cx="5650992" cy="1554480"/>
          </a:xfrm>
          <a:prstGeom prst="roundRect">
            <a:avLst>
              <a:gd name="adj" fmla="val 5882"/>
            </a:avLst>
          </a:prstGeom>
          <a:solidFill>
            <a:srgbClr val="028090"/>
          </a:solidFill>
          <a:ln/>
        </p:spPr>
      </p:sp>
      <p:sp>
        <p:nvSpPr>
          <p:cNvPr id="8" name="Text 6"/>
          <p:cNvSpPr/>
          <p:nvPr/>
        </p:nvSpPr>
        <p:spPr>
          <a:xfrm>
            <a:off x="6217920" y="1444752"/>
            <a:ext cx="5212080" cy="77724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91.4%</a:t>
            </a:r>
            <a:endParaRPr lang="en-US" sz="4600" dirty="0"/>
          </a:p>
        </p:txBody>
      </p:sp>
      <p:sp>
        <p:nvSpPr>
          <p:cNvPr id="9" name="Text 7"/>
          <p:cNvSpPr/>
          <p:nvPr/>
        </p:nvSpPr>
        <p:spPr>
          <a:xfrm>
            <a:off x="6217920" y="2240280"/>
            <a:ext cx="5394960" cy="594360"/>
          </a:xfrm>
          <a:prstGeom prst="rect">
            <a:avLst/>
          </a:prstGeom>
          <a:noFill/>
          <a:ln/>
        </p:spPr>
        <p:txBody>
          <a:bodyPr wrap="square" rtlCol="0" anchor="ctr"/>
          <a:lstStyle/>
          <a:p>
            <a:pPr indent="0" marL="0">
              <a:buNone/>
            </a:pPr>
            <a:r>
              <a:rPr lang="en-US" sz="1250" dirty="0">
                <a:solidFill>
                  <a:srgbClr val="E5F6F4"/>
                </a:solidFill>
                <a:latin typeface="Calibri" pitchFamily="34" charset="0"/>
                <a:ea typeface="Calibri" pitchFamily="34" charset="-122"/>
                <a:cs typeface="Calibri" pitchFamily="34" charset="-120"/>
              </a:rPr>
              <a:t>ViTfSCD-Base — lighter model, still strong accuracy</a:t>
            </a:r>
            <a:endParaRPr lang="en-US" sz="1250" dirty="0"/>
          </a:p>
        </p:txBody>
      </p:sp>
      <p:sp>
        <p:nvSpPr>
          <p:cNvPr id="10" name="Text 8"/>
          <p:cNvSpPr/>
          <p:nvPr/>
        </p:nvSpPr>
        <p:spPr>
          <a:xfrm>
            <a:off x="548640" y="3108960"/>
            <a:ext cx="11064240" cy="320040"/>
          </a:xfrm>
          <a:prstGeom prst="rect">
            <a:avLst/>
          </a:prstGeom>
          <a:noFill/>
          <a:ln/>
        </p:spPr>
        <p:txBody>
          <a:bodyPr wrap="square" rtlCol="0" anchor="ctr"/>
          <a:lstStyle/>
          <a:p>
            <a:pPr indent="0" marL="0">
              <a:buNone/>
            </a:pPr>
            <a:r>
              <a:rPr lang="en-US" sz="1200" i="1" dirty="0">
                <a:solidFill>
                  <a:srgbClr val="16323A"/>
                </a:solidFill>
                <a:latin typeface="Calibri" pitchFamily="34" charset="0"/>
                <a:ea typeface="Calibri" pitchFamily="34" charset="-122"/>
                <a:cs typeface="Calibri" pitchFamily="34" charset="-120"/>
              </a:rPr>
              <a:t>ViTfSCD-Large achieved the best precision, sensitivity, and F1-score across most of the 7 lesion types (Table 3).</a:t>
            </a:r>
            <a:endParaRPr lang="en-US" sz="1200" dirty="0"/>
          </a:p>
        </p:txBody>
      </p:sp>
      <p:sp>
        <p:nvSpPr>
          <p:cNvPr id="11" name="Shape 9"/>
          <p:cNvSpPr/>
          <p:nvPr/>
        </p:nvSpPr>
        <p:spPr>
          <a:xfrm>
            <a:off x="548640" y="3566160"/>
            <a:ext cx="10881360" cy="347472"/>
          </a:xfrm>
          <a:prstGeom prst="rect">
            <a:avLst/>
          </a:prstGeom>
          <a:solidFill>
            <a:srgbClr val="0B2E33"/>
          </a:solidFill>
          <a:ln/>
        </p:spPr>
      </p:sp>
      <p:sp>
        <p:nvSpPr>
          <p:cNvPr id="12" name="Text 10"/>
          <p:cNvSpPr/>
          <p:nvPr/>
        </p:nvSpPr>
        <p:spPr>
          <a:xfrm>
            <a:off x="640080" y="3566160"/>
            <a:ext cx="274320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Skin cancer type</a:t>
            </a:r>
            <a:endParaRPr lang="en-US" sz="1050" dirty="0"/>
          </a:p>
        </p:txBody>
      </p:sp>
      <p:sp>
        <p:nvSpPr>
          <p:cNvPr id="13" name="Text 11"/>
          <p:cNvSpPr/>
          <p:nvPr/>
        </p:nvSpPr>
        <p:spPr>
          <a:xfrm>
            <a:off x="3474720" y="3566160"/>
            <a:ext cx="192024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Precision</a:t>
            </a:r>
            <a:endParaRPr lang="en-US" sz="1050" dirty="0"/>
          </a:p>
        </p:txBody>
      </p:sp>
      <p:sp>
        <p:nvSpPr>
          <p:cNvPr id="14" name="Text 12"/>
          <p:cNvSpPr/>
          <p:nvPr/>
        </p:nvSpPr>
        <p:spPr>
          <a:xfrm>
            <a:off x="5486400" y="3566160"/>
            <a:ext cx="192024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Sensitivity</a:t>
            </a:r>
            <a:endParaRPr lang="en-US" sz="1050" dirty="0"/>
          </a:p>
        </p:txBody>
      </p:sp>
      <p:sp>
        <p:nvSpPr>
          <p:cNvPr id="15" name="Text 13"/>
          <p:cNvSpPr/>
          <p:nvPr/>
        </p:nvSpPr>
        <p:spPr>
          <a:xfrm>
            <a:off x="7498080" y="3566160"/>
            <a:ext cx="192024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F1-score</a:t>
            </a:r>
            <a:endParaRPr lang="en-US" sz="1050" dirty="0"/>
          </a:p>
        </p:txBody>
      </p:sp>
      <p:sp>
        <p:nvSpPr>
          <p:cNvPr id="16" name="Text 14"/>
          <p:cNvSpPr/>
          <p:nvPr/>
        </p:nvSpPr>
        <p:spPr>
          <a:xfrm>
            <a:off x="9509760" y="3566160"/>
            <a:ext cx="192024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Specificity</a:t>
            </a:r>
            <a:endParaRPr lang="en-US" sz="1050" dirty="0"/>
          </a:p>
        </p:txBody>
      </p:sp>
      <p:sp>
        <p:nvSpPr>
          <p:cNvPr id="17" name="Shape 15"/>
          <p:cNvSpPr/>
          <p:nvPr/>
        </p:nvSpPr>
        <p:spPr>
          <a:xfrm>
            <a:off x="548640" y="3913632"/>
            <a:ext cx="10881360" cy="365760"/>
          </a:xfrm>
          <a:prstGeom prst="rect">
            <a:avLst/>
          </a:prstGeom>
          <a:solidFill>
            <a:srgbClr val="F7FAFA"/>
          </a:solidFill>
          <a:ln/>
        </p:spPr>
      </p:sp>
      <p:sp>
        <p:nvSpPr>
          <p:cNvPr id="18" name="Text 16"/>
          <p:cNvSpPr/>
          <p:nvPr/>
        </p:nvSpPr>
        <p:spPr>
          <a:xfrm>
            <a:off x="640080" y="3913632"/>
            <a:ext cx="2743200" cy="365760"/>
          </a:xfrm>
          <a:prstGeom prst="rect">
            <a:avLst/>
          </a:prstGeom>
          <a:noFill/>
          <a:ln/>
        </p:spPr>
        <p:txBody>
          <a:bodyPr wrap="square" lIns="0" tIns="0" rIns="0" bIns="0" rtlCol="0" anchor="ctr"/>
          <a:lstStyle/>
          <a:p>
            <a:pPr indent="0" marL="0">
              <a:buNone/>
            </a:pPr>
            <a:r>
              <a:rPr lang="en-US" sz="1030" b="1" dirty="0">
                <a:solidFill>
                  <a:srgbClr val="16323A"/>
                </a:solidFill>
                <a:latin typeface="Calibri" pitchFamily="34" charset="0"/>
                <a:ea typeface="Calibri" pitchFamily="34" charset="-122"/>
                <a:cs typeface="Calibri" pitchFamily="34" charset="-120"/>
              </a:rPr>
              <a:t>MEL (melanoma)</a:t>
            </a:r>
            <a:endParaRPr lang="en-US" sz="1030" dirty="0"/>
          </a:p>
        </p:txBody>
      </p:sp>
      <p:sp>
        <p:nvSpPr>
          <p:cNvPr id="19" name="Text 17"/>
          <p:cNvSpPr/>
          <p:nvPr/>
        </p:nvSpPr>
        <p:spPr>
          <a:xfrm>
            <a:off x="3474720" y="391363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0.79</a:t>
            </a:r>
            <a:endParaRPr lang="en-US" sz="1030" dirty="0"/>
          </a:p>
        </p:txBody>
      </p:sp>
      <p:sp>
        <p:nvSpPr>
          <p:cNvPr id="20" name="Text 18"/>
          <p:cNvSpPr/>
          <p:nvPr/>
        </p:nvSpPr>
        <p:spPr>
          <a:xfrm>
            <a:off x="5486400" y="391363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0.68</a:t>
            </a:r>
            <a:endParaRPr lang="en-US" sz="1030" dirty="0"/>
          </a:p>
        </p:txBody>
      </p:sp>
      <p:sp>
        <p:nvSpPr>
          <p:cNvPr id="21" name="Text 19"/>
          <p:cNvSpPr/>
          <p:nvPr/>
        </p:nvSpPr>
        <p:spPr>
          <a:xfrm>
            <a:off x="7498080" y="391363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0.73</a:t>
            </a:r>
            <a:endParaRPr lang="en-US" sz="1030" dirty="0"/>
          </a:p>
        </p:txBody>
      </p:sp>
      <p:sp>
        <p:nvSpPr>
          <p:cNvPr id="22" name="Text 20"/>
          <p:cNvSpPr/>
          <p:nvPr/>
        </p:nvSpPr>
        <p:spPr>
          <a:xfrm>
            <a:off x="9509760" y="391363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0.99</a:t>
            </a:r>
            <a:endParaRPr lang="en-US" sz="1030" dirty="0"/>
          </a:p>
        </p:txBody>
      </p:sp>
      <p:sp>
        <p:nvSpPr>
          <p:cNvPr id="23" name="Shape 21"/>
          <p:cNvSpPr/>
          <p:nvPr/>
        </p:nvSpPr>
        <p:spPr>
          <a:xfrm>
            <a:off x="548640" y="4279392"/>
            <a:ext cx="10881360" cy="365760"/>
          </a:xfrm>
          <a:prstGeom prst="rect">
            <a:avLst/>
          </a:prstGeom>
          <a:solidFill>
            <a:srgbClr val="FFFFFF"/>
          </a:solidFill>
          <a:ln/>
        </p:spPr>
      </p:sp>
      <p:sp>
        <p:nvSpPr>
          <p:cNvPr id="24" name="Text 22"/>
          <p:cNvSpPr/>
          <p:nvPr/>
        </p:nvSpPr>
        <p:spPr>
          <a:xfrm>
            <a:off x="640080" y="4279392"/>
            <a:ext cx="2743200" cy="365760"/>
          </a:xfrm>
          <a:prstGeom prst="rect">
            <a:avLst/>
          </a:prstGeom>
          <a:noFill/>
          <a:ln/>
        </p:spPr>
        <p:txBody>
          <a:bodyPr wrap="square" lIns="0" tIns="0" rIns="0" bIns="0" rtlCol="0" anchor="ctr"/>
          <a:lstStyle/>
          <a:p>
            <a:pPr indent="0" marL="0">
              <a:buNone/>
            </a:pPr>
            <a:r>
              <a:rPr lang="en-US" sz="1030" b="1" dirty="0">
                <a:solidFill>
                  <a:srgbClr val="16323A"/>
                </a:solidFill>
                <a:latin typeface="Calibri" pitchFamily="34" charset="0"/>
                <a:ea typeface="Calibri" pitchFamily="34" charset="-122"/>
                <a:cs typeface="Calibri" pitchFamily="34" charset="-120"/>
              </a:rPr>
              <a:t>NV (nevi)</a:t>
            </a:r>
            <a:endParaRPr lang="en-US" sz="1030" dirty="0"/>
          </a:p>
        </p:txBody>
      </p:sp>
      <p:sp>
        <p:nvSpPr>
          <p:cNvPr id="25" name="Text 23"/>
          <p:cNvSpPr/>
          <p:nvPr/>
        </p:nvSpPr>
        <p:spPr>
          <a:xfrm>
            <a:off x="3474720" y="427939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0.97</a:t>
            </a:r>
            <a:endParaRPr lang="en-US" sz="1030" dirty="0"/>
          </a:p>
        </p:txBody>
      </p:sp>
      <p:sp>
        <p:nvSpPr>
          <p:cNvPr id="26" name="Text 24"/>
          <p:cNvSpPr/>
          <p:nvPr/>
        </p:nvSpPr>
        <p:spPr>
          <a:xfrm>
            <a:off x="5486400" y="427939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0.99</a:t>
            </a:r>
            <a:endParaRPr lang="en-US" sz="1030" dirty="0"/>
          </a:p>
        </p:txBody>
      </p:sp>
      <p:sp>
        <p:nvSpPr>
          <p:cNvPr id="27" name="Text 25"/>
          <p:cNvSpPr/>
          <p:nvPr/>
        </p:nvSpPr>
        <p:spPr>
          <a:xfrm>
            <a:off x="7498080" y="427939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0.98</a:t>
            </a:r>
            <a:endParaRPr lang="en-US" sz="1030" dirty="0"/>
          </a:p>
        </p:txBody>
      </p:sp>
      <p:sp>
        <p:nvSpPr>
          <p:cNvPr id="28" name="Text 26"/>
          <p:cNvSpPr/>
          <p:nvPr/>
        </p:nvSpPr>
        <p:spPr>
          <a:xfrm>
            <a:off x="9509760" y="427939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0.88</a:t>
            </a:r>
            <a:endParaRPr lang="en-US" sz="1030" dirty="0"/>
          </a:p>
        </p:txBody>
      </p:sp>
      <p:sp>
        <p:nvSpPr>
          <p:cNvPr id="29" name="Shape 27"/>
          <p:cNvSpPr/>
          <p:nvPr/>
        </p:nvSpPr>
        <p:spPr>
          <a:xfrm>
            <a:off x="548640" y="4645152"/>
            <a:ext cx="10881360" cy="365760"/>
          </a:xfrm>
          <a:prstGeom prst="rect">
            <a:avLst/>
          </a:prstGeom>
          <a:solidFill>
            <a:srgbClr val="F7FAFA"/>
          </a:solidFill>
          <a:ln/>
        </p:spPr>
      </p:sp>
      <p:sp>
        <p:nvSpPr>
          <p:cNvPr id="30" name="Text 28"/>
          <p:cNvSpPr/>
          <p:nvPr/>
        </p:nvSpPr>
        <p:spPr>
          <a:xfrm>
            <a:off x="640080" y="4645152"/>
            <a:ext cx="2743200" cy="365760"/>
          </a:xfrm>
          <a:prstGeom prst="rect">
            <a:avLst/>
          </a:prstGeom>
          <a:noFill/>
          <a:ln/>
        </p:spPr>
        <p:txBody>
          <a:bodyPr wrap="square" lIns="0" tIns="0" rIns="0" bIns="0" rtlCol="0" anchor="ctr"/>
          <a:lstStyle/>
          <a:p>
            <a:pPr indent="0" marL="0">
              <a:buNone/>
            </a:pPr>
            <a:r>
              <a:rPr lang="en-US" sz="1030" b="1" dirty="0">
                <a:solidFill>
                  <a:srgbClr val="16323A"/>
                </a:solidFill>
                <a:latin typeface="Calibri" pitchFamily="34" charset="0"/>
                <a:ea typeface="Calibri" pitchFamily="34" charset="-122"/>
                <a:cs typeface="Calibri" pitchFamily="34" charset="-120"/>
              </a:rPr>
              <a:t>BCC</a:t>
            </a:r>
            <a:endParaRPr lang="en-US" sz="1030" dirty="0"/>
          </a:p>
        </p:txBody>
      </p:sp>
      <p:sp>
        <p:nvSpPr>
          <p:cNvPr id="31" name="Text 29"/>
          <p:cNvSpPr/>
          <p:nvPr/>
        </p:nvSpPr>
        <p:spPr>
          <a:xfrm>
            <a:off x="3474720" y="464515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0.89</a:t>
            </a:r>
            <a:endParaRPr lang="en-US" sz="1030" dirty="0"/>
          </a:p>
        </p:txBody>
      </p:sp>
      <p:sp>
        <p:nvSpPr>
          <p:cNvPr id="32" name="Text 30"/>
          <p:cNvSpPr/>
          <p:nvPr/>
        </p:nvSpPr>
        <p:spPr>
          <a:xfrm>
            <a:off x="5486400" y="464515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0.65</a:t>
            </a:r>
            <a:endParaRPr lang="en-US" sz="1030" dirty="0"/>
          </a:p>
        </p:txBody>
      </p:sp>
      <p:sp>
        <p:nvSpPr>
          <p:cNvPr id="33" name="Text 31"/>
          <p:cNvSpPr/>
          <p:nvPr/>
        </p:nvSpPr>
        <p:spPr>
          <a:xfrm>
            <a:off x="7498080" y="464515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0.76</a:t>
            </a:r>
            <a:endParaRPr lang="en-US" sz="1030" dirty="0"/>
          </a:p>
        </p:txBody>
      </p:sp>
      <p:sp>
        <p:nvSpPr>
          <p:cNvPr id="34" name="Text 32"/>
          <p:cNvSpPr/>
          <p:nvPr/>
        </p:nvSpPr>
        <p:spPr>
          <a:xfrm>
            <a:off x="9509760" y="464515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1.00</a:t>
            </a:r>
            <a:endParaRPr lang="en-US" sz="1030" dirty="0"/>
          </a:p>
        </p:txBody>
      </p:sp>
      <p:sp>
        <p:nvSpPr>
          <p:cNvPr id="35" name="Shape 33"/>
          <p:cNvSpPr/>
          <p:nvPr/>
        </p:nvSpPr>
        <p:spPr>
          <a:xfrm>
            <a:off x="548640" y="5010912"/>
            <a:ext cx="10881360" cy="365760"/>
          </a:xfrm>
          <a:prstGeom prst="rect">
            <a:avLst/>
          </a:prstGeom>
          <a:solidFill>
            <a:srgbClr val="FFFFFF"/>
          </a:solidFill>
          <a:ln/>
        </p:spPr>
      </p:sp>
      <p:sp>
        <p:nvSpPr>
          <p:cNvPr id="36" name="Text 34"/>
          <p:cNvSpPr/>
          <p:nvPr/>
        </p:nvSpPr>
        <p:spPr>
          <a:xfrm>
            <a:off x="640080" y="5010912"/>
            <a:ext cx="2743200" cy="365760"/>
          </a:xfrm>
          <a:prstGeom prst="rect">
            <a:avLst/>
          </a:prstGeom>
          <a:noFill/>
          <a:ln/>
        </p:spPr>
        <p:txBody>
          <a:bodyPr wrap="square" lIns="0" tIns="0" rIns="0" bIns="0" rtlCol="0" anchor="ctr"/>
          <a:lstStyle/>
          <a:p>
            <a:pPr indent="0" marL="0">
              <a:buNone/>
            </a:pPr>
            <a:r>
              <a:rPr lang="en-US" sz="1030" b="1" dirty="0">
                <a:solidFill>
                  <a:srgbClr val="16323A"/>
                </a:solidFill>
                <a:latin typeface="Calibri" pitchFamily="34" charset="0"/>
                <a:ea typeface="Calibri" pitchFamily="34" charset="-122"/>
                <a:cs typeface="Calibri" pitchFamily="34" charset="-120"/>
              </a:rPr>
              <a:t>VASC</a:t>
            </a:r>
            <a:endParaRPr lang="en-US" sz="1030" dirty="0"/>
          </a:p>
        </p:txBody>
      </p:sp>
      <p:sp>
        <p:nvSpPr>
          <p:cNvPr id="37" name="Text 35"/>
          <p:cNvSpPr/>
          <p:nvPr/>
        </p:nvSpPr>
        <p:spPr>
          <a:xfrm>
            <a:off x="3474720" y="501091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1.00</a:t>
            </a:r>
            <a:endParaRPr lang="en-US" sz="1030" dirty="0"/>
          </a:p>
        </p:txBody>
      </p:sp>
      <p:sp>
        <p:nvSpPr>
          <p:cNvPr id="38" name="Text 36"/>
          <p:cNvSpPr/>
          <p:nvPr/>
        </p:nvSpPr>
        <p:spPr>
          <a:xfrm>
            <a:off x="5486400" y="501091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1.00</a:t>
            </a:r>
            <a:endParaRPr lang="en-US" sz="1030" dirty="0"/>
          </a:p>
        </p:txBody>
      </p:sp>
      <p:sp>
        <p:nvSpPr>
          <p:cNvPr id="39" name="Text 37"/>
          <p:cNvSpPr/>
          <p:nvPr/>
        </p:nvSpPr>
        <p:spPr>
          <a:xfrm>
            <a:off x="7498080" y="501091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1.00</a:t>
            </a:r>
            <a:endParaRPr lang="en-US" sz="1030" dirty="0"/>
          </a:p>
        </p:txBody>
      </p:sp>
      <p:sp>
        <p:nvSpPr>
          <p:cNvPr id="40" name="Text 38"/>
          <p:cNvSpPr/>
          <p:nvPr/>
        </p:nvSpPr>
        <p:spPr>
          <a:xfrm>
            <a:off x="9509760" y="5010912"/>
            <a:ext cx="1920240" cy="365760"/>
          </a:xfrm>
          <a:prstGeom prst="rect">
            <a:avLst/>
          </a:prstGeom>
          <a:noFill/>
          <a:ln/>
        </p:spPr>
        <p:txBody>
          <a:bodyPr wrap="square" lIns="0" tIns="0" rIns="0" bIns="0" rtlCol="0" anchor="ctr"/>
          <a:lstStyle/>
          <a:p>
            <a:pPr indent="0" marL="0">
              <a:buNone/>
            </a:pPr>
            <a:r>
              <a:rPr lang="en-US" sz="1030" dirty="0">
                <a:solidFill>
                  <a:srgbClr val="16323A"/>
                </a:solidFill>
                <a:latin typeface="Calibri" pitchFamily="34" charset="0"/>
                <a:ea typeface="Calibri" pitchFamily="34" charset="-122"/>
                <a:cs typeface="Calibri" pitchFamily="34" charset="-120"/>
              </a:rPr>
              <a:t>1.00</a:t>
            </a:r>
            <a:endParaRPr lang="en-US" sz="1030" dirty="0"/>
          </a:p>
        </p:txBody>
      </p:sp>
      <p:sp>
        <p:nvSpPr>
          <p:cNvPr id="41" name="Text 39"/>
          <p:cNvSpPr/>
          <p:nvPr/>
        </p:nvSpPr>
        <p:spPr>
          <a:xfrm>
            <a:off x="548640" y="5513832"/>
            <a:ext cx="10881360" cy="502920"/>
          </a:xfrm>
          <a:prstGeom prst="rect">
            <a:avLst/>
          </a:prstGeom>
          <a:noFill/>
          <a:ln/>
        </p:spPr>
        <p:txBody>
          <a:bodyPr wrap="square" rtlCol="0" anchor="ctr"/>
          <a:lstStyle/>
          <a:p>
            <a:pPr indent="0" marL="0">
              <a:lnSpc>
                <a:spcPts val="1200"/>
              </a:lnSpc>
              <a:buNone/>
            </a:pPr>
            <a:r>
              <a:rPr lang="en-US" sz="980" i="1" dirty="0">
                <a:solidFill>
                  <a:srgbClr val="5C7A80"/>
                </a:solidFill>
                <a:latin typeface="Calibri" pitchFamily="34" charset="0"/>
                <a:ea typeface="Calibri" pitchFamily="34" charset="-122"/>
                <a:cs typeface="Calibri" pitchFamily="34" charset="-120"/>
              </a:rPr>
              <a:t>Figures shown are ViTfSCD-Large results for four representative classes (from Table 3 of the paper). Melanoma (MEL) remains the hardest class to classify.</a:t>
            </a:r>
            <a:endParaRPr lang="en-US" sz="980" dirty="0"/>
          </a:p>
        </p:txBody>
      </p:sp>
      <p:sp>
        <p:nvSpPr>
          <p:cNvPr id="42" name="Text 40"/>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43" name="Text 41"/>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11</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2700" b="1" dirty="0">
                <a:solidFill>
                  <a:srgbClr val="16323A"/>
                </a:solidFill>
                <a:latin typeface="Cambria" pitchFamily="34" charset="0"/>
                <a:ea typeface="Cambria" pitchFamily="34" charset="-122"/>
                <a:cs typeface="Cambria" pitchFamily="34" charset="-120"/>
              </a:rPr>
              <a:t>Performance Comparison (HAM10000)</a:t>
            </a:r>
            <a:endParaRPr lang="en-US" sz="2700" dirty="0"/>
          </a:p>
        </p:txBody>
      </p:sp>
      <p:graphicFrame>
        <p:nvGraphicFramePr>
          <p:cNvPr id="4" name="Chart 0" descr=""/>
          <p:cNvGraphicFramePr/>
          <p:nvPr/>
        </p:nvGraphicFramePr>
        <p:xfrm>
          <a:off x="548640" y="123444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1234440"/>
            <a:ext cx="3639312" cy="4160520"/>
          </a:xfrm>
          <a:prstGeom prst="roundRect">
            <a:avLst>
              <a:gd name="adj" fmla="val 2513"/>
            </a:avLst>
          </a:prstGeom>
          <a:solidFill>
            <a:srgbClr val="0B2E33"/>
          </a:solidFill>
          <a:ln/>
        </p:spPr>
      </p:sp>
      <p:sp>
        <p:nvSpPr>
          <p:cNvPr id="6" name="Text 3"/>
          <p:cNvSpPr/>
          <p:nvPr/>
        </p:nvSpPr>
        <p:spPr>
          <a:xfrm>
            <a:off x="8183880" y="1371600"/>
            <a:ext cx="3291840" cy="27432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WHY THIS RESULT MATTERS</a:t>
            </a:r>
            <a:endParaRPr lang="en-US" sz="1100" dirty="0"/>
          </a:p>
        </p:txBody>
      </p:sp>
      <p:sp>
        <p:nvSpPr>
          <p:cNvPr id="7" name="Text 4"/>
          <p:cNvSpPr/>
          <p:nvPr/>
        </p:nvSpPr>
        <p:spPr>
          <a:xfrm>
            <a:off x="8183880" y="1737360"/>
            <a:ext cx="3291840" cy="3566160"/>
          </a:xfrm>
          <a:prstGeom prst="rect">
            <a:avLst/>
          </a:prstGeom>
          <a:noFill/>
          <a:ln/>
        </p:spPr>
        <p:txBody>
          <a:bodyPr wrap="square" lIns="0" tIns="0" rIns="0" bIns="0" rtlCol="0" anchor="t"/>
          <a:lstStyle/>
          <a:p>
            <a:pPr marL="177800" indent="-177800">
              <a:spcAft>
                <a:spcPts val="1000"/>
              </a:spcAft>
              <a:buSzPct val="100000"/>
              <a:buChar char="•"/>
            </a:pPr>
            <a:r>
              <a:rPr lang="en-US" sz="1030" dirty="0">
                <a:solidFill>
                  <a:srgbClr val="FFFFFF"/>
                </a:solidFill>
                <a:latin typeface="Calibri" pitchFamily="34" charset="0"/>
                <a:ea typeface="Calibri" pitchFamily="34" charset="-122"/>
                <a:cs typeface="Calibri" pitchFamily="34" charset="-120"/>
              </a:rPr>
              <a:t>ViTfSCD-Large (94.1%) outperforms every baseline, including the strongest CNN baseline (IRv2+SA, 91.9% in this study).</a:t>
            </a:r>
            <a:endParaRPr lang="en-US" sz="1030" dirty="0"/>
          </a:p>
          <a:p>
            <a:pPr marL="177800" indent="-177800">
              <a:spcAft>
                <a:spcPts val="1000"/>
              </a:spcAft>
              <a:buSzPct val="100000"/>
              <a:buChar char="•"/>
            </a:pPr>
            <a:r>
              <a:rPr lang="en-US" sz="1030" dirty="0">
                <a:solidFill>
                  <a:srgbClr val="FFFFFF"/>
                </a:solidFill>
                <a:latin typeface="Calibri" pitchFamily="34" charset="0"/>
                <a:ea typeface="Calibri" pitchFamily="34" charset="-122"/>
                <a:cs typeface="Calibri" pitchFamily="34" charset="-120"/>
              </a:rPr>
              <a:t>It also beats the original, unmodified ViT-Large16 (93.7%) — showing the rebalancing + classification-block changes add real value.</a:t>
            </a:r>
            <a:endParaRPr lang="en-US" sz="1030" dirty="0"/>
          </a:p>
          <a:p>
            <a:pPr marL="177800" indent="-177800">
              <a:spcAft>
                <a:spcPts val="1000"/>
              </a:spcAft>
              <a:buSzPct val="100000"/>
              <a:buChar char="•"/>
            </a:pPr>
            <a:r>
              <a:rPr lang="en-US" sz="1030" dirty="0">
                <a:solidFill>
                  <a:srgbClr val="FFFFFF"/>
                </a:solidFill>
                <a:latin typeface="Calibri" pitchFamily="34" charset="0"/>
                <a:ea typeface="Calibri" pitchFamily="34" charset="-122"/>
                <a:cs typeface="Calibri" pitchFamily="34" charset="-120"/>
              </a:rPr>
              <a:t>Gains are modest (roughly 1–2 percentage points) but consistent across models and datasets.</a:t>
            </a:r>
            <a:endParaRPr lang="en-US" sz="1030" dirty="0"/>
          </a:p>
          <a:p>
            <a:pPr marL="177800" indent="-177800">
              <a:spcAft>
                <a:spcPts val="1000"/>
              </a:spcAft>
              <a:buSzPct val="100000"/>
              <a:buChar char="•"/>
            </a:pPr>
            <a:r>
              <a:rPr lang="en-US" sz="1030" dirty="0">
                <a:solidFill>
                  <a:srgbClr val="FFFFFF"/>
                </a:solidFill>
                <a:latin typeface="Calibri" pitchFamily="34" charset="0"/>
                <a:ea typeface="Calibri" pitchFamily="34" charset="-122"/>
                <a:cs typeface="Calibri" pitchFamily="34" charset="-120"/>
              </a:rPr>
              <a:t>On the separate DERMOFIT dataset, ViTfSCD-Base also outperformed ResNet50, IRv2, and IRv2+SA baselines (80.5% vs. 71–75%).</a:t>
            </a:r>
            <a:endParaRPr lang="en-US" sz="1030" dirty="0"/>
          </a:p>
        </p:txBody>
      </p:sp>
      <p:sp>
        <p:nvSpPr>
          <p:cNvPr id="8" name="Text 5"/>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9" name="Text 6"/>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SECTIONS 11–12</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2800" b="1" dirty="0">
                <a:solidFill>
                  <a:srgbClr val="16323A"/>
                </a:solidFill>
                <a:latin typeface="Cambria" pitchFamily="34" charset="0"/>
                <a:ea typeface="Cambria" pitchFamily="34" charset="-122"/>
                <a:cs typeface="Cambria" pitchFamily="34" charset="-120"/>
              </a:rPr>
              <a:t>Interpretability &amp; Advantages</a:t>
            </a:r>
            <a:endParaRPr lang="en-US" sz="2800" dirty="0"/>
          </a:p>
        </p:txBody>
      </p:sp>
      <p:sp>
        <p:nvSpPr>
          <p:cNvPr id="4" name="Shape 2"/>
          <p:cNvSpPr/>
          <p:nvPr/>
        </p:nvSpPr>
        <p:spPr>
          <a:xfrm>
            <a:off x="548640" y="1371600"/>
            <a:ext cx="5303520" cy="4251960"/>
          </a:xfrm>
          <a:prstGeom prst="roundRect">
            <a:avLst>
              <a:gd name="adj" fmla="val 2151"/>
            </a:avLst>
          </a:prstGeom>
          <a:solidFill>
            <a:srgbClr val="F7FAFA"/>
          </a:solidFill>
          <a:ln w="12700">
            <a:solidFill>
              <a:srgbClr val="DCEBEA"/>
            </a:solidFill>
            <a:prstDash val="solid"/>
          </a:ln>
        </p:spPr>
      </p:sp>
      <p:sp>
        <p:nvSpPr>
          <p:cNvPr id="5" name="Text 3"/>
          <p:cNvSpPr/>
          <p:nvPr/>
        </p:nvSpPr>
        <p:spPr>
          <a:xfrm>
            <a:off x="731520" y="1508760"/>
            <a:ext cx="4937760" cy="274320"/>
          </a:xfrm>
          <a:prstGeom prst="rect">
            <a:avLst/>
          </a:prstGeom>
          <a:noFill/>
          <a:ln/>
        </p:spPr>
        <p:txBody>
          <a:bodyPr wrap="square"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ATTENTION MAP VISUALISATION</a:t>
            </a:r>
            <a:endParaRPr lang="en-US" sz="1100" dirty="0"/>
          </a:p>
        </p:txBody>
      </p:sp>
      <p:sp>
        <p:nvSpPr>
          <p:cNvPr id="6" name="Shape 4"/>
          <p:cNvSpPr/>
          <p:nvPr/>
        </p:nvSpPr>
        <p:spPr>
          <a:xfrm>
            <a:off x="822960" y="1874520"/>
            <a:ext cx="2331720" cy="1874520"/>
          </a:xfrm>
          <a:prstGeom prst="roundRect">
            <a:avLst>
              <a:gd name="adj" fmla="val 3902"/>
            </a:avLst>
          </a:prstGeom>
          <a:solidFill>
            <a:srgbClr val="E8D9CE"/>
          </a:solidFill>
          <a:ln/>
        </p:spPr>
      </p:sp>
      <p:sp>
        <p:nvSpPr>
          <p:cNvPr id="7" name="Shape 5"/>
          <p:cNvSpPr/>
          <p:nvPr/>
        </p:nvSpPr>
        <p:spPr>
          <a:xfrm>
            <a:off x="1600200" y="2468880"/>
            <a:ext cx="777240" cy="685800"/>
          </a:xfrm>
          <a:prstGeom prst="ellipse">
            <a:avLst/>
          </a:prstGeom>
          <a:solidFill>
            <a:srgbClr val="6B4A3A"/>
          </a:solidFill>
          <a:ln/>
        </p:spPr>
      </p:sp>
      <p:sp>
        <p:nvSpPr>
          <p:cNvPr id="8" name="Text 6"/>
          <p:cNvSpPr/>
          <p:nvPr/>
        </p:nvSpPr>
        <p:spPr>
          <a:xfrm>
            <a:off x="822960" y="3803904"/>
            <a:ext cx="2331720" cy="274320"/>
          </a:xfrm>
          <a:prstGeom prst="rect">
            <a:avLst/>
          </a:prstGeom>
          <a:noFill/>
          <a:ln/>
        </p:spPr>
        <p:txBody>
          <a:bodyPr wrap="square" rtlCol="0" anchor="ctr"/>
          <a:lstStyle/>
          <a:p>
            <a:pPr algn="ctr" indent="0" marL="0">
              <a:buNone/>
            </a:pPr>
            <a:r>
              <a:rPr lang="en-US" sz="1000" dirty="0">
                <a:solidFill>
                  <a:srgbClr val="5C7A80"/>
                </a:solidFill>
                <a:latin typeface="Calibri" pitchFamily="34" charset="0"/>
                <a:ea typeface="Calibri" pitchFamily="34" charset="-122"/>
                <a:cs typeface="Calibri" pitchFamily="34" charset="-120"/>
              </a:rPr>
              <a:t>Original</a:t>
            </a:r>
            <a:endParaRPr lang="en-US" sz="1000" dirty="0"/>
          </a:p>
        </p:txBody>
      </p:sp>
      <p:sp>
        <p:nvSpPr>
          <p:cNvPr id="9" name="Shape 7"/>
          <p:cNvSpPr/>
          <p:nvPr/>
        </p:nvSpPr>
        <p:spPr>
          <a:xfrm>
            <a:off x="3337560" y="1874520"/>
            <a:ext cx="2331720" cy="1874520"/>
          </a:xfrm>
          <a:prstGeom prst="roundRect">
            <a:avLst>
              <a:gd name="adj" fmla="val 3902"/>
            </a:avLst>
          </a:prstGeom>
          <a:solidFill>
            <a:srgbClr val="2B1B14"/>
          </a:solidFill>
          <a:ln/>
        </p:spPr>
      </p:sp>
      <p:sp>
        <p:nvSpPr>
          <p:cNvPr id="10" name="Shape 8"/>
          <p:cNvSpPr/>
          <p:nvPr/>
        </p:nvSpPr>
        <p:spPr>
          <a:xfrm>
            <a:off x="4114800" y="2450592"/>
            <a:ext cx="822960" cy="713232"/>
          </a:xfrm>
          <a:prstGeom prst="ellipse">
            <a:avLst/>
          </a:prstGeom>
          <a:solidFill>
            <a:srgbClr val="F4D35E"/>
          </a:solidFill>
          <a:ln w="25400">
            <a:solidFill>
              <a:srgbClr val="F4A261"/>
            </a:solidFill>
            <a:prstDash val="solid"/>
          </a:ln>
        </p:spPr>
      </p:sp>
      <p:sp>
        <p:nvSpPr>
          <p:cNvPr id="11" name="Text 9"/>
          <p:cNvSpPr/>
          <p:nvPr/>
        </p:nvSpPr>
        <p:spPr>
          <a:xfrm>
            <a:off x="3337560" y="3803904"/>
            <a:ext cx="2331720" cy="274320"/>
          </a:xfrm>
          <a:prstGeom prst="rect">
            <a:avLst/>
          </a:prstGeom>
          <a:noFill/>
          <a:ln/>
        </p:spPr>
        <p:txBody>
          <a:bodyPr wrap="square" rtlCol="0" anchor="ctr"/>
          <a:lstStyle/>
          <a:p>
            <a:pPr algn="ctr" indent="0" marL="0">
              <a:buNone/>
            </a:pPr>
            <a:r>
              <a:rPr lang="en-US" sz="1000" dirty="0">
                <a:solidFill>
                  <a:srgbClr val="5C7A80"/>
                </a:solidFill>
                <a:latin typeface="Calibri" pitchFamily="34" charset="0"/>
                <a:ea typeface="Calibri" pitchFamily="34" charset="-122"/>
                <a:cs typeface="Calibri" pitchFamily="34" charset="-120"/>
              </a:rPr>
              <a:t>Attention Map</a:t>
            </a:r>
            <a:endParaRPr lang="en-US" sz="1000" dirty="0"/>
          </a:p>
        </p:txBody>
      </p:sp>
      <p:sp>
        <p:nvSpPr>
          <p:cNvPr id="12" name="Text 10"/>
          <p:cNvSpPr/>
          <p:nvPr/>
        </p:nvSpPr>
        <p:spPr>
          <a:xfrm>
            <a:off x="822960" y="4160520"/>
            <a:ext cx="4846320" cy="822960"/>
          </a:xfrm>
          <a:prstGeom prst="rect">
            <a:avLst/>
          </a:prstGeom>
          <a:noFill/>
          <a:ln/>
        </p:spPr>
        <p:txBody>
          <a:bodyPr wrap="square" rtlCol="0" anchor="ctr"/>
          <a:lstStyle/>
          <a:p>
            <a:pPr indent="0" marL="0">
              <a:lnSpc>
                <a:spcPts val="1300"/>
              </a:lnSpc>
              <a:buNone/>
            </a:pPr>
            <a:r>
              <a:rPr lang="en-US" sz="1050" dirty="0">
                <a:solidFill>
                  <a:srgbClr val="16323A"/>
                </a:solidFill>
                <a:latin typeface="Calibri" pitchFamily="34" charset="0"/>
                <a:ea typeface="Calibri" pitchFamily="34" charset="-122"/>
                <a:cs typeface="Calibri" pitchFamily="34" charset="-120"/>
              </a:rPr>
              <a:t>Diseased / lesion regions receive brighter, higher-weighted attention; irrelevant skin and background receive lower weight — boosting classification accuracy and offering visual interpretability.</a:t>
            </a:r>
            <a:endParaRPr lang="en-US" sz="1050" dirty="0"/>
          </a:p>
        </p:txBody>
      </p:sp>
      <p:sp>
        <p:nvSpPr>
          <p:cNvPr id="13" name="Text 11"/>
          <p:cNvSpPr/>
          <p:nvPr/>
        </p:nvSpPr>
        <p:spPr>
          <a:xfrm>
            <a:off x="822960" y="5074920"/>
            <a:ext cx="4846320" cy="365760"/>
          </a:xfrm>
          <a:prstGeom prst="rect">
            <a:avLst/>
          </a:prstGeom>
          <a:noFill/>
          <a:ln/>
        </p:spPr>
        <p:txBody>
          <a:bodyPr wrap="square" rtlCol="0" anchor="ctr"/>
          <a:lstStyle/>
          <a:p>
            <a:pPr indent="0" marL="0">
              <a:buNone/>
            </a:pPr>
            <a:r>
              <a:rPr lang="en-US" sz="880" i="1" dirty="0">
                <a:solidFill>
                  <a:srgbClr val="5C7A80"/>
                </a:solidFill>
                <a:latin typeface="Calibri" pitchFamily="34" charset="0"/>
                <a:ea typeface="Calibri" pitchFamily="34" charset="-122"/>
                <a:cs typeface="Calibri" pitchFamily="34" charset="-120"/>
              </a:rPr>
              <a:t>Illustrative recreation — adapted from Yang et al. (2023), Fig. 6.</a:t>
            </a:r>
            <a:endParaRPr lang="en-US" sz="880" dirty="0"/>
          </a:p>
        </p:txBody>
      </p:sp>
      <p:sp>
        <p:nvSpPr>
          <p:cNvPr id="14" name="Shape 12"/>
          <p:cNvSpPr/>
          <p:nvPr/>
        </p:nvSpPr>
        <p:spPr>
          <a:xfrm>
            <a:off x="6126480" y="1371600"/>
            <a:ext cx="5513832" cy="4251960"/>
          </a:xfrm>
          <a:prstGeom prst="roundRect">
            <a:avLst>
              <a:gd name="adj" fmla="val 2151"/>
            </a:avLst>
          </a:prstGeom>
          <a:solidFill>
            <a:srgbClr val="028090"/>
          </a:solidFill>
          <a:ln/>
        </p:spPr>
      </p:sp>
      <p:sp>
        <p:nvSpPr>
          <p:cNvPr id="15" name="Text 13"/>
          <p:cNvSpPr/>
          <p:nvPr/>
        </p:nvSpPr>
        <p:spPr>
          <a:xfrm>
            <a:off x="6309360" y="1508760"/>
            <a:ext cx="5120640"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ADVANTAGES (supported by the paper)</a:t>
            </a:r>
            <a:endParaRPr lang="en-US" sz="1100" dirty="0"/>
          </a:p>
        </p:txBody>
      </p:sp>
      <p:sp>
        <p:nvSpPr>
          <p:cNvPr id="16" name="Text 14"/>
          <p:cNvSpPr/>
          <p:nvPr/>
        </p:nvSpPr>
        <p:spPr>
          <a:xfrm>
            <a:off x="6309360" y="1828800"/>
            <a:ext cx="5120640" cy="3657600"/>
          </a:xfrm>
          <a:prstGeom prst="rect">
            <a:avLst/>
          </a:prstGeom>
          <a:noFill/>
          <a:ln/>
        </p:spPr>
        <p:txBody>
          <a:bodyPr wrap="square" lIns="0" tIns="0" rIns="0" bIns="0" rtlCol="0" anchor="t"/>
          <a:lstStyle/>
          <a:p>
            <a:pPr marL="177800" indent="-177800">
              <a:spcAft>
                <a:spcPts val="1000"/>
              </a:spcAft>
              <a:buSzPct val="100000"/>
              <a:buChar char="•"/>
            </a:pPr>
            <a:r>
              <a:rPr lang="en-US" sz="1130" dirty="0">
                <a:solidFill>
                  <a:srgbClr val="FFFFFF"/>
                </a:solidFill>
                <a:latin typeface="Calibri" pitchFamily="34" charset="0"/>
                <a:ea typeface="Calibri" pitchFamily="34" charset="-122"/>
                <a:cs typeface="Calibri" pitchFamily="34" charset="-120"/>
              </a:rPr>
              <a:t>Strong classification accuracy (94.1%), beating tested CNN and original-ViT baselines</a:t>
            </a:r>
            <a:endParaRPr lang="en-US" sz="1130" dirty="0"/>
          </a:p>
          <a:p>
            <a:pPr marL="177800" indent="-177800">
              <a:spcAft>
                <a:spcPts val="1000"/>
              </a:spcAft>
              <a:buSzPct val="100000"/>
              <a:buChar char="•"/>
            </a:pPr>
            <a:r>
              <a:rPr lang="en-US" sz="1130" dirty="0">
                <a:solidFill>
                  <a:srgbClr val="FFFFFF"/>
                </a:solidFill>
                <a:latin typeface="Calibri" pitchFamily="34" charset="0"/>
                <a:ea typeface="Calibri" pitchFamily="34" charset="-122"/>
                <a:cs typeface="Calibri" pitchFamily="34" charset="-120"/>
              </a:rPr>
              <a:t>Self-attention captures relationships between distant image patches, not just local pixels</a:t>
            </a:r>
            <a:endParaRPr lang="en-US" sz="1130" dirty="0"/>
          </a:p>
          <a:p>
            <a:pPr marL="177800" indent="-177800">
              <a:spcAft>
                <a:spcPts val="1000"/>
              </a:spcAft>
              <a:buSzPct val="100000"/>
              <a:buChar char="•"/>
            </a:pPr>
            <a:r>
              <a:rPr lang="en-US" sz="1130" dirty="0">
                <a:solidFill>
                  <a:srgbClr val="FFFFFF"/>
                </a:solidFill>
                <a:latin typeface="Calibri" pitchFamily="34" charset="0"/>
                <a:ea typeface="Calibri" pitchFamily="34" charset="-122"/>
                <a:cs typeface="Calibri" pitchFamily="34" charset="-120"/>
              </a:rPr>
              <a:t>Class imbalance directly addressed via rebalancing (large measured accuracy gain)</a:t>
            </a:r>
            <a:endParaRPr lang="en-US" sz="1130" dirty="0"/>
          </a:p>
          <a:p>
            <a:pPr marL="177800" indent="-177800">
              <a:spcAft>
                <a:spcPts val="1000"/>
              </a:spcAft>
              <a:buSzPct val="100000"/>
              <a:buChar char="•"/>
            </a:pPr>
            <a:r>
              <a:rPr lang="en-US" sz="1130" dirty="0">
                <a:solidFill>
                  <a:srgbClr val="FFFFFF"/>
                </a:solidFill>
                <a:latin typeface="Calibri" pitchFamily="34" charset="0"/>
                <a:ea typeface="Calibri" pitchFamily="34" charset="-122"/>
                <a:cs typeface="Calibri" pitchFamily="34" charset="-120"/>
              </a:rPr>
              <a:t>Transfer learning reuses ImageNet features, reducing data needs</a:t>
            </a:r>
            <a:endParaRPr lang="en-US" sz="1130" dirty="0"/>
          </a:p>
          <a:p>
            <a:pPr marL="177800" indent="-177800">
              <a:spcAft>
                <a:spcPts val="1000"/>
              </a:spcAft>
              <a:buSzPct val="100000"/>
              <a:buChar char="•"/>
            </a:pPr>
            <a:r>
              <a:rPr lang="en-US" sz="1130" dirty="0">
                <a:solidFill>
                  <a:srgbClr val="FFFFFF"/>
                </a:solidFill>
                <a:latin typeface="Calibri" pitchFamily="34" charset="0"/>
                <a:ea typeface="Calibri" pitchFamily="34" charset="-122"/>
                <a:cs typeface="Calibri" pitchFamily="34" charset="-120"/>
              </a:rPr>
              <a:t>Attention maps give visual interpretability — shown to outperform Grad-CAM in prior work</a:t>
            </a:r>
            <a:endParaRPr lang="en-US" sz="1130" dirty="0"/>
          </a:p>
          <a:p>
            <a:pPr marL="177800" indent="-177800">
              <a:spcAft>
                <a:spcPts val="1000"/>
              </a:spcAft>
              <a:buSzPct val="100000"/>
              <a:buChar char="•"/>
            </a:pPr>
            <a:r>
              <a:rPr lang="en-US" sz="1130" dirty="0">
                <a:solidFill>
                  <a:srgbClr val="FFFFFF"/>
                </a:solidFill>
                <a:latin typeface="Calibri" pitchFamily="34" charset="0"/>
                <a:ea typeface="Calibri" pitchFamily="34" charset="-122"/>
                <a:cs typeface="Calibri" pitchFamily="34" charset="-120"/>
              </a:rPr>
              <a:t>Evaluated against multiple strong baselines on two independent datasets</a:t>
            </a:r>
            <a:endParaRPr lang="en-US" sz="1130" dirty="0"/>
          </a:p>
        </p:txBody>
      </p:sp>
      <p:sp>
        <p:nvSpPr>
          <p:cNvPr id="17" name="Text 15"/>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18" name="Text 16"/>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RECOMMENDED STRUCTURE · SECTION 13</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Limitations</a:t>
            </a:r>
            <a:endParaRPr lang="en-US" sz="3000" dirty="0"/>
          </a:p>
        </p:txBody>
      </p:sp>
      <p:sp>
        <p:nvSpPr>
          <p:cNvPr id="4" name="Shape 2"/>
          <p:cNvSpPr/>
          <p:nvPr/>
        </p:nvSpPr>
        <p:spPr>
          <a:xfrm>
            <a:off x="548640" y="1371600"/>
            <a:ext cx="5349240" cy="310896"/>
          </a:xfrm>
          <a:prstGeom prst="roundRect">
            <a:avLst>
              <a:gd name="adj" fmla="val 17647"/>
            </a:avLst>
          </a:prstGeom>
          <a:solidFill>
            <a:srgbClr val="D7263D"/>
          </a:solidFill>
          <a:ln/>
        </p:spPr>
      </p:sp>
      <p:sp>
        <p:nvSpPr>
          <p:cNvPr id="5" name="Text 3"/>
          <p:cNvSpPr/>
          <p:nvPr/>
        </p:nvSpPr>
        <p:spPr>
          <a:xfrm>
            <a:off x="548640" y="1371600"/>
            <a:ext cx="53492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 Authors' Stated Limitations</a:t>
            </a:r>
            <a:endParaRPr lang="en-US" sz="1150" dirty="0"/>
          </a:p>
        </p:txBody>
      </p:sp>
      <p:sp>
        <p:nvSpPr>
          <p:cNvPr id="6" name="Text 4"/>
          <p:cNvSpPr/>
          <p:nvPr/>
        </p:nvSpPr>
        <p:spPr>
          <a:xfrm>
            <a:off x="548640" y="1828800"/>
            <a:ext cx="5349240" cy="4023360"/>
          </a:xfrm>
          <a:prstGeom prst="rect">
            <a:avLst/>
          </a:prstGeom>
          <a:noFill/>
          <a:ln/>
        </p:spPr>
        <p:txBody>
          <a:bodyPr wrap="square" lIns="0" tIns="0" rIns="0" bIns="0" rtlCol="0" anchor="t"/>
          <a:lstStyle/>
          <a:p>
            <a:pPr marL="177800" indent="-177800">
              <a:spcAft>
                <a:spcPts val="1200"/>
              </a:spcAft>
              <a:buSzPct val="100000"/>
              <a:buChar char="•"/>
            </a:pPr>
            <a:r>
              <a:rPr lang="en-US" sz="1130" dirty="0">
                <a:solidFill>
                  <a:srgbClr val="16323A"/>
                </a:solidFill>
                <a:latin typeface="Calibri" pitchFamily="34" charset="0"/>
                <a:ea typeface="Calibri" pitchFamily="34" charset="-122"/>
                <a:cs typeface="Calibri" pitchFamily="34" charset="-120"/>
              </a:rPr>
              <a:t>Large model size: ViTfSCD-Large has 307M parameters (vs. 25M for ResNet50, 56M for IRv2) — increases training and deployment cost.</a:t>
            </a:r>
            <a:endParaRPr lang="en-US" sz="1130" dirty="0"/>
          </a:p>
          <a:p>
            <a:pPr marL="177800" indent="-177800">
              <a:spcAft>
                <a:spcPts val="1200"/>
              </a:spcAft>
              <a:buSzPct val="100000"/>
              <a:buChar char="•"/>
            </a:pPr>
            <a:r>
              <a:rPr lang="en-US" sz="1130" dirty="0">
                <a:solidFill>
                  <a:srgbClr val="16323A"/>
                </a:solidFill>
                <a:latin typeface="Calibri" pitchFamily="34" charset="0"/>
                <a:ea typeface="Calibri" pitchFamily="34" charset="-122"/>
                <a:cs typeface="Calibri" pitchFamily="34" charset="-120"/>
              </a:rPr>
              <a:t>Data efficiency remains an open problem — the largest ViT variants need massive pretraining sets (e.g., 300M-image JFT-300M) to shine.</a:t>
            </a:r>
            <a:endParaRPr lang="en-US" sz="1130" dirty="0"/>
          </a:p>
          <a:p>
            <a:pPr marL="177800" indent="-177800">
              <a:spcAft>
                <a:spcPts val="1200"/>
              </a:spcAft>
              <a:buSzPct val="100000"/>
              <a:buChar char="•"/>
            </a:pPr>
            <a:r>
              <a:rPr lang="en-US" sz="1130" dirty="0">
                <a:solidFill>
                  <a:srgbClr val="16323A"/>
                </a:solidFill>
                <a:latin typeface="Calibri" pitchFamily="34" charset="0"/>
                <a:ea typeface="Calibri" pitchFamily="34" charset="-122"/>
                <a:cs typeface="Calibri" pitchFamily="34" charset="-120"/>
              </a:rPr>
              <a:t>Model generalisation to non-dermoscopy images (mobile-camera photos, different lighting/backgrounds) is flagged as untested and likely to degrade performance.</a:t>
            </a:r>
            <a:endParaRPr lang="en-US" sz="1130" dirty="0"/>
          </a:p>
          <a:p>
            <a:pPr marL="177800" indent="-177800">
              <a:spcAft>
                <a:spcPts val="1200"/>
              </a:spcAft>
              <a:buSzPct val="100000"/>
              <a:buChar char="•"/>
            </a:pPr>
            <a:r>
              <a:rPr lang="en-US" sz="1130" dirty="0">
                <a:solidFill>
                  <a:srgbClr val="16323A"/>
                </a:solidFill>
                <a:latin typeface="Calibri" pitchFamily="34" charset="0"/>
                <a:ea typeface="Calibri" pitchFamily="34" charset="-122"/>
                <a:cs typeface="Calibri" pitchFamily="34" charset="-120"/>
              </a:rPr>
              <a:t>Model robustness to noise and imaging variation is an open concern raised by the authors.</a:t>
            </a:r>
            <a:endParaRPr lang="en-US" sz="1130" dirty="0"/>
          </a:p>
        </p:txBody>
      </p:sp>
      <p:sp>
        <p:nvSpPr>
          <p:cNvPr id="7" name="Shape 5"/>
          <p:cNvSpPr/>
          <p:nvPr/>
        </p:nvSpPr>
        <p:spPr>
          <a:xfrm>
            <a:off x="6263640" y="1371600"/>
            <a:ext cx="5376672" cy="310896"/>
          </a:xfrm>
          <a:prstGeom prst="roundRect">
            <a:avLst>
              <a:gd name="adj" fmla="val 17647"/>
            </a:avLst>
          </a:prstGeom>
          <a:solidFill>
            <a:srgbClr val="5C7A80"/>
          </a:solidFill>
          <a:ln/>
        </p:spPr>
      </p:sp>
      <p:sp>
        <p:nvSpPr>
          <p:cNvPr id="8" name="Text 6"/>
          <p:cNvSpPr/>
          <p:nvPr/>
        </p:nvSpPr>
        <p:spPr>
          <a:xfrm>
            <a:off x="6263640" y="1371600"/>
            <a:ext cx="537667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 Additional Observations (my analysis)</a:t>
            </a:r>
            <a:endParaRPr lang="en-US" sz="1150" dirty="0"/>
          </a:p>
        </p:txBody>
      </p:sp>
      <p:sp>
        <p:nvSpPr>
          <p:cNvPr id="9" name="Text 7"/>
          <p:cNvSpPr/>
          <p:nvPr/>
        </p:nvSpPr>
        <p:spPr>
          <a:xfrm>
            <a:off x="6263640" y="1828800"/>
            <a:ext cx="5376672" cy="4023360"/>
          </a:xfrm>
          <a:prstGeom prst="rect">
            <a:avLst/>
          </a:prstGeom>
          <a:noFill/>
          <a:ln/>
        </p:spPr>
        <p:txBody>
          <a:bodyPr wrap="square" lIns="0" tIns="0" rIns="0" bIns="0" rtlCol="0" anchor="t"/>
          <a:lstStyle/>
          <a:p>
            <a:pPr marL="177800" indent="-177800">
              <a:spcAft>
                <a:spcPts val="1200"/>
              </a:spcAft>
              <a:buSzPct val="100000"/>
              <a:buChar char="•"/>
            </a:pPr>
            <a:r>
              <a:rPr lang="en-US" sz="1130" dirty="0">
                <a:solidFill>
                  <a:srgbClr val="3A5459"/>
                </a:solidFill>
                <a:latin typeface="Calibri" pitchFamily="34" charset="0"/>
                <a:ea typeface="Calibri" pitchFamily="34" charset="-122"/>
                <a:cs typeface="Calibri" pitchFamily="34" charset="-120"/>
              </a:rPr>
              <a:t>Only two datasets (HAM10000, DERMOFIT) are tested — broader external validation is not shown.</a:t>
            </a:r>
            <a:endParaRPr lang="en-US" sz="1130" dirty="0"/>
          </a:p>
          <a:p>
            <a:pPr marL="177800" indent="-177800">
              <a:spcAft>
                <a:spcPts val="1200"/>
              </a:spcAft>
              <a:buSzPct val="100000"/>
              <a:buChar char="•"/>
            </a:pPr>
            <a:r>
              <a:rPr lang="en-US" sz="1130" dirty="0">
                <a:solidFill>
                  <a:srgbClr val="3A5459"/>
                </a:solidFill>
                <a:latin typeface="Calibri" pitchFamily="34" charset="0"/>
                <a:ea typeface="Calibri" pitchFamily="34" charset="-122"/>
                <a:cs typeface="Calibri" pitchFamily="34" charset="-120"/>
              </a:rPr>
              <a:t>No inference-time or latency benchmarking is reported, despite the large parameter counts.</a:t>
            </a:r>
            <a:endParaRPr lang="en-US" sz="1130" dirty="0"/>
          </a:p>
          <a:p>
            <a:pPr marL="177800" indent="-177800">
              <a:spcAft>
                <a:spcPts val="1200"/>
              </a:spcAft>
              <a:buSzPct val="100000"/>
              <a:buChar char="•"/>
            </a:pPr>
            <a:r>
              <a:rPr lang="en-US" sz="1130" dirty="0">
                <a:solidFill>
                  <a:srgbClr val="3A5459"/>
                </a:solidFill>
                <a:latin typeface="Calibri" pitchFamily="34" charset="0"/>
                <a:ea typeface="Calibri" pitchFamily="34" charset="-122"/>
                <a:cs typeface="Calibri" pitchFamily="34" charset="-120"/>
              </a:rPr>
              <a:t>Accuracy gains over the strongest CNN baseline are modest (≈ 1–2 points); no statistical-significance testing is reported.</a:t>
            </a:r>
            <a:endParaRPr lang="en-US" sz="1130" dirty="0"/>
          </a:p>
          <a:p>
            <a:pPr marL="177800" indent="-177800">
              <a:spcAft>
                <a:spcPts val="1200"/>
              </a:spcAft>
              <a:buSzPct val="100000"/>
              <a:buChar char="•"/>
            </a:pPr>
            <a:r>
              <a:rPr lang="en-US" sz="1130" dirty="0">
                <a:solidFill>
                  <a:srgbClr val="3A5459"/>
                </a:solidFill>
                <a:latin typeface="Calibri" pitchFamily="34" charset="0"/>
                <a:ea typeface="Calibri" pitchFamily="34" charset="-122"/>
                <a:cs typeface="Calibri" pitchFamily="34" charset="-120"/>
              </a:rPr>
              <a:t>Melanoma — the highest-stakes class — still shows the lowest sensitivity among the seven types.</a:t>
            </a:r>
            <a:endParaRPr lang="en-US" sz="1130" dirty="0"/>
          </a:p>
        </p:txBody>
      </p:sp>
      <p:sp>
        <p:nvSpPr>
          <p:cNvPr id="10" name="Text 8"/>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11" name="Text 9"/>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14</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Future Scope</a:t>
            </a:r>
            <a:endParaRPr lang="en-US" sz="3000" dirty="0"/>
          </a:p>
        </p:txBody>
      </p:sp>
      <p:sp>
        <p:nvSpPr>
          <p:cNvPr id="4" name="Shape 2"/>
          <p:cNvSpPr/>
          <p:nvPr/>
        </p:nvSpPr>
        <p:spPr>
          <a:xfrm>
            <a:off x="548640" y="1325880"/>
            <a:ext cx="5349240" cy="310896"/>
          </a:xfrm>
          <a:prstGeom prst="roundRect">
            <a:avLst>
              <a:gd name="adj" fmla="val 17647"/>
            </a:avLst>
          </a:prstGeom>
          <a:solidFill>
            <a:srgbClr val="028090"/>
          </a:solidFill>
          <a:ln/>
        </p:spPr>
      </p:sp>
      <p:sp>
        <p:nvSpPr>
          <p:cNvPr id="5" name="Text 3"/>
          <p:cNvSpPr/>
          <p:nvPr/>
        </p:nvSpPr>
        <p:spPr>
          <a:xfrm>
            <a:off x="548640" y="1325880"/>
            <a:ext cx="53492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Authors' Future Work (stated in paper)</a:t>
            </a:r>
            <a:endParaRPr lang="en-US" sz="1150" dirty="0"/>
          </a:p>
        </p:txBody>
      </p:sp>
      <p:sp>
        <p:nvSpPr>
          <p:cNvPr id="6" name="Text 4"/>
          <p:cNvSpPr/>
          <p:nvPr/>
        </p:nvSpPr>
        <p:spPr>
          <a:xfrm>
            <a:off x="548640" y="1828800"/>
            <a:ext cx="5349240" cy="1554480"/>
          </a:xfrm>
          <a:prstGeom prst="rect">
            <a:avLst/>
          </a:prstGeom>
          <a:noFill/>
          <a:ln/>
        </p:spPr>
        <p:txBody>
          <a:bodyPr wrap="square" lIns="0" tIns="0" rIns="0" bIns="0" rtlCol="0" anchor="t"/>
          <a:lstStyle/>
          <a:p>
            <a:pPr marL="177800" indent="-177800">
              <a:spcAft>
                <a:spcPts val="1400"/>
              </a:spcAft>
              <a:buSzPct val="100000"/>
              <a:buChar char="•"/>
            </a:pPr>
            <a:r>
              <a:rPr lang="en-US" sz="1200" dirty="0">
                <a:solidFill>
                  <a:srgbClr val="16323A"/>
                </a:solidFill>
                <a:latin typeface="Calibri" pitchFamily="34" charset="0"/>
                <a:ea typeface="Calibri" pitchFamily="34" charset="-122"/>
                <a:cs typeface="Calibri" pitchFamily="34" charset="-120"/>
              </a:rPr>
              <a:t>Investigate larger ViTfSCD models — scaling up has improved accuracy in other transformer work, so it may help here too.</a:t>
            </a:r>
            <a:endParaRPr lang="en-US" sz="1200" dirty="0"/>
          </a:p>
          <a:p>
            <a:pPr marL="177800" indent="-177800">
              <a:spcAft>
                <a:spcPts val="1400"/>
              </a:spcAft>
              <a:buSzPct val="100000"/>
              <a:buChar char="•"/>
            </a:pPr>
            <a:r>
              <a:rPr lang="en-US" sz="1200" dirty="0">
                <a:solidFill>
                  <a:srgbClr val="16323A"/>
                </a:solidFill>
                <a:latin typeface="Calibri" pitchFamily="34" charset="0"/>
                <a:ea typeface="Calibri" pitchFamily="34" charset="-122"/>
                <a:cs typeface="Calibri" pitchFamily="34" charset="-120"/>
              </a:rPr>
              <a:t>Use larger pretraining datasets, such as the 300-million-image JFT-300M, instead of ImageNet-21k.</a:t>
            </a:r>
            <a:endParaRPr lang="en-US" sz="1200" dirty="0"/>
          </a:p>
        </p:txBody>
      </p:sp>
      <p:sp>
        <p:nvSpPr>
          <p:cNvPr id="7" name="Shape 5"/>
          <p:cNvSpPr/>
          <p:nvPr/>
        </p:nvSpPr>
        <p:spPr>
          <a:xfrm>
            <a:off x="548640" y="3566160"/>
            <a:ext cx="5349240" cy="310896"/>
          </a:xfrm>
          <a:prstGeom prst="roundRect">
            <a:avLst>
              <a:gd name="adj" fmla="val 17647"/>
            </a:avLst>
          </a:prstGeom>
          <a:solidFill>
            <a:srgbClr val="F4A261"/>
          </a:solidFill>
          <a:ln/>
        </p:spPr>
      </p:sp>
      <p:sp>
        <p:nvSpPr>
          <p:cNvPr id="8" name="Text 6"/>
          <p:cNvSpPr/>
          <p:nvPr/>
        </p:nvSpPr>
        <p:spPr>
          <a:xfrm>
            <a:off x="548640" y="3566160"/>
            <a:ext cx="53492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My Proposed Research Extension (NOT part of the original paper)</a:t>
            </a:r>
            <a:endParaRPr lang="en-US" sz="1150" dirty="0"/>
          </a:p>
        </p:txBody>
      </p:sp>
      <p:sp>
        <p:nvSpPr>
          <p:cNvPr id="9" name="Text 7"/>
          <p:cNvSpPr/>
          <p:nvPr/>
        </p:nvSpPr>
        <p:spPr>
          <a:xfrm>
            <a:off x="548640" y="4069080"/>
            <a:ext cx="5349240" cy="2011680"/>
          </a:xfrm>
          <a:prstGeom prst="rect">
            <a:avLst/>
          </a:prstGeom>
          <a:noFill/>
          <a:ln/>
        </p:spPr>
        <p:txBody>
          <a:bodyPr wrap="square" lIns="0" tIns="0" rIns="0" bIns="0" rtlCol="0" anchor="t"/>
          <a:lstStyle/>
          <a:p>
            <a:pPr marL="177800" indent="-177800">
              <a:spcAft>
                <a:spcPts val="1200"/>
              </a:spcAft>
              <a:buSzPct val="100000"/>
              <a:buChar char="•"/>
            </a:pPr>
            <a:r>
              <a:rPr lang="en-US" sz="1150" dirty="0">
                <a:solidFill>
                  <a:srgbClr val="16323A"/>
                </a:solidFill>
                <a:latin typeface="Calibri" pitchFamily="34" charset="0"/>
                <a:ea typeface="Calibri" pitchFamily="34" charset="-122"/>
                <a:cs typeface="Calibri" pitchFamily="34" charset="-120"/>
              </a:rPr>
              <a:t>Direction: “Efficient and Explainable Vision Transformer for Skin Cancer Classification.”</a:t>
            </a:r>
            <a:endParaRPr lang="en-US" sz="1150" dirty="0"/>
          </a:p>
          <a:p>
            <a:pPr marL="177800" indent="-177800">
              <a:spcAft>
                <a:spcPts val="1200"/>
              </a:spcAft>
              <a:buSzPct val="100000"/>
              <a:buChar char="•"/>
            </a:pPr>
            <a:r>
              <a:rPr lang="en-US" sz="1150" dirty="0">
                <a:solidFill>
                  <a:srgbClr val="16323A"/>
                </a:solidFill>
                <a:latin typeface="Calibri" pitchFamily="34" charset="0"/>
                <a:ea typeface="Calibri" pitchFamily="34" charset="-122"/>
                <a:cs typeface="Calibri" pitchFamily="34" charset="-120"/>
              </a:rPr>
              <a:t>Research question: Can a lightweight ViT maintain competitive accuracy while cutting model size and compute cost?</a:t>
            </a:r>
            <a:endParaRPr lang="en-US" sz="1150" dirty="0"/>
          </a:p>
          <a:p>
            <a:pPr marL="177800" indent="-177800">
              <a:spcAft>
                <a:spcPts val="1200"/>
              </a:spcAft>
              <a:buSzPct val="100000"/>
              <a:buChar char="•"/>
            </a:pPr>
            <a:r>
              <a:rPr lang="en-US" sz="1150" dirty="0">
                <a:solidFill>
                  <a:srgbClr val="16323A"/>
                </a:solidFill>
                <a:latin typeface="Calibri" pitchFamily="34" charset="0"/>
                <a:ea typeface="Calibri" pitchFamily="34" charset="-122"/>
                <a:cs typeface="Calibri" pitchFamily="34" charset="-120"/>
              </a:rPr>
              <a:t>This is a research hypothesis to be evaluated — not a claimed improvement.</a:t>
            </a:r>
            <a:endParaRPr lang="en-US" sz="1150" dirty="0"/>
          </a:p>
        </p:txBody>
      </p:sp>
      <p:sp>
        <p:nvSpPr>
          <p:cNvPr id="10" name="Shape 8"/>
          <p:cNvSpPr/>
          <p:nvPr/>
        </p:nvSpPr>
        <p:spPr>
          <a:xfrm>
            <a:off x="6355080" y="1325880"/>
            <a:ext cx="5285232" cy="777240"/>
          </a:xfrm>
          <a:prstGeom prst="roundRect">
            <a:avLst>
              <a:gd name="adj" fmla="val 9412"/>
            </a:avLst>
          </a:prstGeom>
          <a:solidFill>
            <a:srgbClr val="5C7A80"/>
          </a:solidFill>
          <a:ln/>
          <a:effectLst>
            <a:outerShdw sx="100000" sy="100000" kx="0" ky="0" algn="bl" rotWithShape="0" blurRad="50800" dist="25400" dir="5400000">
              <a:srgbClr val="000000">
                <a:alpha val="18000"/>
              </a:srgbClr>
            </a:outerShdw>
          </a:effectLst>
        </p:spPr>
      </p:sp>
      <p:sp>
        <p:nvSpPr>
          <p:cNvPr id="11" name="Text 9"/>
          <p:cNvSpPr/>
          <p:nvPr/>
        </p:nvSpPr>
        <p:spPr>
          <a:xfrm>
            <a:off x="6446520" y="1325880"/>
            <a:ext cx="5102352"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Large ViTfSCD (307M params)</a:t>
            </a:r>
            <a:endParaRPr lang="en-US" sz="1200" dirty="0"/>
          </a:p>
        </p:txBody>
      </p:sp>
      <p:sp>
        <p:nvSpPr>
          <p:cNvPr id="12" name="Shape 10"/>
          <p:cNvSpPr/>
          <p:nvPr/>
        </p:nvSpPr>
        <p:spPr>
          <a:xfrm>
            <a:off x="8915400" y="2121408"/>
            <a:ext cx="164592" cy="73152"/>
          </a:xfrm>
          <a:prstGeom prst="downArrow">
            <a:avLst/>
          </a:prstGeom>
          <a:solidFill>
            <a:srgbClr val="5C7A80"/>
          </a:solidFill>
          <a:ln/>
        </p:spPr>
      </p:sp>
      <p:sp>
        <p:nvSpPr>
          <p:cNvPr id="13" name="Shape 11"/>
          <p:cNvSpPr/>
          <p:nvPr/>
        </p:nvSpPr>
        <p:spPr>
          <a:xfrm>
            <a:off x="6355080" y="2212848"/>
            <a:ext cx="5285232" cy="777240"/>
          </a:xfrm>
          <a:prstGeom prst="roundRect">
            <a:avLst>
              <a:gd name="adj" fmla="val 9412"/>
            </a:avLst>
          </a:prstGeom>
          <a:solidFill>
            <a:srgbClr val="5C7A80"/>
          </a:solidFill>
          <a:ln/>
          <a:effectLst>
            <a:outerShdw sx="100000" sy="100000" kx="0" ky="0" algn="bl" rotWithShape="0" blurRad="50800" dist="25400" dir="5400000">
              <a:srgbClr val="000000">
                <a:alpha val="18000"/>
              </a:srgbClr>
            </a:outerShdw>
          </a:effectLst>
        </p:spPr>
      </p:sp>
      <p:sp>
        <p:nvSpPr>
          <p:cNvPr id="14" name="Text 12"/>
          <p:cNvSpPr/>
          <p:nvPr/>
        </p:nvSpPr>
        <p:spPr>
          <a:xfrm>
            <a:off x="6446520" y="2212848"/>
            <a:ext cx="5102352"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High compute cost → hard to deploy</a:t>
            </a:r>
            <a:endParaRPr lang="en-US" sz="1200" dirty="0"/>
          </a:p>
        </p:txBody>
      </p:sp>
      <p:sp>
        <p:nvSpPr>
          <p:cNvPr id="15" name="Shape 13"/>
          <p:cNvSpPr/>
          <p:nvPr/>
        </p:nvSpPr>
        <p:spPr>
          <a:xfrm>
            <a:off x="8915400" y="3008376"/>
            <a:ext cx="164592" cy="73152"/>
          </a:xfrm>
          <a:prstGeom prst="downArrow">
            <a:avLst/>
          </a:prstGeom>
          <a:solidFill>
            <a:srgbClr val="5C7A80"/>
          </a:solidFill>
          <a:ln/>
        </p:spPr>
      </p:sp>
      <p:sp>
        <p:nvSpPr>
          <p:cNvPr id="16" name="Shape 14"/>
          <p:cNvSpPr/>
          <p:nvPr/>
        </p:nvSpPr>
        <p:spPr>
          <a:xfrm>
            <a:off x="6355080" y="3099816"/>
            <a:ext cx="5285232" cy="777240"/>
          </a:xfrm>
          <a:prstGeom prst="roundRect">
            <a:avLst>
              <a:gd name="adj" fmla="val 9412"/>
            </a:avLst>
          </a:prstGeom>
          <a:solidFill>
            <a:srgbClr val="00A896"/>
          </a:solidFill>
          <a:ln/>
          <a:effectLst>
            <a:outerShdw sx="100000" sy="100000" kx="0" ky="0" algn="bl" rotWithShape="0" blurRad="50800" dist="25400" dir="5400000">
              <a:srgbClr val="000000">
                <a:alpha val="18000"/>
              </a:srgbClr>
            </a:outerShdw>
          </a:effectLst>
        </p:spPr>
      </p:sp>
      <p:sp>
        <p:nvSpPr>
          <p:cNvPr id="17" name="Text 15"/>
          <p:cNvSpPr/>
          <p:nvPr/>
        </p:nvSpPr>
        <p:spPr>
          <a:xfrm>
            <a:off x="6446520" y="3099816"/>
            <a:ext cx="5102352"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Lightweight ViT + Efficient Attention</a:t>
            </a:r>
            <a:endParaRPr lang="en-US" sz="1200" dirty="0"/>
          </a:p>
        </p:txBody>
      </p:sp>
      <p:sp>
        <p:nvSpPr>
          <p:cNvPr id="18" name="Shape 16"/>
          <p:cNvSpPr/>
          <p:nvPr/>
        </p:nvSpPr>
        <p:spPr>
          <a:xfrm>
            <a:off x="8915400" y="3895344"/>
            <a:ext cx="164592" cy="73152"/>
          </a:xfrm>
          <a:prstGeom prst="downArrow">
            <a:avLst/>
          </a:prstGeom>
          <a:solidFill>
            <a:srgbClr val="5C7A80"/>
          </a:solidFill>
          <a:ln/>
        </p:spPr>
      </p:sp>
      <p:sp>
        <p:nvSpPr>
          <p:cNvPr id="19" name="Shape 17"/>
          <p:cNvSpPr/>
          <p:nvPr/>
        </p:nvSpPr>
        <p:spPr>
          <a:xfrm>
            <a:off x="6355080" y="3986784"/>
            <a:ext cx="5285232" cy="777240"/>
          </a:xfrm>
          <a:prstGeom prst="roundRect">
            <a:avLst>
              <a:gd name="adj" fmla="val 9412"/>
            </a:avLst>
          </a:prstGeom>
          <a:solidFill>
            <a:srgbClr val="00A896"/>
          </a:solidFill>
          <a:ln/>
          <a:effectLst>
            <a:outerShdw sx="100000" sy="100000" kx="0" ky="0" algn="bl" rotWithShape="0" blurRad="50800" dist="25400" dir="5400000">
              <a:srgbClr val="000000">
                <a:alpha val="18000"/>
              </a:srgbClr>
            </a:outerShdw>
          </a:effectLst>
        </p:spPr>
      </p:sp>
      <p:sp>
        <p:nvSpPr>
          <p:cNvPr id="20" name="Text 18"/>
          <p:cNvSpPr/>
          <p:nvPr/>
        </p:nvSpPr>
        <p:spPr>
          <a:xfrm>
            <a:off x="6446520" y="3986784"/>
            <a:ext cx="5102352"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Knowledge Distillation / Pruning / Quantisation</a:t>
            </a:r>
            <a:endParaRPr lang="en-US" sz="1200" dirty="0"/>
          </a:p>
        </p:txBody>
      </p:sp>
      <p:sp>
        <p:nvSpPr>
          <p:cNvPr id="21" name="Shape 19"/>
          <p:cNvSpPr/>
          <p:nvPr/>
        </p:nvSpPr>
        <p:spPr>
          <a:xfrm>
            <a:off x="8915400" y="4782312"/>
            <a:ext cx="164592" cy="73152"/>
          </a:xfrm>
          <a:prstGeom prst="downArrow">
            <a:avLst/>
          </a:prstGeom>
          <a:solidFill>
            <a:srgbClr val="5C7A80"/>
          </a:solidFill>
          <a:ln/>
        </p:spPr>
      </p:sp>
      <p:sp>
        <p:nvSpPr>
          <p:cNvPr id="22" name="Shape 20"/>
          <p:cNvSpPr/>
          <p:nvPr/>
        </p:nvSpPr>
        <p:spPr>
          <a:xfrm>
            <a:off x="6355080" y="4873752"/>
            <a:ext cx="5285232" cy="777240"/>
          </a:xfrm>
          <a:prstGeom prst="roundRect">
            <a:avLst>
              <a:gd name="adj" fmla="val 9412"/>
            </a:avLst>
          </a:prstGeom>
          <a:solidFill>
            <a:srgbClr val="F4A261"/>
          </a:solidFill>
          <a:ln/>
          <a:effectLst>
            <a:outerShdw sx="100000" sy="100000" kx="0" ky="0" algn="bl" rotWithShape="0" blurRad="50800" dist="25400" dir="5400000">
              <a:srgbClr val="000000">
                <a:alpha val="18000"/>
              </a:srgbClr>
            </a:outerShdw>
          </a:effectLst>
        </p:spPr>
      </p:sp>
      <p:sp>
        <p:nvSpPr>
          <p:cNvPr id="23" name="Text 21"/>
          <p:cNvSpPr/>
          <p:nvPr/>
        </p:nvSpPr>
        <p:spPr>
          <a:xfrm>
            <a:off x="6446520" y="4873752"/>
            <a:ext cx="5102352"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Explainable, Deployable Skin Cancer Classifier</a:t>
            </a:r>
            <a:endParaRPr lang="en-US" sz="1200" dirty="0"/>
          </a:p>
        </p:txBody>
      </p:sp>
      <p:sp>
        <p:nvSpPr>
          <p:cNvPr id="24" name="Text 22"/>
          <p:cNvSpPr/>
          <p:nvPr/>
        </p:nvSpPr>
        <p:spPr>
          <a:xfrm>
            <a:off x="6355080" y="5806440"/>
            <a:ext cx="5285232" cy="274320"/>
          </a:xfrm>
          <a:prstGeom prst="rect">
            <a:avLst/>
          </a:prstGeom>
          <a:noFill/>
          <a:ln/>
        </p:spPr>
        <p:txBody>
          <a:bodyPr wrap="square" rtlCol="0" anchor="ctr"/>
          <a:lstStyle/>
          <a:p>
            <a:pPr indent="0" marL="0">
              <a:buNone/>
            </a:pPr>
            <a:r>
              <a:rPr lang="en-US" sz="950" i="1" dirty="0">
                <a:solidFill>
                  <a:srgbClr val="5C7A80"/>
                </a:solidFill>
                <a:latin typeface="Calibri" pitchFamily="34" charset="0"/>
                <a:ea typeface="Calibri" pitchFamily="34" charset="-122"/>
                <a:cs typeface="Calibri" pitchFamily="34" charset="-120"/>
              </a:rPr>
              <a:t>Proposed direction only — not implemented or tested in this seminar.</a:t>
            </a:r>
            <a:endParaRPr lang="en-US" sz="950" dirty="0"/>
          </a:p>
        </p:txBody>
      </p:sp>
      <p:sp>
        <p:nvSpPr>
          <p:cNvPr id="25" name="Text 23"/>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26" name="Text 24"/>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E3B41"/>
          </a:solidFill>
          <a:ln/>
        </p:spPr>
      </p:sp>
      <p:sp>
        <p:nvSpPr>
          <p:cNvPr id="3" name="Text 1"/>
          <p:cNvSpPr/>
          <p:nvPr/>
        </p:nvSpPr>
        <p:spPr>
          <a:xfrm>
            <a:off x="548640" y="320040"/>
            <a:ext cx="5486400" cy="41148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48640" y="1325880"/>
            <a:ext cx="3017520" cy="685800"/>
          </a:xfrm>
          <a:prstGeom prst="rect">
            <a:avLst/>
          </a:prstGeom>
          <a:noFill/>
          <a:ln/>
        </p:spPr>
        <p:txBody>
          <a:bodyPr wrap="square" rtlCol="0" anchor="t"/>
          <a:lstStyle/>
          <a:p>
            <a:pPr indent="0" marL="0">
              <a:buNone/>
            </a:pPr>
            <a:r>
              <a:rPr lang="en-US" sz="1200" b="1" dirty="0">
                <a:solidFill>
                  <a:srgbClr val="02C39A"/>
                </a:solidFill>
                <a:latin typeface="Calibri" pitchFamily="34" charset="0"/>
                <a:ea typeface="Calibri" pitchFamily="34" charset="-122"/>
                <a:cs typeface="Calibri" pitchFamily="34" charset="-120"/>
              </a:rPr>
              <a:t>Problem addressed</a:t>
            </a:r>
            <a:endParaRPr lang="en-US" sz="1200" dirty="0"/>
          </a:p>
        </p:txBody>
      </p:sp>
      <p:sp>
        <p:nvSpPr>
          <p:cNvPr id="5" name="Text 3"/>
          <p:cNvSpPr/>
          <p:nvPr/>
        </p:nvSpPr>
        <p:spPr>
          <a:xfrm>
            <a:off x="3703320" y="1325880"/>
            <a:ext cx="7955280" cy="685800"/>
          </a:xfrm>
          <a:prstGeom prst="rect">
            <a:avLst/>
          </a:prstGeom>
          <a:noFill/>
          <a:ln/>
        </p:spPr>
        <p:txBody>
          <a:bodyPr wrap="square" rtlCol="0" anchor="t"/>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Classifying skin cancer accurately despite visual similarity between types and class imbalance in the data.</a:t>
            </a:r>
            <a:endParaRPr lang="en-US" sz="1250" dirty="0"/>
          </a:p>
        </p:txBody>
      </p:sp>
      <p:sp>
        <p:nvSpPr>
          <p:cNvPr id="6" name="Text 4"/>
          <p:cNvSpPr/>
          <p:nvPr/>
        </p:nvSpPr>
        <p:spPr>
          <a:xfrm>
            <a:off x="548640" y="2103120"/>
            <a:ext cx="3017520" cy="685800"/>
          </a:xfrm>
          <a:prstGeom prst="rect">
            <a:avLst/>
          </a:prstGeom>
          <a:noFill/>
          <a:ln/>
        </p:spPr>
        <p:txBody>
          <a:bodyPr wrap="square" rtlCol="0" anchor="t"/>
          <a:lstStyle/>
          <a:p>
            <a:pPr indent="0" marL="0">
              <a:buNone/>
            </a:pPr>
            <a:r>
              <a:rPr lang="en-US" sz="1200" b="1" dirty="0">
                <a:solidFill>
                  <a:srgbClr val="02C39A"/>
                </a:solidFill>
                <a:latin typeface="Calibri" pitchFamily="34" charset="0"/>
                <a:ea typeface="Calibri" pitchFamily="34" charset="-122"/>
                <a:cs typeface="Calibri" pitchFamily="34" charset="-120"/>
              </a:rPr>
              <a:t>Method proposed</a:t>
            </a:r>
            <a:endParaRPr lang="en-US" sz="1200" dirty="0"/>
          </a:p>
        </p:txBody>
      </p:sp>
      <p:sp>
        <p:nvSpPr>
          <p:cNvPr id="7" name="Text 5"/>
          <p:cNvSpPr/>
          <p:nvPr/>
        </p:nvSpPr>
        <p:spPr>
          <a:xfrm>
            <a:off x="3703320" y="2103120"/>
            <a:ext cx="7955280" cy="685800"/>
          </a:xfrm>
          <a:prstGeom prst="rect">
            <a:avLst/>
          </a:prstGeom>
          <a:noFill/>
          <a:ln/>
        </p:spPr>
        <p:txBody>
          <a:bodyPr wrap="square" rtlCol="0" anchor="t"/>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ViTfSCD — a Vision Transformer adapted with class rebalancing and a modified classification block.</a:t>
            </a:r>
            <a:endParaRPr lang="en-US" sz="1250" dirty="0"/>
          </a:p>
        </p:txBody>
      </p:sp>
      <p:sp>
        <p:nvSpPr>
          <p:cNvPr id="8" name="Text 6"/>
          <p:cNvSpPr/>
          <p:nvPr/>
        </p:nvSpPr>
        <p:spPr>
          <a:xfrm>
            <a:off x="548640" y="2880360"/>
            <a:ext cx="3017520" cy="685800"/>
          </a:xfrm>
          <a:prstGeom prst="rect">
            <a:avLst/>
          </a:prstGeom>
          <a:noFill/>
          <a:ln/>
        </p:spPr>
        <p:txBody>
          <a:bodyPr wrap="square" rtlCol="0" anchor="t"/>
          <a:lstStyle/>
          <a:p>
            <a:pPr indent="0" marL="0">
              <a:buNone/>
            </a:pPr>
            <a:r>
              <a:rPr lang="en-US" sz="1200" b="1" dirty="0">
                <a:solidFill>
                  <a:srgbClr val="02C39A"/>
                </a:solidFill>
                <a:latin typeface="Calibri" pitchFamily="34" charset="0"/>
                <a:ea typeface="Calibri" pitchFamily="34" charset="-122"/>
                <a:cs typeface="Calibri" pitchFamily="34" charset="-120"/>
              </a:rPr>
              <a:t>Dataset used</a:t>
            </a:r>
            <a:endParaRPr lang="en-US" sz="1200" dirty="0"/>
          </a:p>
        </p:txBody>
      </p:sp>
      <p:sp>
        <p:nvSpPr>
          <p:cNvPr id="9" name="Text 7"/>
          <p:cNvSpPr/>
          <p:nvPr/>
        </p:nvSpPr>
        <p:spPr>
          <a:xfrm>
            <a:off x="3703320" y="2880360"/>
            <a:ext cx="7955280" cy="685800"/>
          </a:xfrm>
          <a:prstGeom prst="rect">
            <a:avLst/>
          </a:prstGeom>
          <a:noFill/>
          <a:ln/>
        </p:spPr>
        <p:txBody>
          <a:bodyPr wrap="square" rtlCol="0" anchor="t"/>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HAM10000 (10,015 dermoscopic images, 7 classes); also validated on Edinburgh DERMOFIT.</a:t>
            </a:r>
            <a:endParaRPr lang="en-US" sz="1250" dirty="0"/>
          </a:p>
        </p:txBody>
      </p:sp>
      <p:sp>
        <p:nvSpPr>
          <p:cNvPr id="10" name="Text 8"/>
          <p:cNvSpPr/>
          <p:nvPr/>
        </p:nvSpPr>
        <p:spPr>
          <a:xfrm>
            <a:off x="548640" y="3657600"/>
            <a:ext cx="3017520" cy="685800"/>
          </a:xfrm>
          <a:prstGeom prst="rect">
            <a:avLst/>
          </a:prstGeom>
          <a:noFill/>
          <a:ln/>
        </p:spPr>
        <p:txBody>
          <a:bodyPr wrap="square" rtlCol="0" anchor="t"/>
          <a:lstStyle/>
          <a:p>
            <a:pPr indent="0" marL="0">
              <a:buNone/>
            </a:pPr>
            <a:r>
              <a:rPr lang="en-US" sz="1200" b="1" dirty="0">
                <a:solidFill>
                  <a:srgbClr val="02C39A"/>
                </a:solidFill>
                <a:latin typeface="Calibri" pitchFamily="34" charset="0"/>
                <a:ea typeface="Calibri" pitchFamily="34" charset="-122"/>
                <a:cs typeface="Calibri" pitchFamily="34" charset="-120"/>
              </a:rPr>
              <a:t>Main result</a:t>
            </a:r>
            <a:endParaRPr lang="en-US" sz="1200" dirty="0"/>
          </a:p>
        </p:txBody>
      </p:sp>
      <p:sp>
        <p:nvSpPr>
          <p:cNvPr id="11" name="Text 9"/>
          <p:cNvSpPr/>
          <p:nvPr/>
        </p:nvSpPr>
        <p:spPr>
          <a:xfrm>
            <a:off x="3703320" y="3657600"/>
            <a:ext cx="7955280" cy="685800"/>
          </a:xfrm>
          <a:prstGeom prst="rect">
            <a:avLst/>
          </a:prstGeom>
          <a:noFill/>
          <a:ln/>
        </p:spPr>
        <p:txBody>
          <a:bodyPr wrap="square" rtlCol="0" anchor="t"/>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ViTfSCD-Large reached 94.1% accuracy, outperforming CNN and original-ViT baselines.</a:t>
            </a:r>
            <a:endParaRPr lang="en-US" sz="1250" dirty="0"/>
          </a:p>
        </p:txBody>
      </p:sp>
      <p:sp>
        <p:nvSpPr>
          <p:cNvPr id="12" name="Text 10"/>
          <p:cNvSpPr/>
          <p:nvPr/>
        </p:nvSpPr>
        <p:spPr>
          <a:xfrm>
            <a:off x="548640" y="4434840"/>
            <a:ext cx="3017520" cy="685800"/>
          </a:xfrm>
          <a:prstGeom prst="rect">
            <a:avLst/>
          </a:prstGeom>
          <a:noFill/>
          <a:ln/>
        </p:spPr>
        <p:txBody>
          <a:bodyPr wrap="square" rtlCol="0" anchor="t"/>
          <a:lstStyle/>
          <a:p>
            <a:pPr indent="0" marL="0">
              <a:buNone/>
            </a:pPr>
            <a:r>
              <a:rPr lang="en-US" sz="1200" b="1" dirty="0">
                <a:solidFill>
                  <a:srgbClr val="02C39A"/>
                </a:solidFill>
                <a:latin typeface="Calibri" pitchFamily="34" charset="0"/>
                <a:ea typeface="Calibri" pitchFamily="34" charset="-122"/>
                <a:cs typeface="Calibri" pitchFamily="34" charset="-120"/>
              </a:rPr>
              <a:t>Why it matters</a:t>
            </a:r>
            <a:endParaRPr lang="en-US" sz="1200" dirty="0"/>
          </a:p>
        </p:txBody>
      </p:sp>
      <p:sp>
        <p:nvSpPr>
          <p:cNvPr id="13" name="Text 11"/>
          <p:cNvSpPr/>
          <p:nvPr/>
        </p:nvSpPr>
        <p:spPr>
          <a:xfrm>
            <a:off x="3703320" y="4434840"/>
            <a:ext cx="7955280" cy="685800"/>
          </a:xfrm>
          <a:prstGeom prst="rect">
            <a:avLst/>
          </a:prstGeom>
          <a:noFill/>
          <a:ln/>
        </p:spPr>
        <p:txBody>
          <a:bodyPr wrap="square" rtlCol="0" anchor="t"/>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Better, more interpretable automated skin-cancer classification can support earlier, more reliable diagnosis.</a:t>
            </a:r>
            <a:endParaRPr lang="en-US" sz="1250" dirty="0"/>
          </a:p>
        </p:txBody>
      </p:sp>
      <p:sp>
        <p:nvSpPr>
          <p:cNvPr id="14" name="Shape 12"/>
          <p:cNvSpPr/>
          <p:nvPr/>
        </p:nvSpPr>
        <p:spPr>
          <a:xfrm>
            <a:off x="548640" y="5349240"/>
            <a:ext cx="11091672" cy="1005840"/>
          </a:xfrm>
          <a:prstGeom prst="roundRect">
            <a:avLst>
              <a:gd name="adj" fmla="val 9091"/>
            </a:avLst>
          </a:prstGeom>
          <a:solidFill>
            <a:srgbClr val="0E3B41"/>
          </a:solidFill>
          <a:ln w="12700">
            <a:solidFill>
              <a:srgbClr val="00A896"/>
            </a:solidFill>
            <a:prstDash val="solid"/>
          </a:ln>
        </p:spPr>
      </p:sp>
      <p:sp>
        <p:nvSpPr>
          <p:cNvPr id="15" name="Text 13"/>
          <p:cNvSpPr/>
          <p:nvPr/>
        </p:nvSpPr>
        <p:spPr>
          <a:xfrm>
            <a:off x="822960" y="5468112"/>
            <a:ext cx="10515600" cy="777240"/>
          </a:xfrm>
          <a:prstGeom prst="rect">
            <a:avLst/>
          </a:prstGeom>
          <a:noFill/>
          <a:ln/>
        </p:spPr>
        <p:txBody>
          <a:bodyPr wrap="square" rtlCol="0" anchor="ctr"/>
          <a:lstStyle/>
          <a:p>
            <a:pPr algn="ctr" indent="0" marL="0">
              <a:buNone/>
            </a:pPr>
            <a:r>
              <a:rPr lang="en-US" sz="1450" i="1" dirty="0">
                <a:solidFill>
                  <a:srgbClr val="FFFFFF"/>
                </a:solidFill>
                <a:latin typeface="Cambria" pitchFamily="34" charset="0"/>
                <a:ea typeface="Cambria" pitchFamily="34" charset="-122"/>
                <a:cs typeface="Cambria" pitchFamily="34" charset="-120"/>
              </a:rPr>
              <a:t>“The study demonstrates that a Vision Transformer–based approach with class rebalancing and transfer learning can achieve strong performance for skin cancer classification.”</a:t>
            </a:r>
            <a:endParaRPr lang="en-US" sz="1450" dirty="0"/>
          </a:p>
        </p:txBody>
      </p:sp>
      <p:sp>
        <p:nvSpPr>
          <p:cNvPr id="16" name="Text 14"/>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6FA8AE"/>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17" name="Text 15"/>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6FA8AE"/>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STRUCTURE · SECTION 15</a:t>
            </a:r>
            <a:endParaRPr lang="en-US" sz="1200" dirty="0"/>
          </a:p>
        </p:txBody>
      </p:sp>
      <p:sp>
        <p:nvSpPr>
          <p:cNvPr id="3" name="Text 1"/>
          <p:cNvSpPr/>
          <p:nvPr/>
        </p:nvSpPr>
        <p:spPr>
          <a:xfrm>
            <a:off x="548640" y="365760"/>
            <a:ext cx="11064240" cy="640080"/>
          </a:xfrm>
          <a:prstGeom prst="rect">
            <a:avLst/>
          </a:prstGeom>
          <a:noFill/>
          <a:ln/>
        </p:spPr>
        <p:txBody>
          <a:bodyPr wrap="square" rtlCol="0" anchor="ctr"/>
          <a:lstStyle/>
          <a:p>
            <a:pPr algn="l" indent="0" marL="0">
              <a:buNone/>
            </a:pPr>
            <a:r>
              <a:rPr lang="en-US" sz="3000" b="1" dirty="0">
                <a:solidFill>
                  <a:srgbClr val="16323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48640" y="1280160"/>
            <a:ext cx="5486400" cy="274320"/>
          </a:xfrm>
          <a:prstGeom prst="rect">
            <a:avLst/>
          </a:prstGeom>
          <a:noFill/>
          <a:ln/>
        </p:spPr>
        <p:txBody>
          <a:bodyPr wrap="square"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PRIMARY SOURCE</a:t>
            </a:r>
            <a:endParaRPr lang="en-US" sz="1100" dirty="0"/>
          </a:p>
        </p:txBody>
      </p:sp>
      <p:sp>
        <p:nvSpPr>
          <p:cNvPr id="5" name="Text 3"/>
          <p:cNvSpPr/>
          <p:nvPr/>
        </p:nvSpPr>
        <p:spPr>
          <a:xfrm>
            <a:off x="548640" y="1554480"/>
            <a:ext cx="11064240" cy="502920"/>
          </a:xfrm>
          <a:prstGeom prst="rect">
            <a:avLst/>
          </a:prstGeom>
          <a:noFill/>
          <a:ln/>
        </p:spPr>
        <p:txBody>
          <a:bodyPr wrap="square" rtlCol="0" anchor="ctr"/>
          <a:lstStyle/>
          <a:p>
            <a:pPr indent="0" marL="0">
              <a:lnSpc>
                <a:spcPts val="1400"/>
              </a:lnSpc>
              <a:buNone/>
            </a:pPr>
            <a:r>
              <a:rPr lang="en-US" sz="1150" dirty="0">
                <a:solidFill>
                  <a:srgbClr val="16323A"/>
                </a:solidFill>
                <a:latin typeface="Calibri" pitchFamily="34" charset="0"/>
                <a:ea typeface="Calibri" pitchFamily="34" charset="-122"/>
                <a:cs typeface="Calibri" pitchFamily="34" charset="-120"/>
              </a:rPr>
              <a:t>Yang, G., Luo, S., &amp; Greer, P. (2023). A Novel Vision Transformer Model for Skin Cancer Classification. Neural Processing Letters, 55, 9335–9351. https://doi.org/10.1007/s11063-023-11204-5</a:t>
            </a:r>
            <a:endParaRPr lang="en-US" sz="1150" dirty="0"/>
          </a:p>
        </p:txBody>
      </p:sp>
      <p:sp>
        <p:nvSpPr>
          <p:cNvPr id="6" name="Text 4"/>
          <p:cNvSpPr/>
          <p:nvPr/>
        </p:nvSpPr>
        <p:spPr>
          <a:xfrm>
            <a:off x="548640" y="2194560"/>
            <a:ext cx="7315200" cy="274320"/>
          </a:xfrm>
          <a:prstGeom prst="rect">
            <a:avLst/>
          </a:prstGeom>
          <a:noFill/>
          <a:ln/>
        </p:spPr>
        <p:txBody>
          <a:bodyPr wrap="square"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KEY WORKS CITED WITHIN THE PRESENTATION</a:t>
            </a:r>
            <a:endParaRPr lang="en-US" sz="1100" dirty="0"/>
          </a:p>
        </p:txBody>
      </p:sp>
      <p:sp>
        <p:nvSpPr>
          <p:cNvPr id="7" name="Text 5"/>
          <p:cNvSpPr/>
          <p:nvPr/>
        </p:nvSpPr>
        <p:spPr>
          <a:xfrm>
            <a:off x="548640" y="2487168"/>
            <a:ext cx="11064240" cy="2194560"/>
          </a:xfrm>
          <a:prstGeom prst="rect">
            <a:avLst/>
          </a:prstGeom>
          <a:noFill/>
          <a:ln/>
        </p:spPr>
        <p:txBody>
          <a:bodyPr wrap="square" lIns="0" tIns="0" rIns="0" bIns="0" rtlCol="0" anchor="t"/>
          <a:lstStyle/>
          <a:p>
            <a:pPr marL="177800" indent="-177800">
              <a:spcAft>
                <a:spcPts val="800"/>
              </a:spcAft>
              <a:buSzPct val="100000"/>
              <a:buChar char="•"/>
            </a:pPr>
            <a:r>
              <a:rPr lang="en-US" sz="1070" dirty="0">
                <a:solidFill>
                  <a:srgbClr val="16323A"/>
                </a:solidFill>
                <a:latin typeface="Calibri" pitchFamily="34" charset="0"/>
                <a:ea typeface="Calibri" pitchFamily="34" charset="-122"/>
                <a:cs typeface="Calibri" pitchFamily="34" charset="-120"/>
              </a:rPr>
              <a:t>Vaswani, A., et al. (2017). Attention Is All You Need. NeurIPS 30.</a:t>
            </a:r>
            <a:endParaRPr lang="en-US" sz="1070" dirty="0"/>
          </a:p>
          <a:p>
            <a:pPr marL="177800" indent="-177800">
              <a:spcAft>
                <a:spcPts val="800"/>
              </a:spcAft>
              <a:buSzPct val="100000"/>
              <a:buChar char="•"/>
            </a:pPr>
            <a:r>
              <a:rPr lang="en-US" sz="1070" dirty="0">
                <a:solidFill>
                  <a:srgbClr val="16323A"/>
                </a:solidFill>
                <a:latin typeface="Calibri" pitchFamily="34" charset="0"/>
                <a:ea typeface="Calibri" pitchFamily="34" charset="-122"/>
                <a:cs typeface="Calibri" pitchFamily="34" charset="-120"/>
              </a:rPr>
              <a:t>Dosovitskiy, A., et al. (2020). An Image is Worth 16x16 Words: Transformers for Image Recognition at Scale. arXiv:2010.11929.</a:t>
            </a:r>
            <a:endParaRPr lang="en-US" sz="1070" dirty="0"/>
          </a:p>
          <a:p>
            <a:pPr marL="177800" indent="-177800">
              <a:spcAft>
                <a:spcPts val="800"/>
              </a:spcAft>
              <a:buSzPct val="100000"/>
              <a:buChar char="•"/>
            </a:pPr>
            <a:r>
              <a:rPr lang="en-US" sz="1070" dirty="0">
                <a:solidFill>
                  <a:srgbClr val="16323A"/>
                </a:solidFill>
                <a:latin typeface="Calibri" pitchFamily="34" charset="0"/>
                <a:ea typeface="Calibri" pitchFamily="34" charset="-122"/>
                <a:cs typeface="Calibri" pitchFamily="34" charset="-120"/>
              </a:rPr>
              <a:t>Esteva, A., et al. (2017). Dermatologist-level classification of skin cancer with deep neural networks. Nature, 542(7639), 115–118.</a:t>
            </a:r>
            <a:endParaRPr lang="en-US" sz="1070" dirty="0"/>
          </a:p>
          <a:p>
            <a:pPr marL="177800" indent="-177800">
              <a:spcAft>
                <a:spcPts val="800"/>
              </a:spcAft>
              <a:buSzPct val="100000"/>
              <a:buChar char="•"/>
            </a:pPr>
            <a:r>
              <a:rPr lang="en-US" sz="1070" dirty="0">
                <a:solidFill>
                  <a:srgbClr val="16323A"/>
                </a:solidFill>
                <a:latin typeface="Calibri" pitchFamily="34" charset="0"/>
                <a:ea typeface="Calibri" pitchFamily="34" charset="-122"/>
                <a:cs typeface="Calibri" pitchFamily="34" charset="-120"/>
              </a:rPr>
              <a:t>Datta, S. K., Shaikh, M. A., &amp; Srihari, S. N. (2021). Soft Attention Improves Skin Cancer Classification Performance. Springer, Cham.</a:t>
            </a:r>
            <a:endParaRPr lang="en-US" sz="1070" dirty="0"/>
          </a:p>
          <a:p>
            <a:pPr marL="177800" indent="-177800">
              <a:spcAft>
                <a:spcPts val="800"/>
              </a:spcAft>
              <a:buSzPct val="100000"/>
              <a:buChar char="•"/>
            </a:pPr>
            <a:r>
              <a:rPr lang="en-US" sz="1070" dirty="0">
                <a:solidFill>
                  <a:srgbClr val="16323A"/>
                </a:solidFill>
                <a:latin typeface="Calibri" pitchFamily="34" charset="0"/>
                <a:ea typeface="Calibri" pitchFamily="34" charset="-122"/>
                <a:cs typeface="Calibri" pitchFamily="34" charset="-120"/>
              </a:rPr>
              <a:t>Tschandl, P., Rosendahl, C., &amp; Kittler, H. (2018). The HAM10000 dataset. Scientific Data, 5(1), 1–9.</a:t>
            </a:r>
            <a:endParaRPr lang="en-US" sz="1070" dirty="0"/>
          </a:p>
          <a:p>
            <a:pPr marL="177800" indent="-177800">
              <a:spcAft>
                <a:spcPts val="800"/>
              </a:spcAft>
              <a:buSzPct val="100000"/>
              <a:buChar char="•"/>
            </a:pPr>
            <a:r>
              <a:rPr lang="en-US" sz="1070" dirty="0">
                <a:solidFill>
                  <a:srgbClr val="16323A"/>
                </a:solidFill>
                <a:latin typeface="Calibri" pitchFamily="34" charset="0"/>
                <a:ea typeface="Calibri" pitchFamily="34" charset="-122"/>
                <a:cs typeface="Calibri" pitchFamily="34" charset="-120"/>
              </a:rPr>
              <a:t>Ballerini, L., Fisher, R. B., Aldridge, B., &amp; Rees, J. (2013). A colour and texture based hierarchical K-NN approach… (DERMOFIT dataset). Springer, Dordrecht.</a:t>
            </a:r>
            <a:endParaRPr lang="en-US" sz="1070" dirty="0"/>
          </a:p>
        </p:txBody>
      </p:sp>
      <p:sp>
        <p:nvSpPr>
          <p:cNvPr id="8" name="Text 6"/>
          <p:cNvSpPr/>
          <p:nvPr/>
        </p:nvSpPr>
        <p:spPr>
          <a:xfrm>
            <a:off x="548640" y="4846320"/>
            <a:ext cx="7315200" cy="274320"/>
          </a:xfrm>
          <a:prstGeom prst="rect">
            <a:avLst/>
          </a:prstGeom>
          <a:noFill/>
          <a:ln/>
        </p:spPr>
        <p:txBody>
          <a:bodyPr wrap="square"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EXTERNAL VERIFICATION SOURCES</a:t>
            </a:r>
            <a:endParaRPr lang="en-US" sz="1100" dirty="0"/>
          </a:p>
        </p:txBody>
      </p:sp>
      <p:sp>
        <p:nvSpPr>
          <p:cNvPr id="9" name="Text 7"/>
          <p:cNvSpPr/>
          <p:nvPr/>
        </p:nvSpPr>
        <p:spPr>
          <a:xfrm>
            <a:off x="548640" y="5138928"/>
            <a:ext cx="11064240" cy="82296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6323A"/>
                </a:solidFill>
                <a:latin typeface="Calibri" pitchFamily="34" charset="0"/>
                <a:ea typeface="Calibri" pitchFamily="34" charset="-122"/>
                <a:cs typeface="Calibri" pitchFamily="34" charset="-120"/>
              </a:rPr>
              <a:t>SCImago Journal &amp; Country Rank — scimagojr.com (quartile, SJR verification)</a:t>
            </a:r>
            <a:endParaRPr lang="en-US" sz="1050" dirty="0"/>
          </a:p>
          <a:p>
            <a:pPr marL="177800" indent="-177800">
              <a:spcAft>
                <a:spcPts val="600"/>
              </a:spcAft>
              <a:buSzPct val="100000"/>
              <a:buChar char="•"/>
            </a:pPr>
            <a:r>
              <a:rPr lang="en-US" sz="1050" dirty="0">
                <a:solidFill>
                  <a:srgbClr val="16323A"/>
                </a:solidFill>
                <a:latin typeface="Calibri" pitchFamily="34" charset="0"/>
                <a:ea typeface="Calibri" pitchFamily="34" charset="-122"/>
                <a:cs typeface="Calibri" pitchFamily="34" charset="-120"/>
              </a:rPr>
              <a:t>Journal indexing / metrics aggregator pages (Impact Factor cross-check, SCIE indexing status)</a:t>
            </a:r>
            <a:endParaRPr lang="en-US" sz="1050" dirty="0"/>
          </a:p>
        </p:txBody>
      </p:sp>
      <p:sp>
        <p:nvSpPr>
          <p:cNvPr id="10" name="Text 8"/>
          <p:cNvSpPr/>
          <p:nvPr/>
        </p:nvSpPr>
        <p:spPr>
          <a:xfrm>
            <a:off x="457200" y="6547104"/>
            <a:ext cx="8686800" cy="256032"/>
          </a:xfrm>
          <a:prstGeom prst="rect">
            <a:avLst/>
          </a:prstGeom>
          <a:noFill/>
          <a:ln/>
        </p:spPr>
        <p:txBody>
          <a:bodyPr wrap="square" rtlCol="0" anchor="ctr"/>
          <a:lstStyle/>
          <a:p>
            <a:pPr algn="l" indent="0" marL="0">
              <a:buNone/>
            </a:pPr>
            <a:r>
              <a:rPr lang="en-US" sz="800" dirty="0">
                <a:solidFill>
                  <a:srgbClr val="5C7A80"/>
                </a:solidFill>
                <a:latin typeface="Calibri" pitchFamily="34" charset="0"/>
                <a:ea typeface="Calibri" pitchFamily="34" charset="-122"/>
                <a:cs typeface="Calibri" pitchFamily="34" charset="-120"/>
              </a:rPr>
              <a:t>MAT399 Seminar  |  A Novel Vision Transformer Model for Skin Cancer Classification</a:t>
            </a:r>
            <a:endParaRPr lang="en-US" sz="800" dirty="0"/>
          </a:p>
        </p:txBody>
      </p:sp>
      <p:sp>
        <p:nvSpPr>
          <p:cNvPr id="11" name="Text 9"/>
          <p:cNvSpPr/>
          <p:nvPr/>
        </p:nvSpPr>
        <p:spPr>
          <a:xfrm>
            <a:off x="11430000" y="6547104"/>
            <a:ext cx="365760" cy="256032"/>
          </a:xfrm>
          <a:prstGeom prst="rect">
            <a:avLst/>
          </a:prstGeom>
          <a:noFill/>
          <a:ln/>
        </p:spPr>
        <p:txBody>
          <a:bodyPr wrap="square" rtlCol="0" anchor="ctr"/>
          <a:lstStyle/>
          <a:p>
            <a:pPr algn="r" indent="0" marL="0">
              <a:buNone/>
            </a:pPr>
            <a:r>
              <a:rPr lang="en-US" sz="800" dirty="0">
                <a:solidFill>
                  <a:srgbClr val="5C7A80"/>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2026-08-17T18:20:12Z</dcterms:created>
  <dcterms:modified xsi:type="dcterms:W3CDTF">2026-08-17T18:20:12Z</dcterms:modified>
</cp:coreProperties>
</file>